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09f3e187a34e5b" /><Relationship Type="http://schemas.openxmlformats.org/officeDocument/2006/relationships/extended-properties" Target="/docProps/app.xml" Id="Rd7d36c48f2824df7" /><Relationship Type="http://schemas.openxmlformats.org/officeDocument/2006/relationships/officeDocument" Target="/ppt/presentation.xml" Id="Rbdb5f6c5f962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a853845864f8a"/>
  </p:sldMasterIdLst>
  <p:notesMasterIdLst>
    <p:notesMasterId xmlns:r="http://schemas.openxmlformats.org/officeDocument/2006/relationships" r:id="R900346769a84415b"/>
  </p:notesMasterIdLst>
  <p:sldIdLst>
    <p:sldId xmlns:r="http://schemas.openxmlformats.org/officeDocument/2006/relationships" id="256" r:id="Rd65cb8d1fffa425e"/>
    <p:sldId xmlns:r="http://schemas.openxmlformats.org/officeDocument/2006/relationships" id="257" r:id="R040d2b5b416a4871"/>
    <p:sldId xmlns:r="http://schemas.openxmlformats.org/officeDocument/2006/relationships" id="258" r:id="R04b389820e7149c1"/>
    <p:sldId xmlns:r="http://schemas.openxmlformats.org/officeDocument/2006/relationships" id="259" r:id="R85022a67694d4f2a"/>
    <p:sldId xmlns:r="http://schemas.openxmlformats.org/officeDocument/2006/relationships" id="260" r:id="R40efd9781ab74a7f"/>
    <p:sldId xmlns:r="http://schemas.openxmlformats.org/officeDocument/2006/relationships" id="261" r:id="R91d39eaaa29a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3402d620f2459d" /><Relationship Type="http://schemas.openxmlformats.org/officeDocument/2006/relationships/slideMaster" Target="/ppt/slideMasters/slideMaster1.xml" Id="Rb84a853845864f8a" /><Relationship Type="http://schemas.openxmlformats.org/officeDocument/2006/relationships/notesMaster" Target="/ppt/notesMasters/notesMaster1.xml" Id="R900346769a84415b" /><Relationship Type="http://schemas.openxmlformats.org/officeDocument/2006/relationships/presProps" Target="/ppt/presProps.xml" Id="R6f60f63ddb7b4507" /><Relationship Type="http://schemas.openxmlformats.org/officeDocument/2006/relationships/tableStyles" Target="/ppt/tableStyles.xml" Id="Re9e05abd20f24c37" /><Relationship Type="http://schemas.openxmlformats.org/officeDocument/2006/relationships/slide" Target="/ppt/slides/slide1.xml" Id="Rd65cb8d1fffa425e" /><Relationship Type="http://schemas.openxmlformats.org/officeDocument/2006/relationships/slide" Target="/ppt/slides/slide2.xml" Id="R040d2b5b416a4871" /><Relationship Type="http://schemas.openxmlformats.org/officeDocument/2006/relationships/slide" Target="/ppt/slides/slide3.xml" Id="R04b389820e7149c1" /><Relationship Type="http://schemas.openxmlformats.org/officeDocument/2006/relationships/slide" Target="/ppt/slides/slide4.xml" Id="R85022a67694d4f2a" /><Relationship Type="http://schemas.openxmlformats.org/officeDocument/2006/relationships/slide" Target="/ppt/slides/slide5.xml" Id="R40efd9781ab74a7f" /><Relationship Type="http://schemas.openxmlformats.org/officeDocument/2006/relationships/slide" Target="/ppt/slides/slide6.xml" Id="R91d39eaaa29a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1f1084a5ae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57489a29b47db" /><Relationship Type="http://schemas.openxmlformats.org/officeDocument/2006/relationships/notesMaster" Target="/ppt/notesMasters/notesMaster1.xml" Id="R562401ea075f44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97bf5a4db4afe" /><Relationship Type="http://schemas.openxmlformats.org/officeDocument/2006/relationships/notesMaster" Target="/ppt/notesMasters/notesMaster1.xml" Id="Rde0e1c4706cc4a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b8e586da94300" /><Relationship Type="http://schemas.openxmlformats.org/officeDocument/2006/relationships/notesMaster" Target="/ppt/notesMasters/notesMaster1.xml" Id="R2f5c035c821649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a55453d604864" /><Relationship Type="http://schemas.openxmlformats.org/officeDocument/2006/relationships/notesMaster" Target="/ppt/notesMasters/notesMaster1.xml" Id="R68a202bad2f94f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34debb8fd94e14" /><Relationship Type="http://schemas.openxmlformats.org/officeDocument/2006/relationships/notesMaster" Target="/ppt/notesMasters/notesMaster1.xml" Id="Rebf11f29bf4a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d21adb2524d8a" /><Relationship Type="http://schemas.openxmlformats.org/officeDocument/2006/relationships/notesMaster" Target="/ppt/notesMasters/notesMaster1.xml" Id="R1e87c352d946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当前已有多图编辑、盲超分、颜色标注和AIGC图库等多个图像项目。这里用多图编辑和图库两个代表场景说明：多图编辑关注参考内容是否正确迁移、人物是否保持、非目标区域是否被破坏；图库关注异常、美学和构图。它们是首批图像试点，但最新版SOW的能力范围进一步面向文本、图片、视频及跨模态组合。由此可见，数据质量不是一套固定分数，而是与任务、模态和使用目标直接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方式能够解决眼前问题，但每次都从讨论标准、编写Prompt、人工抽检开始。最大问题不是某一个Prompt写得不好，而是缺少统一的任务定义、质量维度、能力匹配、执行规范和校准方法。新增视频或其他模态后，这种重复建设会进一步放大。右侧预留了内部Prompt和评估分歧案例，后续替换后可以直观说明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将学术趋势对齐最新版SOW。第一条路线是后验校准：已有评分器会有偏差，但可以利用少量验证样本修正分数、权重、阈值与置信度。第二条路线是邻域共识：对于细粒度或长尾偏好，不依赖一次Prompt，而是围绕目标偏好生成相邻配置，再聚合或保守选择。第三条路线进一步包含证据核验、选择性自动化和数据飞轮：模型结论回到对象、属性、区域、OCR、视频关键帧等证据上核验，再根据置信度进入自动通过、自动拒绝或人工复核，最终通过下游训练收益验证筛选策略。VLM Judge位于这些方法的底层，不是项目的全部。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Improving Data Efficiency via Curating LLM-Driven Rating Systems, ICLR 2025: https://proceedings.iclr.cc/paper_files/paper/2025/hash/faa6144674bce872365874c576b4f56f-Abstract-Conference.html</a:t>
            </a:r>
          </a:p>
          <a:p xmlns:a="http://schemas.openxmlformats.org/drawingml/2006/main">
            <a:r>
              <a:t>- Robust Preference Alignment via Directional Neighborhood Consensus, ICLR 2026: https://iclr.cc/virtual/2026/poster/10007833</a:t>
            </a:r>
          </a:p>
          <a:p xmlns:a="http://schemas.openxmlformats.org/drawingml/2006/main">
            <a:r>
              <a:t>- Trust but Verify: Programmatic VLM Evaluation in the Wild, ICCV 2025: https://openaccess.thecvf.com/content/ICCV2025/html/Prabhu_Trust_but_Verify_Programmatic_VLM_Evaluation_in_the_Wild_ICCV_2025_paper.html</a:t>
            </a:r>
          </a:p>
          <a:p xmlns:a="http://schemas.openxmlformats.org/drawingml/2006/main">
            <a:r>
              <a:t>- Do Humans and Machines Have the Same Eyes?, AAAI 2025: https://arxiv.org/abs/2304.08733</a:t>
            </a:r>
          </a:p>
          <a:p xmlns:a="http://schemas.openxmlformats.org/drawingml/2006/main">
            <a:r>
              <a:t>- Calibrating MLLM-as-a-Judge via Multimodal Bayesian Prompt Ensembles, ICCV 2025: https://arxiv.org/abs/2509.08777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强调哪个公司排名第一，而是观察头部团队采用了什么方法，以及公开材料显示这些方法解决了什么问题。OpenAI的安全评测识别了高拟真图像带来的新风险，并推动多层分类器、对抗测试和上线后监测；Qwen的分层Judge增强了对真实保真和创意生成的区分，并提供可追溯诊断；SeedEdit 3.0通过自动指标和人工评测共同验证，可用率达到56.1%，上一代为38.4%，图像一致性达到4.07分；腾讯用3500个检查点和100多位专业评估员，在1000多个案例上验证相对表现并避免挑样。对本项目的启示是：组合评估的价值不只在于打分，而在于识别风险、定位问题、证明提升，并沉淀为持续优化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https://deploymentsafety.openai.com/chatgpt-images-2-0/automated-evaluations-and-adversarial-testing</a:t>
            </a:r>
          </a:p>
          <a:p xmlns:a="http://schemas.openxmlformats.org/drawingml/2006/main">
            <a:r>
              <a:t>- https://github.com/QwenLM/Qwen-Image-Bench</a:t>
            </a:r>
          </a:p>
          <a:p xmlns:a="http://schemas.openxmlformats.org/drawingml/2006/main">
            <a:r>
              <a:t>- https://seed.bytedance.com/en/blog/bytedance-released-image-editing-model-seededit-3-0-enhanced-image-consistency-and-usability-rate</a:t>
            </a:r>
          </a:p>
          <a:p xmlns:a="http://schemas.openxmlformats.org/drawingml/2006/main">
            <a:r>
              <a:t>- https://github.com/Tencent-Hunyuan/HunyuanImage-3.0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最新版SOW的核心增量是评估任务编译。左侧只需要输入任务描述、数据模态与用途、不超过20条冷启动样例以及业务红线；中间自动生成Task Specification、Rubric、证据需求图、能力计划、Agent配置、Evaluation DAG、结果Schema和三路路由规则，再通过能力注册、模型工具匹配、后验校准、邻域共识和图文视频证据仲裁执行评估；右侧根据冻结阈值进入自动通过、自动拒绝或人工复核，并将结果、证据和失败归因回流到V0、V1、V2数据飞轮。项目不是重建生产级平台，乙方负责原型、API、SDK、模型适配与联调，甲方负责生产级平台和运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将验收归纳为五项核心结果：新任务适配、基础评估效果、自动化分流、训练收益、交付与复现。页面中的数字是SOW目标，不是现有成绩。冷启动需要覆盖不少于3类开发阶段未见任务并合计不少于10个实例；业务试点Balanced Accuracy和低质量Recall宏平均均不低于82%；同一冻结阈值下自动处置Coverage不低于50%、Accuracy不低于90%、红线样本自动通过数为0；数据飞轮不少于2轮，关键实验至少3个随机种子且至少三分之二正向提升。建议以多图编辑和AIGC图库作为图像试点启动，同时尽快冻结视频任务、人工审核Baseline和数据飞轮主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6d4ed7b05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9e423dd864333" /><Relationship Type="http://schemas.openxmlformats.org/officeDocument/2006/relationships/slideLayout" Target="/ppt/slideLayouts/slideLayout1.xml" Id="Rd58e76c44cbb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e76c44cbb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6a43d9bde4f95" /><Relationship Type="http://schemas.openxmlformats.org/officeDocument/2006/relationships/notesSlide" Target="/ppt/notesSlides/notesSlide1.xml" Id="Rb3ab3a3a31e441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91f04352b403e" /><Relationship Type="http://schemas.openxmlformats.org/officeDocument/2006/relationships/notesSlide" Target="/ppt/notesSlides/notesSlide2.xml" Id="Rf64f7108144b45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956f768040d1" /><Relationship Type="http://schemas.openxmlformats.org/officeDocument/2006/relationships/notesSlide" Target="/ppt/notesSlides/notesSlide3.xml" Id="Rbc081d8b1397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84813dc224874" /><Relationship Type="http://schemas.openxmlformats.org/officeDocument/2006/relationships/notesSlide" Target="/ppt/notesSlides/notesSlide4.xml" Id="R10ff8ce84a8e4a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5653e7ddc42c2" /><Relationship Type="http://schemas.openxmlformats.org/officeDocument/2006/relationships/notesSlide" Target="/ppt/notesSlides/notesSlide5.xml" Id="Rdb4db8e3c43b4a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fbfb78ba54409" /><Relationship Type="http://schemas.openxmlformats.org/officeDocument/2006/relationships/notesSlide" Target="/ppt/notesSlides/notesSlide6.xml" Id="Rc64479a4af04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1">
            <a:extLst xmlns:a="http://schemas.openxmlformats.org/drawingml/2006/main">
              <a:ext uri="{FF2B5EF4-FFF2-40B4-BE49-F238E27FC236}">
                <a16:creationId xmlns:a16="http://schemas.microsoft.com/office/drawing/2014/main" id="{4A6B5237-7F20-4B53-A5A3-BC1832AA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7EE0E458-11AF-4459-9659-4FFB0C8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不同任务对质量的要求不同，却依赖同一类底层评估能力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92984197-1419-4E60-AF1F-80740B9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uto-text-1">
            <a:extLst xmlns:a="http://schemas.openxmlformats.org/drawingml/2006/main">
              <a:ext uri="{FF2B5EF4-FFF2-40B4-BE49-F238E27FC236}">
                <a16:creationId xmlns:a16="http://schemas.microsoft.com/office/drawing/2014/main" id="{0352A3E3-3388-4901-8110-7BB5363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以多图编辑和AIGC图库作为首批图像试点；合作能力面向文本、图片、视频及跨模态组合复用。</a:t>
            </a:r>
          </a:p>
        </p:txBody>
      </p:sp>
      <p:sp>
        <p:nvSpPr>
          <p:cNvPr id="5" name="auto-text-2">
            <a:extLst xmlns:a="http://schemas.openxmlformats.org/drawingml/2006/main">
              <a:ext uri="{FF2B5EF4-FFF2-40B4-BE49-F238E27FC236}">
                <a16:creationId xmlns:a16="http://schemas.microsoft.com/office/drawing/2014/main" id="{83093A81-8701-4A64-A868-DE18E9E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多图编辑</a:t>
            </a:r>
          </a:p>
        </p:txBody>
      </p:sp>
      <p:sp>
        <p:nvSpPr>
          <p:cNvPr id="6" name="auto-text-3">
            <a:extLst xmlns:a="http://schemas.openxmlformats.org/drawingml/2006/main">
              <a:ext uri="{FF2B5EF4-FFF2-40B4-BE49-F238E27FC236}">
                <a16:creationId xmlns:a16="http://schemas.microsoft.com/office/drawing/2014/main" id="{E419144C-C9DA-43D4-9EA7-AD951AC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AIGC图库</a:t>
            </a:r>
          </a:p>
        </p:txBody>
      </p:sp>
      <p:sp>
        <p:nvSpPr>
          <p:cNvPr id="7" name="edit-media-surface">
            <a:extLst xmlns:a="http://schemas.openxmlformats.org/drawingml/2006/main">
              <a:ext uri="{FF2B5EF4-FFF2-40B4-BE49-F238E27FC236}">
                <a16:creationId xmlns:a16="http://schemas.microsoft.com/office/drawing/2014/main" id="{5FEC6CF8-27AF-43B3-833A-67EC4AE7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429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9C9F4"/>
            </a:solidFill>
            <a:prstDash val="solid"/>
          </a:ln>
        </p:spPr>
      </p:sp>
      <p:sp>
        <p:nvSpPr>
          <p:cNvPr id="8" name="edit-source-frame">
            <a:extLst xmlns:a="http://schemas.openxmlformats.org/drawingml/2006/main">
              <a:ext uri="{FF2B5EF4-FFF2-40B4-BE49-F238E27FC236}">
                <a16:creationId xmlns:a16="http://schemas.microsoft.com/office/drawing/2014/main" id="{2C952CFF-CD20-4EBE-9510-3E9026C3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9" name="edit-source-label">
            <a:extLst xmlns:a="http://schemas.openxmlformats.org/drawingml/2006/main">
              <a:ext uri="{FF2B5EF4-FFF2-40B4-BE49-F238E27FC236}">
                <a16:creationId xmlns:a16="http://schemas.microsoft.com/office/drawing/2014/main" id="{57F88EDC-F656-451F-B12A-4F2AF85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10" name="edit-source-sub">
            <a:extLst xmlns:a="http://schemas.openxmlformats.org/drawingml/2006/main">
              <a:ext uri="{FF2B5EF4-FFF2-40B4-BE49-F238E27FC236}">
                <a16:creationId xmlns:a16="http://schemas.microsoft.com/office/drawing/2014/main" id="{AB82A118-0142-4862-93CF-8161D695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1" name="edit-reference-frame">
            <a:extLst xmlns:a="http://schemas.openxmlformats.org/drawingml/2006/main">
              <a:ext uri="{FF2B5EF4-FFF2-40B4-BE49-F238E27FC236}">
                <a16:creationId xmlns:a16="http://schemas.microsoft.com/office/drawing/2014/main" id="{20BBE5C9-A31C-4438-BD42-C5EC5304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2" name="edit-reference-label">
            <a:extLst xmlns:a="http://schemas.openxmlformats.org/drawingml/2006/main">
              <a:ext uri="{FF2B5EF4-FFF2-40B4-BE49-F238E27FC236}">
                <a16:creationId xmlns:a16="http://schemas.microsoft.com/office/drawing/2014/main" id="{4D0DB06E-BE68-4148-8908-BE3E31AF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参考图</a:t>
            </a:r>
          </a:p>
        </p:txBody>
      </p:sp>
      <p:sp>
        <p:nvSpPr>
          <p:cNvPr id="13" name="edit-reference-sub">
            <a:extLst xmlns:a="http://schemas.openxmlformats.org/drawingml/2006/main">
              <a:ext uri="{FF2B5EF4-FFF2-40B4-BE49-F238E27FC236}">
                <a16:creationId xmlns:a16="http://schemas.microsoft.com/office/drawing/2014/main" id="{2F207A39-EDFB-44DD-AA38-A6485EBA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4" name="edit-output-frame">
            <a:extLst xmlns:a="http://schemas.openxmlformats.org/drawingml/2006/main">
              <a:ext uri="{FF2B5EF4-FFF2-40B4-BE49-F238E27FC236}">
                <a16:creationId xmlns:a16="http://schemas.microsoft.com/office/drawing/2014/main" id="{67401339-2E4D-44FB-AFC1-540C31C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5" name="edit-output-label">
            <a:extLst xmlns:a="http://schemas.openxmlformats.org/drawingml/2006/main">
              <a:ext uri="{FF2B5EF4-FFF2-40B4-BE49-F238E27FC236}">
                <a16:creationId xmlns:a16="http://schemas.microsoft.com/office/drawing/2014/main" id="{A2D8646E-7F5F-4EC1-B8C9-8C3BB3F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编辑结果</a:t>
            </a:r>
          </a:p>
        </p:txBody>
      </p:sp>
      <p:sp>
        <p:nvSpPr>
          <p:cNvPr id="16" name="edit-output-sub">
            <a:extLst xmlns:a="http://schemas.openxmlformats.org/drawingml/2006/main">
              <a:ext uri="{FF2B5EF4-FFF2-40B4-BE49-F238E27FC236}">
                <a16:creationId xmlns:a16="http://schemas.microsoft.com/office/drawing/2014/main" id="{070717AD-5BAE-4537-A643-DC652B9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7" name="auto-text-4">
            <a:extLst xmlns:a="http://schemas.openxmlformats.org/drawingml/2006/main">
              <a:ext uri="{FF2B5EF4-FFF2-40B4-BE49-F238E27FC236}">
                <a16:creationId xmlns:a16="http://schemas.microsoft.com/office/drawing/2014/main" id="{F6126785-42FB-4784-A896-B636B06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建议样例：换装／持物／合影／表情迁移</a:t>
            </a:r>
          </a:p>
        </p:txBody>
      </p:sp>
      <p:sp>
        <p:nvSpPr>
          <p:cNvPr id="18" name="gallery-media-surface">
            <a:extLst xmlns:a="http://schemas.openxmlformats.org/drawingml/2006/main">
              <a:ext uri="{FF2B5EF4-FFF2-40B4-BE49-F238E27FC236}">
                <a16:creationId xmlns:a16="http://schemas.microsoft.com/office/drawing/2014/main" id="{E2F3ACD1-AE27-4503-9BC3-6338BA2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3149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8DDD8"/>
            </a:solidFill>
            <a:prstDash val="solid"/>
          </a:ln>
        </p:spPr>
      </p:sp>
      <p:sp>
        <p:nvSpPr>
          <p:cNvPr id="19" name="gallery-good-frame">
            <a:extLst xmlns:a="http://schemas.openxmlformats.org/drawingml/2006/main">
              <a:ext uri="{FF2B5EF4-FFF2-40B4-BE49-F238E27FC236}">
                <a16:creationId xmlns:a16="http://schemas.microsoft.com/office/drawing/2014/main" id="{E4FF0ED4-4933-4639-AF82-B22F842D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0" name="gallery-good-label">
            <a:extLst xmlns:a="http://schemas.openxmlformats.org/drawingml/2006/main">
              <a:ext uri="{FF2B5EF4-FFF2-40B4-BE49-F238E27FC236}">
                <a16:creationId xmlns:a16="http://schemas.microsoft.com/office/drawing/2014/main" id="{5F3ED255-795C-4FFA-B5F4-7BE851F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可入库样本</a:t>
            </a:r>
          </a:p>
        </p:txBody>
      </p:sp>
      <p:sp>
        <p:nvSpPr>
          <p:cNvPr id="21" name="gallery-good-sub">
            <a:extLst xmlns:a="http://schemas.openxmlformats.org/drawingml/2006/main">
              <a:ext uri="{FF2B5EF4-FFF2-40B4-BE49-F238E27FC236}">
                <a16:creationId xmlns:a16="http://schemas.microsoft.com/office/drawing/2014/main" id="{C0A4125E-A21C-4659-B7C1-445A4FD8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2" name="gallery-bad-frame">
            <a:extLst xmlns:a="http://schemas.openxmlformats.org/drawingml/2006/main">
              <a:ext uri="{FF2B5EF4-FFF2-40B4-BE49-F238E27FC236}">
                <a16:creationId xmlns:a16="http://schemas.microsoft.com/office/drawing/2014/main" id="{E0B9CA5C-1C59-4B11-8BE7-C8883B0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3" name="gallery-bad-label">
            <a:extLst xmlns:a="http://schemas.openxmlformats.org/drawingml/2006/main">
              <a:ext uri="{FF2B5EF4-FFF2-40B4-BE49-F238E27FC236}">
                <a16:creationId xmlns:a16="http://schemas.microsoft.com/office/drawing/2014/main" id="{E706810B-294F-4EF9-8766-17F0220F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异常／低质样本</a:t>
            </a:r>
          </a:p>
        </p:txBody>
      </p:sp>
      <p:sp>
        <p:nvSpPr>
          <p:cNvPr id="24" name="gallery-bad-sub">
            <a:extLst xmlns:a="http://schemas.openxmlformats.org/drawingml/2006/main">
              <a:ext uri="{FF2B5EF4-FFF2-40B4-BE49-F238E27FC236}">
                <a16:creationId xmlns:a16="http://schemas.microsoft.com/office/drawing/2014/main" id="{2851AE67-7C97-4F1D-8C6A-6362719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5" name="auto-text-5">
            <a:extLst xmlns:a="http://schemas.openxmlformats.org/drawingml/2006/main">
              <a:ext uri="{FF2B5EF4-FFF2-40B4-BE49-F238E27FC236}">
                <a16:creationId xmlns:a16="http://schemas.microsoft.com/office/drawing/2014/main" id="{C4D52D1D-64C0-4D72-A8BC-E393340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建议样例：肢体异常／结构错误／构图或美学问题</a:t>
            </a:r>
          </a:p>
        </p:txBody>
      </p:sp>
      <p:sp>
        <p:nvSpPr>
          <p:cNvPr id="26" name="auto-text-6">
            <a:extLst xmlns:a="http://schemas.openxmlformats.org/drawingml/2006/main">
              <a:ext uri="{FF2B5EF4-FFF2-40B4-BE49-F238E27FC236}">
                <a16:creationId xmlns:a16="http://schemas.microsoft.com/office/drawing/2014/main" id="{3A4746E2-04E8-4694-8AE5-5BA72682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主体与参考一致性｜编辑目标满足｜非目标区域保持｜结果自然度</a:t>
            </a:r>
          </a:p>
        </p:txBody>
      </p:sp>
      <p:sp>
        <p:nvSpPr>
          <p:cNvPr id="27" name="auto-text-7">
            <a:extLst xmlns:a="http://schemas.openxmlformats.org/drawingml/2006/main">
              <a:ext uri="{FF2B5EF4-FFF2-40B4-BE49-F238E27FC236}">
                <a16:creationId xmlns:a16="http://schemas.microsoft.com/office/drawing/2014/main" id="{EF547B35-D446-4565-92FE-7340169A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12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异常生成｜主体完整性｜图文一致性｜美学与构图｜风险内容</a:t>
            </a:r>
          </a:p>
        </p:txBody>
      </p:sp>
      <p:sp>
        <p:nvSpPr>
          <p:cNvPr id="28" name="slide1-conclusion">
            <a:extLst xmlns:a="http://schemas.openxmlformats.org/drawingml/2006/main">
              <a:ext uri="{FF2B5EF4-FFF2-40B4-BE49-F238E27FC236}">
                <a16:creationId xmlns:a16="http://schemas.microsoft.com/office/drawing/2014/main" id="{A1412F3D-E233-4101-A7C7-BBCDEC1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86375"/>
            <a:ext cx="11239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9" name="auto-text-8">
            <a:extLst xmlns:a="http://schemas.openxmlformats.org/drawingml/2006/main">
              <a:ext uri="{FF2B5EF4-FFF2-40B4-BE49-F238E27FC236}">
                <a16:creationId xmlns:a16="http://schemas.microsoft.com/office/drawing/2014/main" id="{596AD0AD-7269-4166-978F-6719A51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30" name="auto-text-9">
            <a:extLst xmlns:a="http://schemas.openxmlformats.org/drawingml/2006/main">
              <a:ext uri="{FF2B5EF4-FFF2-40B4-BE49-F238E27FC236}">
                <a16:creationId xmlns:a16="http://schemas.microsoft.com/office/drawing/2014/main" id="{D466666D-9F6F-4B20-9CF7-978CAB49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质量不是样本的固定属性，而是模态、内容、标签与目标任务之间的匹配关系。</a:t>
            </a:r>
          </a:p>
        </p:txBody>
      </p:sp>
    </p:spTree>
    <p:extLst>
      <p:ext uri="{BB962C8B-B14F-4D97-AF65-F5344CB8AC3E}">
        <p14:creationId xmlns:p14="http://schemas.microsoft.com/office/powerpoint/2010/main" val="1827501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2">
            <a:extLst xmlns:a="http://schemas.openxmlformats.org/drawingml/2006/main">
              <a:ext uri="{FF2B5EF4-FFF2-40B4-BE49-F238E27FC236}">
                <a16:creationId xmlns:a16="http://schemas.microsoft.com/office/drawing/2014/main" id="{FB229B7A-5013-445B-A82D-B8BF1233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DE68C4F-D524-47A2-8A63-0282082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按项目临时搭建质检管线，导致方法、成本和经验反复重置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77FB45F-0E15-4B6D-8F97-CB201748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uto-text-10">
            <a:extLst xmlns:a="http://schemas.openxmlformats.org/drawingml/2006/main">
              <a:ext uri="{FF2B5EF4-FFF2-40B4-BE49-F238E27FC236}">
                <a16:creationId xmlns:a16="http://schemas.microsoft.com/office/drawing/2014/main" id="{B3A68963-3675-456F-93B0-AF6423C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当前路径</a:t>
            </a:r>
          </a:p>
        </p:txBody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E181196E-F191-4317-8B0D-01CC98D0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step-line-0">
            <a:extLst xmlns:a="http://schemas.openxmlformats.org/drawingml/2006/main">
              <a:ext uri="{FF2B5EF4-FFF2-40B4-BE49-F238E27FC236}">
                <a16:creationId xmlns:a16="http://schemas.microsoft.com/office/drawing/2014/main" id="{B284AC8C-5701-428C-9529-82090855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AC2D670B-19A7-4C8D-ACD6-04442014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讨论质量标准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79BD2C1A-7476-457A-A1A7-8CDD8A3A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79DFB072-C91F-4D6F-81CC-16BC9BAA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A99F285D-E00C-4706-9B42-E2E11B4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编写规则／Prompt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20DE1206-B749-447E-8F45-224C4E19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step-line-2">
            <a:extLst xmlns:a="http://schemas.openxmlformats.org/drawingml/2006/main">
              <a:ext uri="{FF2B5EF4-FFF2-40B4-BE49-F238E27FC236}">
                <a16:creationId xmlns:a16="http://schemas.microsoft.com/office/drawing/2014/main" id="{75AD1E87-C59C-4FA7-B651-9EDC5962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3" name="step-text-2">
            <a:extLst xmlns:a="http://schemas.openxmlformats.org/drawingml/2006/main">
              <a:ext uri="{FF2B5EF4-FFF2-40B4-BE49-F238E27FC236}">
                <a16:creationId xmlns:a16="http://schemas.microsoft.com/office/drawing/2014/main" id="{EED8D807-8CF7-413C-A31D-883E0CB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人工抽检与调参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FEED20FF-0952-45ED-8F13-5560145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5" name="step-line-3">
            <a:extLst xmlns:a="http://schemas.openxmlformats.org/drawingml/2006/main">
              <a:ext uri="{FF2B5EF4-FFF2-40B4-BE49-F238E27FC236}">
                <a16:creationId xmlns:a16="http://schemas.microsoft.com/office/drawing/2014/main" id="{0BF324C1-54DA-4E19-807E-DB25190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6" name="step-text-3">
            <a:extLst xmlns:a="http://schemas.openxmlformats.org/drawingml/2006/main">
              <a:ext uri="{FF2B5EF4-FFF2-40B4-BE49-F238E27FC236}">
                <a16:creationId xmlns:a16="http://schemas.microsoft.com/office/drawing/2014/main" id="{6AA0068F-BDF1-4412-88D5-D029889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临时搭建管线</a:t>
            </a:r>
          </a:p>
        </p:txBody>
      </p:sp>
      <p:sp>
        <p:nvSpPr>
          <p:cNvPr id="17" name="step-dot-4">
            <a:extLst xmlns:a="http://schemas.openxmlformats.org/drawingml/2006/main">
              <a:ext uri="{FF2B5EF4-FFF2-40B4-BE49-F238E27FC236}">
                <a16:creationId xmlns:a16="http://schemas.microsoft.com/office/drawing/2014/main" id="{1825E4E1-ECB0-4887-A8F7-B3762AA6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55"/>
          </a:solidFill>
          <a:ln xmlns:a="http://schemas.openxmlformats.org/drawingml/2006/main" w="9525">
            <a:solidFill>
              <a:srgbClr val="E65C55"/>
            </a:solidFill>
            <a:prstDash val="solid"/>
          </a:ln>
        </p:spPr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174E0F26-ED35-48A2-87B5-440046CE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任务变化后重做</a:t>
            </a:r>
          </a:p>
        </p:txBody>
      </p:sp>
      <p:sp>
        <p:nvSpPr>
          <p:cNvPr id="19" name="pain-summary">
            <a:extLst xmlns:a="http://schemas.openxmlformats.org/drawingml/2006/main">
              <a:ext uri="{FF2B5EF4-FFF2-40B4-BE49-F238E27FC236}">
                <a16:creationId xmlns:a16="http://schemas.microsoft.com/office/drawing/2014/main" id="{862F4634-9A3E-4F66-98E8-E01BBBE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476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0" name="auto-text-11">
            <a:extLst xmlns:a="http://schemas.openxmlformats.org/drawingml/2006/main">
              <a:ext uri="{FF2B5EF4-FFF2-40B4-BE49-F238E27FC236}">
                <a16:creationId xmlns:a16="http://schemas.microsoft.com/office/drawing/2014/main" id="{0448B8C4-CAF4-4195-A716-A2DAB6CE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共性痛点</a:t>
            </a:r>
          </a:p>
        </p:txBody>
      </p:sp>
      <p:sp>
        <p:nvSpPr>
          <p:cNvPr id="21" name="auto-text-12">
            <a:extLst xmlns:a="http://schemas.openxmlformats.org/drawingml/2006/main">
              <a:ext uri="{FF2B5EF4-FFF2-40B4-BE49-F238E27FC236}">
                <a16:creationId xmlns:a16="http://schemas.microsoft.com/office/drawing/2014/main" id="{EAEF7719-47E3-4A78-ABF4-6A01E9AF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质量维度按项目临时补，缺少统一抽象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Prompt效果依赖经验，难复现和对照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标注、筛选和复查成本高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Pipeline难复用，任务变化后重做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新任务／模态缺少任务定义、能力匹配和执行规范</a:t>
            </a:r>
          </a:p>
        </p:txBody>
      </p:sp>
      <p:sp>
        <p:nvSpPr>
          <p:cNvPr id="22" name="auto-text-13">
            <a:extLst xmlns:a="http://schemas.openxmlformats.org/drawingml/2006/main">
              <a:ext uri="{FF2B5EF4-FFF2-40B4-BE49-F238E27FC236}">
                <a16:creationId xmlns:a16="http://schemas.microsoft.com/office/drawing/2014/main" id="{B86BBC79-FA3C-4A8E-8363-52807A2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0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内部证据占位</a:t>
            </a:r>
          </a:p>
        </p:txBody>
      </p:sp>
      <p:sp>
        <p:nvSpPr>
          <p:cNvPr id="23" name="prompt-shot-frame">
            <a:extLst xmlns:a="http://schemas.openxmlformats.org/drawingml/2006/main">
              <a:ext uri="{FF2B5EF4-FFF2-40B4-BE49-F238E27FC236}">
                <a16:creationId xmlns:a16="http://schemas.microsoft.com/office/drawing/2014/main" id="{C7039A5A-52B9-4DD2-8A26-DF6544E1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192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4" name="prompt-shot-label">
            <a:extLst xmlns:a="http://schemas.openxmlformats.org/drawingml/2006/main">
              <a:ext uri="{FF2B5EF4-FFF2-40B4-BE49-F238E27FC236}">
                <a16:creationId xmlns:a16="http://schemas.microsoft.com/office/drawing/2014/main" id="{6898729F-045B-4BF2-84FB-D0952EE3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145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当前质检Prompt截图</a:t>
            </a:r>
          </a:p>
        </p:txBody>
      </p:sp>
      <p:sp>
        <p:nvSpPr>
          <p:cNvPr id="25" name="prompt-shot-sub">
            <a:extLst xmlns:a="http://schemas.openxmlformats.org/drawingml/2006/main">
              <a:ext uri="{FF2B5EF4-FFF2-40B4-BE49-F238E27FC236}">
                <a16:creationId xmlns:a16="http://schemas.microsoft.com/office/drawing/2014/main" id="{943BC72E-7702-43DC-A0A7-80359EC1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193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建议包含：质量维度、评分规则、输出格式</a:t>
            </a:r>
          </a:p>
        </p:txBody>
      </p:sp>
      <p:sp>
        <p:nvSpPr>
          <p:cNvPr id="26" name="misjudge-case-frame">
            <a:extLst xmlns:a="http://schemas.openxmlformats.org/drawingml/2006/main">
              <a:ext uri="{FF2B5EF4-FFF2-40B4-BE49-F238E27FC236}">
                <a16:creationId xmlns:a16="http://schemas.microsoft.com/office/drawing/2014/main" id="{959B72AB-D760-4813-B406-1582C69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7" name="misjudge-case-label">
            <a:extLst xmlns:a="http://schemas.openxmlformats.org/drawingml/2006/main">
              <a:ext uri="{FF2B5EF4-FFF2-40B4-BE49-F238E27FC236}">
                <a16:creationId xmlns:a16="http://schemas.microsoft.com/office/drawing/2014/main" id="{A7CC443E-63B1-4EE6-835D-12587242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评估器误判／多评估器或人工分歧案例</a:t>
            </a:r>
          </a:p>
        </p:txBody>
      </p:sp>
      <p:sp>
        <p:nvSpPr>
          <p:cNvPr id="28" name="misjudge-case-sub">
            <a:extLst xmlns:a="http://schemas.openxmlformats.org/drawingml/2006/main">
              <a:ext uri="{FF2B5EF4-FFF2-40B4-BE49-F238E27FC236}">
                <a16:creationId xmlns:a16="http://schemas.microsoft.com/office/drawing/2014/main" id="{8103AD82-F0A4-4379-8422-767D7005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148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建议包含：输入样本、各评估结论、人工结论、分歧原因</a:t>
            </a:r>
          </a:p>
        </p:txBody>
      </p:sp>
      <p:sp>
        <p:nvSpPr>
          <p:cNvPr id="29" name="auto-text-14">
            <a:extLst xmlns:a="http://schemas.openxmlformats.org/drawingml/2006/main">
              <a:ext uri="{FF2B5EF4-FFF2-40B4-BE49-F238E27FC236}">
                <a16:creationId xmlns:a16="http://schemas.microsoft.com/office/drawing/2014/main" id="{45CC879C-39E8-4E7A-8FCB-364034E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34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现状本质：能力分散在个人经验、Prompt和临时脚本中，尚不能将新任务编译为可复用、可验证的评估流程。</a:t>
            </a:r>
          </a:p>
        </p:txBody>
      </p:sp>
    </p:spTree>
    <p:extLst>
      <p:ext uri="{BB962C8B-B14F-4D97-AF65-F5344CB8AC3E}">
        <p14:creationId xmlns:p14="http://schemas.microsoft.com/office/powerpoint/2010/main" val="714561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07EE34F4-6E91-46B8-BCA6-2A89E068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1DC55F3-C96B-49BA-95CF-279AAE65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学术界正从“单一Judge打分”转向任务自适应的组合评估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0102E45-6D6E-41F0-A7D3-2AAB061F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auto-text-15">
            <a:extLst xmlns:a="http://schemas.openxmlformats.org/drawingml/2006/main">
              <a:ext uri="{FF2B5EF4-FFF2-40B4-BE49-F238E27FC236}">
                <a16:creationId xmlns:a16="http://schemas.microsoft.com/office/drawing/2014/main" id="{7500A3D6-F209-46D6-8B6B-7A7E65F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2025–2026年的关键进展分布在三条路线，VLM Judge只是可被校准和组合的基础评估器之一。</a:t>
            </a:r>
          </a:p>
        </p:txBody>
      </p:sp>
      <p:sp>
        <p:nvSpPr>
          <p:cNvPr id="5" name="track-0">
            <a:extLst xmlns:a="http://schemas.openxmlformats.org/drawingml/2006/main">
              <a:ext uri="{FF2B5EF4-FFF2-40B4-BE49-F238E27FC236}">
                <a16:creationId xmlns:a16="http://schemas.microsoft.com/office/drawing/2014/main" id="{588C5BEA-B101-46CF-8588-2CC26875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track-no-0">
            <a:extLst xmlns:a="http://schemas.openxmlformats.org/drawingml/2006/main">
              <a:ext uri="{FF2B5EF4-FFF2-40B4-BE49-F238E27FC236}">
                <a16:creationId xmlns:a16="http://schemas.microsoft.com/office/drawing/2014/main" id="{380D5B37-9166-4C97-AF3E-3200C9F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EAAEBDAF-0981-431A-ABAB-0647B469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后验校准与偏移鲁棒</a:t>
            </a:r>
          </a:p>
        </p:txBody>
      </p:sp>
      <p:sp>
        <p:nvSpPr>
          <p:cNvPr id="8" name="track-lead-0">
            <a:extLst xmlns:a="http://schemas.openxmlformats.org/drawingml/2006/main">
              <a:ext uri="{FF2B5EF4-FFF2-40B4-BE49-F238E27FC236}">
                <a16:creationId xmlns:a16="http://schemas.microsoft.com/office/drawing/2014/main" id="{CAC46103-E5F7-4DB4-BA9C-6C7AE80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用少量验证样本修正评分偏差，而不是为每个新任务重训模型。</a:t>
            </a:r>
          </a:p>
        </p:txBody>
      </p:sp>
      <p:sp>
        <p:nvSpPr>
          <p:cNvPr id="9" name="track-divider-0">
            <a:extLst xmlns:a="http://schemas.openxmlformats.org/drawingml/2006/main">
              <a:ext uri="{FF2B5EF4-FFF2-40B4-BE49-F238E27FC236}">
                <a16:creationId xmlns:a16="http://schemas.microsoft.com/office/drawing/2014/main" id="{99CEC574-3D73-45C3-A80C-3F17A94D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track-evidence-label-0">
            <a:extLst xmlns:a="http://schemas.openxmlformats.org/drawingml/2006/main">
              <a:ext uri="{FF2B5EF4-FFF2-40B4-BE49-F238E27FC236}">
                <a16:creationId xmlns:a16="http://schemas.microsoft.com/office/drawing/2014/main" id="{65A75FC0-0A70-446B-8993-4E855E28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1" name="track-evidence-0">
            <a:extLst xmlns:a="http://schemas.openxmlformats.org/drawingml/2006/main">
              <a:ext uri="{FF2B5EF4-FFF2-40B4-BE49-F238E27FC236}">
                <a16:creationId xmlns:a16="http://schemas.microsoft.com/office/drawing/2014/main" id="{BD3D6925-F905-4E4E-BE67-46AA1375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可利用转移矩阵与Prompt加权，结合分数缩放和阈值校准纠正评分误差。</a:t>
            </a:r>
          </a:p>
        </p:txBody>
      </p:sp>
      <p:sp>
        <p:nvSpPr>
          <p:cNvPr id="12" name="track-signal-0">
            <a:extLst xmlns:a="http://schemas.openxmlformats.org/drawingml/2006/main">
              <a:ext uri="{FF2B5EF4-FFF2-40B4-BE49-F238E27FC236}">
                <a16:creationId xmlns:a16="http://schemas.microsoft.com/office/drawing/2014/main" id="{DAD44302-3C65-4073-8B54-1BE63DD7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对应：任务偏好／分数／权重／阈值校准</a:t>
            </a:r>
          </a:p>
        </p:txBody>
      </p:sp>
      <p:sp>
        <p:nvSpPr>
          <p:cNvPr id="13" name="track-1">
            <a:extLst xmlns:a="http://schemas.openxmlformats.org/drawingml/2006/main">
              <a:ext uri="{FF2B5EF4-FFF2-40B4-BE49-F238E27FC236}">
                <a16:creationId xmlns:a16="http://schemas.microsoft.com/office/drawing/2014/main" id="{D4F22CF9-0BA9-4515-B60D-0D35F2C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  <a:prstDash val="solid"/>
          </a:ln>
        </p:spPr>
      </p:sp>
      <p:sp>
        <p:nvSpPr>
          <p:cNvPr id="14" name="track-no-1">
            <a:extLst xmlns:a="http://schemas.openxmlformats.org/drawingml/2006/main">
              <a:ext uri="{FF2B5EF4-FFF2-40B4-BE49-F238E27FC236}">
                <a16:creationId xmlns:a16="http://schemas.microsoft.com/office/drawing/2014/main" id="{17AA1AC2-3F67-48B2-8F1B-0715C49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D6EEF38A-5154-4AE7-B1C5-B6647E2C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邻域共识与鲁棒选择</a:t>
            </a:r>
          </a:p>
        </p:txBody>
      </p:sp>
      <p:sp>
        <p:nvSpPr>
          <p:cNvPr id="16" name="track-lead-1">
            <a:extLst xmlns:a="http://schemas.openxmlformats.org/drawingml/2006/main">
              <a:ext uri="{FF2B5EF4-FFF2-40B4-BE49-F238E27FC236}">
                <a16:creationId xmlns:a16="http://schemas.microsoft.com/office/drawing/2014/main" id="{BDBA014F-2799-43A8-AA6A-D66F78E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不把一次Prompt或单一权重配置当作最终结论，而是在相邻偏好上形成候选池。</a:t>
            </a:r>
          </a:p>
        </p:txBody>
      </p:sp>
      <p:sp>
        <p:nvSpPr>
          <p:cNvPr id="17" name="track-divider-1">
            <a:extLst xmlns:a="http://schemas.openxmlformats.org/drawingml/2006/main">
              <a:ext uri="{FF2B5EF4-FFF2-40B4-BE49-F238E27FC236}">
                <a16:creationId xmlns:a16="http://schemas.microsoft.com/office/drawing/2014/main" id="{7E4DC712-AEAC-4687-8E02-5C71389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  <a:prstDash val="solid"/>
          </a:ln>
        </p:spPr>
      </p:sp>
      <p:sp>
        <p:nvSpPr>
          <p:cNvPr id="18" name="track-evidence-label-1">
            <a:extLst xmlns:a="http://schemas.openxmlformats.org/drawingml/2006/main">
              <a:ext uri="{FF2B5EF4-FFF2-40B4-BE49-F238E27FC236}">
                <a16:creationId xmlns:a16="http://schemas.microsoft.com/office/drawing/2014/main" id="{881A3BEB-0403-4806-BE0B-004E9251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9" name="track-evidence-1">
            <a:extLst xmlns:a="http://schemas.openxmlformats.org/drawingml/2006/main">
              <a:ext uri="{FF2B5EF4-FFF2-40B4-BE49-F238E27FC236}">
                <a16:creationId xmlns:a16="http://schemas.microsoft.com/office/drawing/2014/main" id="{182E5C12-A7A0-4622-B40B-D2B8FD3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2026年研究显示：无需重训练，邻域共识在长尾偏好上取得最高69%的胜率。</a:t>
            </a:r>
          </a:p>
        </p:txBody>
      </p:sp>
      <p:sp>
        <p:nvSpPr>
          <p:cNvPr id="20" name="track-signal-1">
            <a:extLst xmlns:a="http://schemas.openxmlformats.org/drawingml/2006/main">
              <a:ext uri="{FF2B5EF4-FFF2-40B4-BE49-F238E27FC236}">
                <a16:creationId xmlns:a16="http://schemas.microsoft.com/office/drawing/2014/main" id="{B00187EB-142A-4DA8-B5E1-19534861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对应：多视角／分歧检测／保守选择</a:t>
            </a:r>
          </a:p>
        </p:txBody>
      </p:sp>
      <p:sp>
        <p:nvSpPr>
          <p:cNvPr id="21" name="track-2">
            <a:extLst xmlns:a="http://schemas.openxmlformats.org/drawingml/2006/main">
              <a:ext uri="{FF2B5EF4-FFF2-40B4-BE49-F238E27FC236}">
                <a16:creationId xmlns:a16="http://schemas.microsoft.com/office/drawing/2014/main" id="{40DFB391-CA3F-4B58-B82B-B0538041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22" name="track-no-2">
            <a:extLst xmlns:a="http://schemas.openxmlformats.org/drawingml/2006/main">
              <a:ext uri="{FF2B5EF4-FFF2-40B4-BE49-F238E27FC236}">
                <a16:creationId xmlns:a16="http://schemas.microsoft.com/office/drawing/2014/main" id="{400BC7BF-BC02-425D-8797-480ECFF8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3F8ECBCC-5B2F-46B2-86EA-6C20507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证据核验、路由与飞轮</a:t>
            </a:r>
          </a:p>
        </p:txBody>
      </p:sp>
      <p:sp>
        <p:nvSpPr>
          <p:cNvPr id="24" name="track-lead-2">
            <a:extLst xmlns:a="http://schemas.openxmlformats.org/drawingml/2006/main">
              <a:ext uri="{FF2B5EF4-FFF2-40B4-BE49-F238E27FC236}">
                <a16:creationId xmlns:a16="http://schemas.microsoft.com/office/drawing/2014/main" id="{F974BF02-61FA-4EA3-9D50-9BF049F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模型结论需要证据支撑，并按置信度进入自动通过、自动拒绝或人工复核。</a:t>
            </a:r>
          </a:p>
        </p:txBody>
      </p:sp>
      <p:sp>
        <p:nvSpPr>
          <p:cNvPr id="25" name="track-divider-2">
            <a:extLst xmlns:a="http://schemas.openxmlformats.org/drawingml/2006/main">
              <a:ext uri="{FF2B5EF4-FFF2-40B4-BE49-F238E27FC236}">
                <a16:creationId xmlns:a16="http://schemas.microsoft.com/office/drawing/2014/main" id="{91D74E2B-FD0C-4A50-8F5D-4715BDA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9525">
            <a:solidFill>
              <a:srgbClr val="159A91"/>
            </a:solidFill>
            <a:prstDash val="solid"/>
          </a:ln>
        </p:spPr>
      </p:sp>
      <p:sp>
        <p:nvSpPr>
          <p:cNvPr id="26" name="track-evidence-label-2">
            <a:extLst xmlns:a="http://schemas.openxmlformats.org/drawingml/2006/main">
              <a:ext uri="{FF2B5EF4-FFF2-40B4-BE49-F238E27FC236}">
                <a16:creationId xmlns:a16="http://schemas.microsoft.com/office/drawing/2014/main" id="{0D9E089F-6D81-4843-9113-111388D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27" name="track-evidence-2">
            <a:extLst xmlns:a="http://schemas.openxmlformats.org/drawingml/2006/main">
              <a:ext uri="{FF2B5EF4-FFF2-40B4-BE49-F238E27FC236}">
                <a16:creationId xmlns:a16="http://schemas.microsoft.com/office/drawing/2014/main" id="{A293DDB8-4FB4-435D-83F9-C026164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结构化证据减少主观Judge依赖；数据筛选价值最终需要通过下游训练收益验证。</a:t>
            </a:r>
          </a:p>
        </p:txBody>
      </p:sp>
      <p:sp>
        <p:nvSpPr>
          <p:cNvPr id="28" name="track-signal-2">
            <a:extLst xmlns:a="http://schemas.openxmlformats.org/drawingml/2006/main">
              <a:ext uri="{FF2B5EF4-FFF2-40B4-BE49-F238E27FC236}">
                <a16:creationId xmlns:a16="http://schemas.microsoft.com/office/drawing/2014/main" id="{76291A56-5706-4530-AC02-15F6C31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对应：证据仲裁／三路路由／数据飞轮</a:t>
            </a:r>
          </a:p>
        </p:txBody>
      </p:sp>
      <p:sp>
        <p:nvSpPr>
          <p:cNvPr id="29" name="research-conclusion">
            <a:extLst xmlns:a="http://schemas.openxmlformats.org/drawingml/2006/main">
              <a:ext uri="{FF2B5EF4-FFF2-40B4-BE49-F238E27FC236}">
                <a16:creationId xmlns:a16="http://schemas.microsoft.com/office/drawing/2014/main" id="{68418C07-538C-45E6-B9D9-467F39AE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1163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16">
            <a:extLst xmlns:a="http://schemas.openxmlformats.org/drawingml/2006/main">
              <a:ext uri="{FF2B5EF4-FFF2-40B4-BE49-F238E27FC236}">
                <a16:creationId xmlns:a16="http://schemas.microsoft.com/office/drawing/2014/main" id="{AD9BDF42-4E63-457B-98D4-6F95275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研究共识</a:t>
            </a:r>
          </a:p>
        </p:txBody>
      </p:sp>
      <p:sp>
        <p:nvSpPr>
          <p:cNvPr id="31" name="auto-text-17">
            <a:extLst xmlns:a="http://schemas.openxmlformats.org/drawingml/2006/main">
              <a:ext uri="{FF2B5EF4-FFF2-40B4-BE49-F238E27FC236}">
                <a16:creationId xmlns:a16="http://schemas.microsoft.com/office/drawing/2014/main" id="{DCBD48C6-75EA-4B73-9554-A6E8A1B8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9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评估能力的增量来自校准、组合、路由与闭环验证，而不仅是更换一个更大的VLM。</a:t>
            </a:r>
          </a:p>
        </p:txBody>
      </p:sp>
      <p:sp>
        <p:nvSpPr>
          <p:cNvPr id="32" name="source-650-0.9512077195473847">
            <a:extLst xmlns:a="http://schemas.openxmlformats.org/drawingml/2006/main">
              <a:ext uri="{FF2B5EF4-FFF2-40B4-BE49-F238E27FC236}">
                <a16:creationId xmlns:a16="http://schemas.microsoft.com/office/drawing/2014/main" id="{D0F38284-F620-4EAA-8196-3516354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依据：ICLR 2025／2026；ICCV 2025；AAAI 2025相关研究结论</a:t>
            </a:r>
          </a:p>
        </p:txBody>
      </p:sp>
    </p:spTree>
    <p:extLst>
      <p:ext uri="{BB962C8B-B14F-4D97-AF65-F5344CB8AC3E}">
        <p14:creationId xmlns:p14="http://schemas.microsoft.com/office/powerpoint/2010/main" val="77351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4">
            <a:extLst xmlns:a="http://schemas.openxmlformats.org/drawingml/2006/main">
              <a:ext uri="{FF2B5EF4-FFF2-40B4-BE49-F238E27FC236}">
                <a16:creationId xmlns:a16="http://schemas.microsoft.com/office/drawing/2014/main" id="{7FC2B63D-7EE3-4713-A7CB-51D7C4F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D0A5305-940B-4872-8FD8-502908D1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头部公司已形成“任务标准＋组合评估＋人工校准”闭环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50A3506-205C-4EBE-96F4-4A8D829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auto-text-18">
            <a:extLst xmlns:a="http://schemas.openxmlformats.org/drawingml/2006/main">
              <a:ext uri="{FF2B5EF4-FFF2-40B4-BE49-F238E27FC236}">
                <a16:creationId xmlns:a16="http://schemas.microsoft.com/office/drawing/2014/main" id="{60A2286A-CDA4-4DE5-A6F5-1A70479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公开做法虽不完全相同，但都先拆解任务标准，再组合自动评估、置信度控制、人工验证和持续回流。</a:t>
            </a:r>
          </a:p>
        </p:txBody>
      </p:sp>
      <p:sp>
        <p:nvSpPr>
          <p:cNvPr id="5" name="auto-text-19">
            <a:extLst xmlns:a="http://schemas.openxmlformats.org/drawingml/2006/main">
              <a:ext uri="{FF2B5EF4-FFF2-40B4-BE49-F238E27FC236}">
                <a16:creationId xmlns:a16="http://schemas.microsoft.com/office/drawing/2014/main" id="{F353306A-FE66-483F-8EB2-ED97C003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公司／团队</a:t>
            </a:r>
          </a:p>
        </p:txBody>
      </p:sp>
      <p:sp>
        <p:nvSpPr>
          <p:cNvPr id="6" name="auto-text-20">
            <a:extLst xmlns:a="http://schemas.openxmlformats.org/drawingml/2006/main">
              <a:ext uri="{FF2B5EF4-FFF2-40B4-BE49-F238E27FC236}">
                <a16:creationId xmlns:a16="http://schemas.microsoft.com/office/drawing/2014/main" id="{3D8B4350-4243-4C69-8C75-EB0BF86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公开实践</a:t>
            </a:r>
          </a:p>
        </p:txBody>
      </p:sp>
      <p:sp>
        <p:nvSpPr>
          <p:cNvPr id="7" name="auto-text-21">
            <a:extLst xmlns:a="http://schemas.openxmlformats.org/drawingml/2006/main">
              <a:ext uri="{FF2B5EF4-FFF2-40B4-BE49-F238E27FC236}">
                <a16:creationId xmlns:a16="http://schemas.microsoft.com/office/drawing/2014/main" id="{5CE0C164-5E76-47A4-BB16-48B4FDC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方法特征</a:t>
            </a:r>
          </a:p>
        </p:txBody>
      </p:sp>
      <p:sp>
        <p:nvSpPr>
          <p:cNvPr id="8" name="auto-text-22">
            <a:extLst xmlns:a="http://schemas.openxmlformats.org/drawingml/2006/main">
              <a:ext uri="{FF2B5EF4-FFF2-40B4-BE49-F238E27FC236}">
                <a16:creationId xmlns:a16="http://schemas.microsoft.com/office/drawing/2014/main" id="{D8798AFA-D10F-4770-8FEC-22BE14D6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公开效果</a:t>
            </a:r>
          </a:p>
        </p:txBody>
      </p:sp>
      <p:sp>
        <p:nvSpPr>
          <p:cNvPr id="9" name="company-row-0">
            <a:extLst xmlns:a="http://schemas.openxmlformats.org/drawingml/2006/main">
              <a:ext uri="{FF2B5EF4-FFF2-40B4-BE49-F238E27FC236}">
                <a16:creationId xmlns:a16="http://schemas.microsoft.com/office/drawing/2014/main" id="{34A04DFC-E7C3-4A3C-A336-5176496E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F5F8FF"/>
            </a:solidFill>
            <a:prstDash val="solid"/>
          </a:ln>
        </p:spPr>
      </p:sp>
      <p:sp>
        <p:nvSpPr>
          <p:cNvPr id="10" name="company-name-0">
            <a:extLst xmlns:a="http://schemas.openxmlformats.org/drawingml/2006/main">
              <a:ext uri="{FF2B5EF4-FFF2-40B4-BE49-F238E27FC236}">
                <a16:creationId xmlns:a16="http://schemas.microsoft.com/office/drawing/2014/main" id="{403E24CE-230F-4E5B-BBE3-4D2E9D4C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1" name="company-body-0">
            <a:extLst xmlns:a="http://schemas.openxmlformats.org/drawingml/2006/main">
              <a:ext uri="{FF2B5EF4-FFF2-40B4-BE49-F238E27FC236}">
                <a16:creationId xmlns:a16="http://schemas.microsoft.com/office/drawing/2014/main" id="{E959CAC7-6D39-4041-9D78-64FBC60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76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按能力与安全风险切分评测集；用自动分类器／推理模型做离线评估，并结合对抗测试与人工规范校验。</a:t>
            </a:r>
          </a:p>
        </p:txBody>
      </p:sp>
      <p:sp>
        <p:nvSpPr>
          <p:cNvPr id="12" name="company-tag-0">
            <a:extLst xmlns:a="http://schemas.openxmlformats.org/drawingml/2006/main">
              <a:ext uri="{FF2B5EF4-FFF2-40B4-BE49-F238E27FC236}">
                <a16:creationId xmlns:a16="http://schemas.microsoft.com/office/drawing/2014/main" id="{122ECC31-CF74-4101-9E6F-1A32F3B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持续评测</a:t>
            </a:r>
          </a:p>
        </p:txBody>
      </p:sp>
      <p:sp>
        <p:nvSpPr>
          <p:cNvPr id="13" name="company-effect-0">
            <a:extLst xmlns:a="http://schemas.openxmlformats.org/drawingml/2006/main">
              <a:ext uri="{FF2B5EF4-FFF2-40B4-BE49-F238E27FC236}">
                <a16:creationId xmlns:a16="http://schemas.microsoft.com/office/drawing/2014/main" id="{08E4C9BF-F209-4E3C-BD25-23CEA12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76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评测暴露高拟真深伪等风险，推动多层安全防护与上线后持续监测。</a:t>
            </a:r>
          </a:p>
        </p:txBody>
      </p:sp>
      <p:sp>
        <p:nvSpPr>
          <p:cNvPr id="14" name="company-row-1">
            <a:extLst xmlns:a="http://schemas.openxmlformats.org/drawingml/2006/main">
              <a:ext uri="{FF2B5EF4-FFF2-40B4-BE49-F238E27FC236}">
                <a16:creationId xmlns:a16="http://schemas.microsoft.com/office/drawing/2014/main" id="{79F1A0D0-4FBB-4AA9-98C2-498E887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6FF"/>
          </a:solidFill>
          <a:ln xmlns:a="http://schemas.openxmlformats.org/drawingml/2006/main" w="9525">
            <a:solidFill>
              <a:srgbClr val="F8F6FF"/>
            </a:solidFill>
            <a:prstDash val="solid"/>
          </a:ln>
        </p:spPr>
      </p:sp>
      <p:sp>
        <p:nvSpPr>
          <p:cNvPr id="15" name="company-name-1">
            <a:extLst xmlns:a="http://schemas.openxmlformats.org/drawingml/2006/main">
              <a:ext uri="{FF2B5EF4-FFF2-40B4-BE49-F238E27FC236}">
                <a16:creationId xmlns:a16="http://schemas.microsoft.com/office/drawing/2014/main" id="{23E25ECB-11BD-4836-9E41-83DE9D55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阿里 Qwen</a:t>
            </a:r>
          </a:p>
        </p:txBody>
      </p:sp>
      <p:sp>
        <p:nvSpPr>
          <p:cNvPr id="16" name="company-body-1">
            <a:extLst xmlns:a="http://schemas.openxmlformats.org/drawingml/2006/main">
              <a:ext uri="{FF2B5EF4-FFF2-40B4-BE49-F238E27FC236}">
                <a16:creationId xmlns:a16="http://schemas.microsoft.com/office/drawing/2014/main" id="{BC76B9F5-34DE-4DEA-A432-6336E4C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908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建设多级图像评测体系；专用 Q-Judger 按5个一级维度、56个细粒度因素评分，并结合公开基准与盲测。</a:t>
            </a:r>
          </a:p>
        </p:txBody>
      </p:sp>
      <p:sp>
        <p:nvSpPr>
          <p:cNvPr id="17" name="company-tag-1">
            <a:extLst xmlns:a="http://schemas.openxmlformats.org/drawingml/2006/main">
              <a:ext uri="{FF2B5EF4-FFF2-40B4-BE49-F238E27FC236}">
                <a16:creationId xmlns:a16="http://schemas.microsoft.com/office/drawing/2014/main" id="{BAC49BD5-6E0C-4BF7-BFF8-EC62100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专用 Judge</a:t>
            </a:r>
          </a:p>
        </p:txBody>
      </p:sp>
      <p:sp>
        <p:nvSpPr>
          <p:cNvPr id="18" name="company-effect-1">
            <a:extLst xmlns:a="http://schemas.openxmlformats.org/drawingml/2006/main">
              <a:ext uri="{FF2B5EF4-FFF2-40B4-BE49-F238E27FC236}">
                <a16:creationId xmlns:a16="http://schemas.microsoft.com/office/drawing/2014/main" id="{2211B82A-A298-45B1-8668-DE5384C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更能区分真实保真与创意生成，输出可追溯的生产优化信号。</a:t>
            </a:r>
          </a:p>
        </p:txBody>
      </p:sp>
      <p:sp>
        <p:nvSpPr>
          <p:cNvPr id="19" name="company-row-2">
            <a:extLst xmlns:a="http://schemas.openxmlformats.org/drawingml/2006/main">
              <a:ext uri="{FF2B5EF4-FFF2-40B4-BE49-F238E27FC236}">
                <a16:creationId xmlns:a16="http://schemas.microsoft.com/office/drawing/2014/main" id="{578DFD3A-193A-4EF9-B2C4-EC04930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5"/>
          </a:solidFill>
          <a:ln xmlns:a="http://schemas.openxmlformats.org/drawingml/2006/main" w="9525">
            <a:solidFill>
              <a:srgbClr val="FFF7F5"/>
            </a:solidFill>
            <a:prstDash val="solid"/>
          </a:ln>
        </p:spPr>
      </p:sp>
      <p:sp>
        <p:nvSpPr>
          <p:cNvPr id="20" name="company-name-2">
            <a:extLst xmlns:a="http://schemas.openxmlformats.org/drawingml/2006/main">
              <a:ext uri="{FF2B5EF4-FFF2-40B4-BE49-F238E27FC236}">
                <a16:creationId xmlns:a16="http://schemas.microsoft.com/office/drawing/2014/main" id="{5B3A08C2-E436-42D4-AADC-0EB02C7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字节 Seed</a:t>
            </a:r>
          </a:p>
        </p:txBody>
      </p:sp>
      <p:sp>
        <p:nvSpPr>
          <p:cNvPr id="21" name="company-body-2">
            <a:extLst xmlns:a="http://schemas.openxmlformats.org/drawingml/2006/main">
              <a:ext uri="{FF2B5EF4-FFF2-40B4-BE49-F238E27FC236}">
                <a16:creationId xmlns:a16="http://schemas.microsoft.com/office/drawing/2014/main" id="{9A93D582-4EB8-440F-9348-45E66013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覆盖23类图像编辑子任务；CLIP评一致性、第三方VLM评指令响应，再以人工可用率验证最终效果。</a:t>
            </a:r>
          </a:p>
        </p:txBody>
      </p:sp>
      <p:sp>
        <p:nvSpPr>
          <p:cNvPr id="22" name="company-tag-2">
            <a:extLst xmlns:a="http://schemas.openxmlformats.org/drawingml/2006/main">
              <a:ext uri="{FF2B5EF4-FFF2-40B4-BE49-F238E27FC236}">
                <a16:creationId xmlns:a16="http://schemas.microsoft.com/office/drawing/2014/main" id="{F1A2C359-AEC0-4E79-95C6-916AB43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0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混合指标</a:t>
            </a:r>
          </a:p>
        </p:txBody>
      </p:sp>
      <p:sp>
        <p:nvSpPr>
          <p:cNvPr id="23" name="company-effect-2">
            <a:extLst xmlns:a="http://schemas.openxmlformats.org/drawingml/2006/main">
              <a:ext uri="{FF2B5EF4-FFF2-40B4-BE49-F238E27FC236}">
                <a16:creationId xmlns:a16="http://schemas.microsoft.com/office/drawing/2014/main" id="{60A93DEE-93B4-4AC3-8131-E00C909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052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可用率56.1%（上一代38.4%）；图像一致性达到4.07／5。</a:t>
            </a:r>
          </a:p>
        </p:txBody>
      </p:sp>
      <p:sp>
        <p:nvSpPr>
          <p:cNvPr id="24" name="company-row-3">
            <a:extLst xmlns:a="http://schemas.openxmlformats.org/drawingml/2006/main">
              <a:ext uri="{FF2B5EF4-FFF2-40B4-BE49-F238E27FC236}">
                <a16:creationId xmlns:a16="http://schemas.microsoft.com/office/drawing/2014/main" id="{1BA35BD4-B673-49C6-82EA-088CA297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BFA"/>
          </a:solidFill>
          <a:ln xmlns:a="http://schemas.openxmlformats.org/drawingml/2006/main" w="9525">
            <a:solidFill>
              <a:srgbClr val="F3FBFA"/>
            </a:solidFill>
            <a:prstDash val="solid"/>
          </a:ln>
        </p:spPr>
      </p:sp>
      <p:sp>
        <p:nvSpPr>
          <p:cNvPr id="25" name="company-name-3">
            <a:extLst xmlns:a="http://schemas.openxmlformats.org/drawingml/2006/main">
              <a:ext uri="{FF2B5EF4-FFF2-40B4-BE49-F238E27FC236}">
                <a16:creationId xmlns:a16="http://schemas.microsoft.com/office/drawing/2014/main" id="{2E818140-FED0-47B3-8F18-0E5F36F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腾讯混元</a:t>
            </a:r>
          </a:p>
        </p:txBody>
      </p:sp>
      <p:sp>
        <p:nvSpPr>
          <p:cNvPr id="26" name="company-body-3">
            <a:extLst xmlns:a="http://schemas.openxmlformats.org/drawingml/2006/main">
              <a:ext uri="{FF2B5EF4-FFF2-40B4-BE49-F238E27FC236}">
                <a16:creationId xmlns:a16="http://schemas.microsoft.com/office/drawing/2014/main" id="{1CD4B6D1-806C-4A26-BA5E-D2EDC61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9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SSAE将提示词拆成3500个关键点／12类，由MLLM逐点评分；同时以100+专业评估员开展GSB对比。</a:t>
            </a:r>
          </a:p>
        </p:txBody>
      </p:sp>
      <p:sp>
        <p:nvSpPr>
          <p:cNvPr id="27" name="company-tag-3">
            <a:extLst xmlns:a="http://schemas.openxmlformats.org/drawingml/2006/main">
              <a:ext uri="{FF2B5EF4-FFF2-40B4-BE49-F238E27FC236}">
                <a16:creationId xmlns:a16="http://schemas.microsoft.com/office/drawing/2014/main" id="{A038B542-25B2-4830-9FDE-03DCA8A3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24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检查点＋人工</a:t>
            </a:r>
          </a:p>
        </p:txBody>
      </p:sp>
      <p:sp>
        <p:nvSpPr>
          <p:cNvPr id="28" name="company-effect-3">
            <a:extLst xmlns:a="http://schemas.openxmlformats.org/drawingml/2006/main">
              <a:ext uri="{FF2B5EF4-FFF2-40B4-BE49-F238E27FC236}">
                <a16:creationId xmlns:a16="http://schemas.microsoft.com/office/drawing/2014/main" id="{93B6725E-6140-4C32-B8EF-50B1C92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96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在1000+案例上验证相对表现，并通过单次生成规则降低挑样偏差。</a:t>
            </a:r>
          </a:p>
        </p:txBody>
      </p:sp>
      <p:sp>
        <p:nvSpPr>
          <p:cNvPr id="29" name="company-conclusion">
            <a:extLst xmlns:a="http://schemas.openxmlformats.org/drawingml/2006/main">
              <a:ext uri="{FF2B5EF4-FFF2-40B4-BE49-F238E27FC236}">
                <a16:creationId xmlns:a16="http://schemas.microsoft.com/office/drawing/2014/main" id="{E23AF8C9-14BD-4906-93D1-020BD0A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23">
            <a:extLst xmlns:a="http://schemas.openxmlformats.org/drawingml/2006/main">
              <a:ext uri="{FF2B5EF4-FFF2-40B4-BE49-F238E27FC236}">
                <a16:creationId xmlns:a16="http://schemas.microsoft.com/office/drawing/2014/main" id="{22844A52-24F6-4ADA-9770-04CD8F7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行业共识</a:t>
            </a:r>
          </a:p>
        </p:txBody>
      </p:sp>
      <p:sp>
        <p:nvSpPr>
          <p:cNvPr id="31" name="auto-text-24">
            <a:extLst xmlns:a="http://schemas.openxmlformats.org/drawingml/2006/main">
              <a:ext uri="{FF2B5EF4-FFF2-40B4-BE49-F238E27FC236}">
                <a16:creationId xmlns:a16="http://schemas.microsoft.com/office/drawing/2014/main" id="{FC95F9A6-BDBE-4C0E-94C4-0011791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通用模型只是底座；任务标准、评价器组合、置信度路由与持续回流决定最终效果。</a:t>
            </a:r>
          </a:p>
        </p:txBody>
      </p:sp>
      <p:sp>
        <p:nvSpPr>
          <p:cNvPr id="32" name="source-650-0.38303008256452986">
            <a:extLst xmlns:a="http://schemas.openxmlformats.org/drawingml/2006/main">
              <a:ext uri="{FF2B5EF4-FFF2-40B4-BE49-F238E27FC236}">
                <a16:creationId xmlns:a16="http://schemas.microsoft.com/office/drawing/2014/main" id="{BCC7AF73-CEEC-4E5D-ADF5-A53AC373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公开资料：OpenAI Images 2.0；Qwen-Image-Bench；SeedEdit 3.0；HunyuanImage 3.0</a:t>
            </a:r>
          </a:p>
        </p:txBody>
      </p:sp>
    </p:spTree>
    <p:extLst>
      <p:ext uri="{BB962C8B-B14F-4D97-AF65-F5344CB8AC3E}">
        <p14:creationId xmlns:p14="http://schemas.microsoft.com/office/powerpoint/2010/main" val="1404695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accent-5">
            <a:extLst xmlns:a="http://schemas.openxmlformats.org/drawingml/2006/main">
              <a:ext uri="{FF2B5EF4-FFF2-40B4-BE49-F238E27FC236}">
                <a16:creationId xmlns:a16="http://schemas.microsoft.com/office/drawing/2014/main" id="{53B18B9E-7C25-465D-A1A3-02C3B9F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EFC94C2-FC6D-47E5-ABC4-821F2F5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项目以任务编译为入口，形成评估、路由与数据飞轮闭环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4AC0F70-D969-48C5-B8C6-E5EA66D7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auto-text-25">
            <a:extLst xmlns:a="http://schemas.openxmlformats.org/drawingml/2006/main">
              <a:ext uri="{FF2B5EF4-FFF2-40B4-BE49-F238E27FC236}">
                <a16:creationId xmlns:a16="http://schemas.microsoft.com/office/drawing/2014/main" id="{795B30D0-DDEE-4732-A43C-11333CD2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输入任务描述、数据模态、用途、≤20条冷启动样例和业务红线，自动生成可执行评估配置。</a:t>
            </a:r>
          </a:p>
        </p:txBody>
      </p:sp>
      <p:sp>
        <p:nvSpPr>
          <p:cNvPr id="5" name="input-node">
            <a:extLst xmlns:a="http://schemas.openxmlformats.org/drawingml/2006/main">
              <a:ext uri="{FF2B5EF4-FFF2-40B4-BE49-F238E27FC236}">
                <a16:creationId xmlns:a16="http://schemas.microsoft.com/office/drawing/2014/main" id="{91742314-C65E-4247-BEB7-E3C3EA9B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457450" cy="36957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" name="auto-text-26">
            <a:extLst xmlns:a="http://schemas.openxmlformats.org/drawingml/2006/main">
              <a:ext uri="{FF2B5EF4-FFF2-40B4-BE49-F238E27FC236}">
                <a16:creationId xmlns:a16="http://schemas.microsoft.com/office/drawing/2014/main" id="{AFCDCF26-0E91-4501-B3E2-3461DA19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7" name="auto-text-27">
            <a:extLst xmlns:a="http://schemas.openxmlformats.org/drawingml/2006/main">
              <a:ext uri="{FF2B5EF4-FFF2-40B4-BE49-F238E27FC236}">
                <a16:creationId xmlns:a16="http://schemas.microsoft.com/office/drawing/2014/main" id="{7CB7CBAF-C4FF-408A-B627-48AEFEC5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9812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任务描述、模态与用途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≤20条冷启动样例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业务红线与专家偏好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已有模型、工具和规则</a:t>
            </a:r>
          </a:p>
        </p:txBody>
      </p:sp>
      <p:sp>
        <p:nvSpPr>
          <p:cNvPr id="8" name="input-divider">
            <a:extLst xmlns:a="http://schemas.openxmlformats.org/drawingml/2006/main">
              <a:ext uri="{FF2B5EF4-FFF2-40B4-BE49-F238E27FC236}">
                <a16:creationId xmlns:a16="http://schemas.microsoft.com/office/drawing/2014/main" id="{F125C16D-50BE-4B9A-98B5-10C985D5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981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auto-text-28">
            <a:extLst xmlns:a="http://schemas.openxmlformats.org/drawingml/2006/main">
              <a:ext uri="{FF2B5EF4-FFF2-40B4-BE49-F238E27FC236}">
                <a16:creationId xmlns:a16="http://schemas.microsoft.com/office/drawing/2014/main" id="{19AA4592-8384-43A3-96F9-1528517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必达模态</a:t>
            </a:r>
          </a:p>
        </p:txBody>
      </p:sp>
      <p:sp>
        <p:nvSpPr>
          <p:cNvPr id="10" name="auto-text-29">
            <a:extLst xmlns:a="http://schemas.openxmlformats.org/drawingml/2006/main">
              <a:ext uri="{FF2B5EF4-FFF2-40B4-BE49-F238E27FC236}">
                <a16:creationId xmlns:a16="http://schemas.microsoft.com/office/drawing/2014/main" id="{2E10EF22-2681-4E43-9BBB-6A3EDF9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文本｜图片｜视频｜跨模态组合</a:t>
            </a:r>
          </a:p>
        </p:txBody>
      </p:sp>
      <p:sp>
        <p:nvSpPr>
          <p:cNvPr id="11" name="auto-text-30">
            <a:extLst xmlns:a="http://schemas.openxmlformats.org/drawingml/2006/main">
              <a:ext uri="{FF2B5EF4-FFF2-40B4-BE49-F238E27FC236}">
                <a16:creationId xmlns:a16="http://schemas.microsoft.com/office/drawing/2014/main" id="{D4CC551C-3FEB-4D3C-8DF8-FED9F6B7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compiler-node">
            <a:extLst xmlns:a="http://schemas.openxmlformats.org/drawingml/2006/main">
              <a:ext uri="{FF2B5EF4-FFF2-40B4-BE49-F238E27FC236}">
                <a16:creationId xmlns:a16="http://schemas.microsoft.com/office/drawing/2014/main" id="{20A12A69-A549-4620-BB7A-6FFC5644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54483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3" name="auto-text-31">
            <a:extLst xmlns:a="http://schemas.openxmlformats.org/drawingml/2006/main">
              <a:ext uri="{FF2B5EF4-FFF2-40B4-BE49-F238E27FC236}">
                <a16:creationId xmlns:a16="http://schemas.microsoft.com/office/drawing/2014/main" id="{6A4E3E9A-0B94-4E3A-A84A-33592E94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764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评估任务编译与执行</a:t>
            </a:r>
          </a:p>
        </p:txBody>
      </p:sp>
      <p:sp>
        <p:nvSpPr>
          <p:cNvPr id="14" name="auto-text-32">
            <a:extLst xmlns:a="http://schemas.openxmlformats.org/drawingml/2006/main">
              <a:ext uri="{FF2B5EF4-FFF2-40B4-BE49-F238E27FC236}">
                <a16:creationId xmlns:a16="http://schemas.microsoft.com/office/drawing/2014/main" id="{97D596CE-630D-4BF4-86DD-131EC70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任务编译</a:t>
            </a:r>
          </a:p>
        </p:txBody>
      </p:sp>
      <p:sp>
        <p:nvSpPr>
          <p:cNvPr id="15" name="auto-text-33">
            <a:extLst xmlns:a="http://schemas.openxmlformats.org/drawingml/2006/main">
              <a:ext uri="{FF2B5EF4-FFF2-40B4-BE49-F238E27FC236}">
                <a16:creationId xmlns:a16="http://schemas.microsoft.com/office/drawing/2014/main" id="{51BAF8F7-5CD5-4BA1-B132-3D998F3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638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Task Specification／Rubric／证据需求图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Capability Plan／Agent配置／Evaluation DAG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输出Schema／置信度及三路路由规则</a:t>
            </a:r>
          </a:p>
        </p:txBody>
      </p:sp>
      <p:sp>
        <p:nvSpPr>
          <p:cNvPr id="16" name="compiler-divider">
            <a:extLst xmlns:a="http://schemas.openxmlformats.org/drawingml/2006/main">
              <a:ext uri="{FF2B5EF4-FFF2-40B4-BE49-F238E27FC236}">
                <a16:creationId xmlns:a16="http://schemas.microsoft.com/office/drawing/2014/main" id="{818F2845-F90F-47AD-BFA0-69B816F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4876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8F5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7" name="auto-text-34">
            <a:extLst xmlns:a="http://schemas.openxmlformats.org/drawingml/2006/main">
              <a:ext uri="{FF2B5EF4-FFF2-40B4-BE49-F238E27FC236}">
                <a16:creationId xmlns:a16="http://schemas.microsoft.com/office/drawing/2014/main" id="{EB561AA3-BC7F-45FD-B6C2-DCD6FD3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运行与校准</a:t>
            </a:r>
          </a:p>
        </p:txBody>
      </p:sp>
      <p:sp>
        <p:nvSpPr>
          <p:cNvPr id="18" name="runtime-no-0">
            <a:extLst xmlns:a="http://schemas.openxmlformats.org/drawingml/2006/main">
              <a:ext uri="{FF2B5EF4-FFF2-40B4-BE49-F238E27FC236}">
                <a16:creationId xmlns:a16="http://schemas.microsoft.com/office/drawing/2014/main" id="{1077B83A-4DED-4E45-8054-6D8863E7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8640A6DE-EEF7-46A8-9BF9-D0ED66F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能力注册与模型／工具匹配</a:t>
            </a:r>
          </a:p>
        </p:txBody>
      </p:sp>
      <p:sp>
        <p:nvSpPr>
          <p:cNvPr id="20" name="runtime-no-1">
            <a:extLst xmlns:a="http://schemas.openxmlformats.org/drawingml/2006/main">
              <a:ext uri="{FF2B5EF4-FFF2-40B4-BE49-F238E27FC236}">
                <a16:creationId xmlns:a16="http://schemas.microsoft.com/office/drawing/2014/main" id="{8073CDD3-6EB4-4F9C-8C2F-1D24141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31248020-8B57-4623-964A-07AFB6DF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后验校准＋邻域共识＋分歧检测</a:t>
            </a:r>
          </a:p>
        </p:txBody>
      </p:sp>
      <p:sp>
        <p:nvSpPr>
          <p:cNvPr id="22" name="runtime-no-2">
            <a:extLst xmlns:a="http://schemas.openxmlformats.org/drawingml/2006/main">
              <a:ext uri="{FF2B5EF4-FFF2-40B4-BE49-F238E27FC236}">
                <a16:creationId xmlns:a16="http://schemas.microsoft.com/office/drawing/2014/main" id="{BF67DDFA-8229-4A58-8A33-043498D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10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B225A34A-D536-42D5-9E04-962EF26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图文／视频证据仲裁＋置信度校准</a:t>
            </a:r>
          </a:p>
        </p:txBody>
      </p:sp>
      <p:sp>
        <p:nvSpPr>
          <p:cNvPr id="24" name="auto-text-35">
            <a:extLst xmlns:a="http://schemas.openxmlformats.org/drawingml/2006/main">
              <a:ext uri="{FF2B5EF4-FFF2-40B4-BE49-F238E27FC236}">
                <a16:creationId xmlns:a16="http://schemas.microsoft.com/office/drawing/2014/main" id="{60110F4B-1894-4025-856A-8EE25D2B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8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output-node">
            <a:extLst xmlns:a="http://schemas.openxmlformats.org/drawingml/2006/main">
              <a:ext uri="{FF2B5EF4-FFF2-40B4-BE49-F238E27FC236}">
                <a16:creationId xmlns:a16="http://schemas.microsoft.com/office/drawing/2014/main" id="{390E9D53-4814-40E0-A846-D50E075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24000"/>
            <a:ext cx="2419350" cy="36957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6" name="auto-text-36">
            <a:extLst xmlns:a="http://schemas.openxmlformats.org/drawingml/2006/main">
              <a:ext uri="{FF2B5EF4-FFF2-40B4-BE49-F238E27FC236}">
                <a16:creationId xmlns:a16="http://schemas.microsoft.com/office/drawing/2014/main" id="{96EE8804-84AE-47D1-B265-CA6CBF4E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三路输出与回流</a:t>
            </a:r>
          </a:p>
        </p:txBody>
      </p:sp>
      <p:sp>
        <p:nvSpPr>
          <p:cNvPr id="27" name="auto-text-37">
            <a:extLst xmlns:a="http://schemas.openxmlformats.org/drawingml/2006/main">
              <a:ext uri="{FF2B5EF4-FFF2-40B4-BE49-F238E27FC236}">
                <a16:creationId xmlns:a16="http://schemas.microsoft.com/office/drawing/2014/main" id="{23C4F444-BAAA-4ACF-94A5-78F6BDF0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943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REJECT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28" name="output-divider">
            <a:extLst xmlns:a="http://schemas.openxmlformats.org/drawingml/2006/main">
              <a:ext uri="{FF2B5EF4-FFF2-40B4-BE49-F238E27FC236}">
                <a16:creationId xmlns:a16="http://schemas.microsoft.com/office/drawing/2014/main" id="{8EF80B34-A558-479D-8DF4-219CF61E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943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DDD8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9" name="auto-text-38">
            <a:extLst xmlns:a="http://schemas.openxmlformats.org/drawingml/2006/main">
              <a:ext uri="{FF2B5EF4-FFF2-40B4-BE49-F238E27FC236}">
                <a16:creationId xmlns:a16="http://schemas.microsoft.com/office/drawing/2014/main" id="{026515B9-48CB-4502-AE17-FDB2E53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94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结构化证据与报告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API／SDK与迁移资产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V0／V1／V2数据飞轮</a:t>
            </a:r>
          </a:p>
        </p:txBody>
      </p:sp>
      <p:sp>
        <p:nvSpPr>
          <p:cNvPr id="30" name="scenario-band">
            <a:extLst xmlns:a="http://schemas.openxmlformats.org/drawingml/2006/main">
              <a:ext uri="{FF2B5EF4-FFF2-40B4-BE49-F238E27FC236}">
                <a16:creationId xmlns:a16="http://schemas.microsoft.com/office/drawing/2014/main" id="{E8AD6E86-B8B4-4886-AAD9-6A1B12E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1" name="auto-text-39">
            <a:extLst xmlns:a="http://schemas.openxmlformats.org/drawingml/2006/main">
              <a:ext uri="{FF2B5EF4-FFF2-40B4-BE49-F238E27FC236}">
                <a16:creationId xmlns:a16="http://schemas.microsoft.com/office/drawing/2014/main" id="{26C11D94-7E4C-4CC4-BC6F-9F73199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建议图像试点：多图编辑＋AIGC图库　｜　验收另含未见任务与视频边界</a:t>
            </a:r>
          </a:p>
        </p:txBody>
      </p:sp>
      <p:sp>
        <p:nvSpPr>
          <p:cNvPr id="32" name="current-pipeline-frame">
            <a:extLst xmlns:a="http://schemas.openxmlformats.org/drawingml/2006/main">
              <a:ext uri="{FF2B5EF4-FFF2-40B4-BE49-F238E27FC236}">
                <a16:creationId xmlns:a16="http://schemas.microsoft.com/office/drawing/2014/main" id="{69ABF642-7C6C-4E83-AE2F-2890E09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3105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33" name="current-pipeline-label">
            <a:extLst xmlns:a="http://schemas.openxmlformats.org/drawingml/2006/main">
              <a:ext uri="{FF2B5EF4-FFF2-40B4-BE49-F238E27FC236}">
                <a16:creationId xmlns:a16="http://schemas.microsoft.com/office/drawing/2014/main" id="{647FC792-0024-4B40-B921-3142925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911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可选｜现有质检Pipeline截图</a:t>
            </a:r>
          </a:p>
        </p:txBody>
      </p:sp>
      <p:sp>
        <p:nvSpPr>
          <p:cNvPr id="34" name="current-pipeline-sub">
            <a:extLst xmlns:a="http://schemas.openxmlformats.org/drawingml/2006/main">
              <a:ext uri="{FF2B5EF4-FFF2-40B4-BE49-F238E27FC236}">
                <a16:creationId xmlns:a16="http://schemas.microsoft.com/office/drawing/2014/main" id="{2E2A472D-CEE0-44C6-BE1E-67058AAD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8959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如无材料可删除此框</a:t>
            </a:r>
          </a:p>
        </p:txBody>
      </p:sp>
      <p:sp>
        <p:nvSpPr>
          <p:cNvPr id="35" name="auto-text-40">
            <a:extLst xmlns:a="http://schemas.openxmlformats.org/drawingml/2006/main">
              <a:ext uri="{FF2B5EF4-FFF2-40B4-BE49-F238E27FC236}">
                <a16:creationId xmlns:a16="http://schemas.microsoft.com/office/drawing/2014/main" id="{FDC9798C-A5AC-49E1-B936-4305B6B8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边界：乙方交付原型、API／SDK、模型适配与联调；甲方负责生产级平台、批处理、可视化和运维。</a:t>
            </a:r>
          </a:p>
        </p:txBody>
      </p:sp>
    </p:spTree>
    <p:extLst>
      <p:ext uri="{BB962C8B-B14F-4D97-AF65-F5344CB8AC3E}">
        <p14:creationId xmlns:p14="http://schemas.microsoft.com/office/powerpoint/2010/main" val="2026557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6">
            <a:extLst xmlns:a="http://schemas.openxmlformats.org/drawingml/2006/main">
              <a:ext uri="{FF2B5EF4-FFF2-40B4-BE49-F238E27FC236}">
                <a16:creationId xmlns:a16="http://schemas.microsoft.com/office/drawing/2014/main" id="{3E51C465-F1FF-4A86-B257-C1AB627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912F1D1-DD0F-4713-9267-1885645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合作项目将把临时质检方案沉淀为可复用、可验证的质量能力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8AFA93DB-3C93-4401-8F5B-9F6BC22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auto-text-41">
            <a:extLst xmlns:a="http://schemas.openxmlformats.org/drawingml/2006/main">
              <a:ext uri="{FF2B5EF4-FFF2-40B4-BE49-F238E27FC236}">
                <a16:creationId xmlns:a16="http://schemas.microsoft.com/office/drawing/2014/main" id="{83B25D6A-65CA-439D-9551-5FC1587E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项目价值不仅是提高一次筛选准确率，更重要的是形成可服务文本、图片、视频任务的共同能力。</a:t>
            </a:r>
          </a:p>
        </p:txBody>
      </p:sp>
      <p:sp>
        <p:nvSpPr>
          <p:cNvPr id="5" name="value-0">
            <a:extLst xmlns:a="http://schemas.openxmlformats.org/drawingml/2006/main">
              <a:ext uri="{FF2B5EF4-FFF2-40B4-BE49-F238E27FC236}">
                <a16:creationId xmlns:a16="http://schemas.microsoft.com/office/drawing/2014/main" id="{5212BF80-13DF-4E66-B296-1E9276A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8ED64D18-3DF1-4E25-A1DA-E5D4762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E37F5E11-4404-4AFD-AF17-ED21E06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新任务配置工时显著降低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高置信样本实现选择性自动化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成熟任务人工质检量目标降低≥50%</a:t>
            </a:r>
          </a:p>
        </p:txBody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322CD5C7-24E2-4D69-B48B-05A0AB55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9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EA782CB0-B671-41C7-AFE8-0699EE3D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技术价值</a:t>
            </a:r>
          </a:p>
        </p:txBody>
      </p:sp>
      <p:sp>
        <p:nvSpPr>
          <p:cNvPr id="10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8C303B4B-1BA3-410A-8830-018D9F86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统一任务规范、Rubric、DAG与Schema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组合校准、共识、工具与证据仲裁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用冻结阈值验证风险—覆盖关系</a:t>
            </a:r>
          </a:p>
        </p:txBody>
      </p:sp>
      <p:sp>
        <p:nvSpPr>
          <p:cNvPr id="11" name="value-2">
            <a:extLst xmlns:a="http://schemas.openxmlformats.org/drawingml/2006/main">
              <a:ext uri="{FF2B5EF4-FFF2-40B4-BE49-F238E27FC236}">
                <a16:creationId xmlns:a16="http://schemas.microsoft.com/office/drawing/2014/main" id="{67990D2F-56BA-4AA7-AD40-56AC652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  <a:prstDash val="solid"/>
          </a:ln>
        </p:spPr>
      </p:sp>
      <p:sp>
        <p:nvSpPr>
          <p:cNvPr id="12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2A31BAA4-E377-4878-9150-EE26D0CF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rPr>
              <a:t>长期资产</a:t>
            </a:r>
          </a:p>
        </p:txBody>
      </p:sp>
      <p:sp>
        <p:nvSpPr>
          <p:cNvPr id="13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4B2198E8-A4B1-49FB-BB8F-5DB51330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沉淀≥3套典型任务迁移资产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形成API／SDK与≥3类模型适配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积累V0／V1／V2数据版本及论文专利</a:t>
            </a:r>
          </a:p>
        </p:txBody>
      </p:sp>
      <p:sp>
        <p:nvSpPr>
          <p:cNvPr id="14" name="auto-text-42">
            <a:extLst xmlns:a="http://schemas.openxmlformats.org/drawingml/2006/main">
              <a:ext uri="{FF2B5EF4-FFF2-40B4-BE49-F238E27FC236}">
                <a16:creationId xmlns:a16="http://schemas.microsoft.com/office/drawing/2014/main" id="{9C30530B-D6E9-4550-BCF7-E9005113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SOW项目目标（非现有成果）</a:t>
            </a:r>
          </a:p>
        </p:txBody>
      </p:sp>
      <p:sp>
        <p:nvSpPr>
          <p:cNvPr id="15" name="metric-0">
            <a:extLst xmlns:a="http://schemas.openxmlformats.org/drawingml/2006/main">
              <a:ext uri="{FF2B5EF4-FFF2-40B4-BE49-F238E27FC236}">
                <a16:creationId xmlns:a16="http://schemas.microsoft.com/office/drawing/2014/main" id="{4BC58CA6-ADAD-41F7-BD42-0695B77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6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005E8829-FD98-4C91-B547-C537B7C2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≥3类／10+</a:t>
            </a:r>
          </a:p>
        </p:txBody>
      </p:sp>
      <p:sp>
        <p:nvSpPr>
          <p:cNvPr id="1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0A3C685-E6F9-4CB9-B94B-CBAF865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未见任务冷启动</a:t>
            </a:r>
          </a:p>
        </p:txBody>
      </p:sp>
      <p:sp>
        <p:nvSpPr>
          <p:cNvPr id="18" name="metric-1">
            <a:extLst xmlns:a="http://schemas.openxmlformats.org/drawingml/2006/main">
              <a:ext uri="{FF2B5EF4-FFF2-40B4-BE49-F238E27FC236}">
                <a16:creationId xmlns:a16="http://schemas.microsoft.com/office/drawing/2014/main" id="{F86E26D0-8F02-4D8D-9B79-6A8D3E9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6D9AA668-AE34-42D1-A194-38983E43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≥82%</a:t>
            </a:r>
          </a:p>
        </p:txBody>
      </p:sp>
      <p:sp>
        <p:nvSpPr>
          <p:cNvPr id="2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1E9FDD2-0739-4D2D-933D-9A3C2408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BA与低质量Recall</a:t>
            </a:r>
          </a:p>
        </p:txBody>
      </p:sp>
      <p:sp>
        <p:nvSpPr>
          <p:cNvPr id="21" name="metric-2">
            <a:extLst xmlns:a="http://schemas.openxmlformats.org/drawingml/2006/main">
              <a:ext uri="{FF2B5EF4-FFF2-40B4-BE49-F238E27FC236}">
                <a16:creationId xmlns:a16="http://schemas.microsoft.com/office/drawing/2014/main" id="{2845D78F-FFE7-47ED-833B-FA1E47D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EBF3CED1-F95C-4DC3-AE7E-EBE04D1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≥50%</a:t>
            </a:r>
          </a:p>
        </p:txBody>
      </p:sp>
      <p:sp>
        <p:nvSpPr>
          <p:cNvPr id="2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EA87E77B-3D66-4982-AE33-42A56026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自动处置Coverage</a:t>
            </a:r>
          </a:p>
        </p:txBody>
      </p:sp>
      <p:sp>
        <p:nvSpPr>
          <p:cNvPr id="24" name="metric-3">
            <a:extLst xmlns:a="http://schemas.openxmlformats.org/drawingml/2006/main">
              <a:ext uri="{FF2B5EF4-FFF2-40B4-BE49-F238E27FC236}">
                <a16:creationId xmlns:a16="http://schemas.microsoft.com/office/drawing/2014/main" id="{C6D1B382-32FB-494A-8AE2-7B4D546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C0FD4DF-3FCA-4F75-9708-4C95A85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≥90%／0</a:t>
            </a:r>
          </a:p>
        </p:txBody>
      </p:sp>
      <p:sp>
        <p:nvSpPr>
          <p:cNvPr id="2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4DE1F3FE-BCA4-453E-8A1A-209275D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自动Accuracy／红线通过</a:t>
            </a:r>
          </a:p>
        </p:txBody>
      </p:sp>
      <p:sp>
        <p:nvSpPr>
          <p:cNvPr id="27" name="metric-4">
            <a:extLst xmlns:a="http://schemas.openxmlformats.org/drawingml/2006/main">
              <a:ext uri="{FF2B5EF4-FFF2-40B4-BE49-F238E27FC236}">
                <a16:creationId xmlns:a16="http://schemas.microsoft.com/office/drawing/2014/main" id="{2EAD7164-CAAA-4630-9208-F19C7C10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8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1F7103D5-7AD0-4CB4-8A86-65FACBF2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≥2轮</a:t>
            </a:r>
          </a:p>
        </p:txBody>
      </p:sp>
      <p:sp>
        <p:nvSpPr>
          <p:cNvPr id="29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04CCD8FB-751E-485B-AA98-14CB3D40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飞轮；≥2/3种子正向</a:t>
            </a:r>
          </a:p>
        </p:txBody>
      </p:sp>
      <p:sp>
        <p:nvSpPr>
          <p:cNvPr id="30" name="auto-text-43">
            <a:extLst xmlns:a="http://schemas.openxmlformats.org/drawingml/2006/main">
              <a:ext uri="{FF2B5EF4-FFF2-40B4-BE49-F238E27FC236}">
                <a16:creationId xmlns:a16="http://schemas.microsoft.com/office/drawing/2014/main" id="{9E2F754B-1D2F-439A-B6C4-99E4C1AC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待双方冻结：视频任务边界／红线定义／人工审核Baseline／数据飞轮主指标与最低增益</a:t>
            </a:r>
          </a:p>
        </p:txBody>
      </p:sp>
      <p:sp>
        <p:nvSpPr>
          <p:cNvPr id="31" name="approval-band">
            <a:extLst xmlns:a="http://schemas.openxmlformats.org/drawingml/2006/main">
              <a:ext uri="{FF2B5EF4-FFF2-40B4-BE49-F238E27FC236}">
                <a16:creationId xmlns:a16="http://schemas.microsoft.com/office/drawing/2014/main" id="{79B8D6DC-3E1A-459F-B85D-78E3D84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2" name="auto-text-44">
            <a:extLst xmlns:a="http://schemas.openxmlformats.org/drawingml/2006/main">
              <a:ext uri="{FF2B5EF4-FFF2-40B4-BE49-F238E27FC236}">
                <a16:creationId xmlns:a16="http://schemas.microsoft.com/office/drawing/2014/main" id="{23A87FBE-6FAD-42CD-B81A-9127C298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建议批准本次合作：以图像试点启动，并分阶段验证新任务适配、自动化分流与数据飞轮收益。</a:t>
            </a:r>
          </a:p>
        </p:txBody>
      </p:sp>
    </p:spTree>
    <p:extLst>
      <p:ext uri="{BB962C8B-B14F-4D97-AF65-F5344CB8AC3E}">
        <p14:creationId xmlns:p14="http://schemas.microsoft.com/office/powerpoint/2010/main" val="1871243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2026-08-06T03:58:24.8380000Z</dcterms:created>
  <dcterms:modified xsi:type="dcterms:W3CDTF">2026-08-06T03:58:24.8380000Z</dcterms:modified>
</coreProperties>
</file>