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6b6d8cf9cb4573" /><Relationship Type="http://schemas.openxmlformats.org/officeDocument/2006/relationships/extended-properties" Target="/docProps/app.xml" Id="R6604979b13b84bf7" /><Relationship Type="http://schemas.openxmlformats.org/officeDocument/2006/relationships/officeDocument" Target="/ppt/presentation.xml" Id="R06499dc37b4e47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e7d6ac1be44353"/>
  </p:sldMasterIdLst>
  <p:notesMasterIdLst>
    <p:notesMasterId xmlns:r="http://schemas.openxmlformats.org/officeDocument/2006/relationships" r:id="R60717719bade4dd4"/>
  </p:notesMasterIdLst>
  <p:sldIdLst>
    <p:sldId xmlns:r="http://schemas.openxmlformats.org/officeDocument/2006/relationships" id="256" r:id="R004b81e8dd2a4f3a"/>
    <p:sldId xmlns:r="http://schemas.openxmlformats.org/officeDocument/2006/relationships" id="257" r:id="Ra97a5a12a7af48a2"/>
    <p:sldId xmlns:r="http://schemas.openxmlformats.org/officeDocument/2006/relationships" id="258" r:id="R57eaced799584798"/>
    <p:sldId xmlns:r="http://schemas.openxmlformats.org/officeDocument/2006/relationships" id="259" r:id="Rc9cdb0f1a9114aa5"/>
    <p:sldId xmlns:r="http://schemas.openxmlformats.org/officeDocument/2006/relationships" id="260" r:id="R6f9da5c678f844b9"/>
    <p:sldId xmlns:r="http://schemas.openxmlformats.org/officeDocument/2006/relationships" id="261" r:id="Ra6eff293036e4b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a25dab28dc433e" /><Relationship Type="http://schemas.openxmlformats.org/officeDocument/2006/relationships/slideMaster" Target="/ppt/slideMasters/slideMaster1.xml" Id="Re0e7d6ac1be44353" /><Relationship Type="http://schemas.openxmlformats.org/officeDocument/2006/relationships/notesMaster" Target="/ppt/notesMasters/notesMaster1.xml" Id="R60717719bade4dd4" /><Relationship Type="http://schemas.openxmlformats.org/officeDocument/2006/relationships/presProps" Target="/ppt/presProps.xml" Id="R3b6c803385a04f70" /><Relationship Type="http://schemas.openxmlformats.org/officeDocument/2006/relationships/tableStyles" Target="/ppt/tableStyles.xml" Id="R6f76df9d3d4e48e9" /><Relationship Type="http://schemas.openxmlformats.org/officeDocument/2006/relationships/slide" Target="/ppt/slides/slide1.xml" Id="R004b81e8dd2a4f3a" /><Relationship Type="http://schemas.openxmlformats.org/officeDocument/2006/relationships/slide" Target="/ppt/slides/slide2.xml" Id="Ra97a5a12a7af48a2" /><Relationship Type="http://schemas.openxmlformats.org/officeDocument/2006/relationships/slide" Target="/ppt/slides/slide3.xml" Id="R57eaced799584798" /><Relationship Type="http://schemas.openxmlformats.org/officeDocument/2006/relationships/slide" Target="/ppt/slides/slide4.xml" Id="Rc9cdb0f1a9114aa5" /><Relationship Type="http://schemas.openxmlformats.org/officeDocument/2006/relationships/slide" Target="/ppt/slides/slide5.xml" Id="R6f9da5c678f844b9" /><Relationship Type="http://schemas.openxmlformats.org/officeDocument/2006/relationships/slide" Target="/ppt/slides/slide6.xml" Id="Ra6eff293036e4b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094a4eba9a43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50efcf1d1347c9" /><Relationship Type="http://schemas.openxmlformats.org/officeDocument/2006/relationships/notesMaster" Target="/ppt/notesMasters/notesMaster1.xml" Id="R27541158f2014d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c332773d754579" /><Relationship Type="http://schemas.openxmlformats.org/officeDocument/2006/relationships/notesMaster" Target="/ppt/notesMasters/notesMaster1.xml" Id="R136d08644f0f40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2e0c911d644901" /><Relationship Type="http://schemas.openxmlformats.org/officeDocument/2006/relationships/notesMaster" Target="/ppt/notesMasters/notesMaster1.xml" Id="Rf9240d8cadb340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2be7fa5bdf4e4d" /><Relationship Type="http://schemas.openxmlformats.org/officeDocument/2006/relationships/notesMaster" Target="/ppt/notesMasters/notesMaster1.xml" Id="Re0cd2d4cfaf247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a1a8fe9ebc455e" /><Relationship Type="http://schemas.openxmlformats.org/officeDocument/2006/relationships/notesMaster" Target="/ppt/notesMasters/notesMaster1.xml" Id="Rd5714b00cb9341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8e08481eeb4720" /><Relationship Type="http://schemas.openxmlformats.org/officeDocument/2006/relationships/notesMaster" Target="/ppt/notesMasters/notesMaster1.xml" Id="R0a76ea245bb140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当前已有多图编辑、盲超分、颜色标注和AIGC图库等多个图像项目。这里用多图编辑和图库两个代表场景说明：多图编辑关注参考内容是否正确迁移、人物是否保持、非目标区域是否被破坏；图库关注异常、美学和构图。由此可见，数据质量不是一套固定分数，而是与任务目标直接相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方式能够解决眼前问题，但每次都从讨论标准、编写Prompt、人工抽检开始。最大问题不是某一个Prompt写得不好，而是缺少统一的质量维度、基线、校准方法和可复用组件。右侧预留了内部Prompt和误判案例，后续替换后可以直观说明现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外部趋势不是用一个通用VLM替代所有人工，而是把质量评价拆成多个任务维度，再用人类偏好检验Judge，并让评价进入数据筛选和模型训练。左图展示MJ-Bench的多维评价体系，右图展示CVPR 2026的文本生图、图像编辑、图文交错和多模态推理任务。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MJ-Bench, NeurIPS 2025: https://proceedings.neurips.cc/paper_files/paper/2025/hash/59d2eaa5842fa641ff9b8e4c7ff0f6ee-Abstract-Datasets_and_Benchmarks_Track.html</a:t>
            </a:r>
          </a:p>
          <a:p xmlns:a="http://schemas.openxmlformats.org/drawingml/2006/main">
            <a:r>
              <a:t>- Multimodal RewardBench 2, CVPR 2026: https://openaccess.thecvf.com/content/CVPR2026/html/Hu_Multimodal_RewardBench_2_Evaluating_Omni_Reward_Models_for_Interleaved_Text_CVPR_2026_paper.html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最新研究给出了两个直接证据。第一，CVPR 2026显示，GPT-5、Gemini 2.5 Pro等Judge在多模态任务上的准确率大约为66%到75%，而人类专家超过90%，说明通用Judge不能直接代表业务标准。第二，ICCV 2025表明，可以利用少量验证样本对多个Prompt进行视觉相关的加权，从而改善判断和置信度校准。这正对应本项目的后验校准、邻域共识和人工复核分流。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Multimodal RewardBench 2, CVPR 2026: https://openaccess.thecvf.com/content/CVPR2026/html/Hu_Multimodal_RewardBench_2_Evaluating_Omni_Reward_Models_for_Interleaved_Text_CVPR_2026_paper.html</a:t>
            </a:r>
          </a:p>
          <a:p xmlns:a="http://schemas.openxmlformats.org/drawingml/2006/main">
            <a:r>
              <a:t>- Calibrating MLLM-as-a-Judge via Multimodal Bayesian Prompt Ensembles, ICCV 2025: https://arxiv.org/abs/2509.08777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不是再建设一套数据平台，而是在现有规则、Prompt和VLM之上增加一层可插拔的任务自适应能力。输入新任务描述、少量专家样本和已有评估结果，输出经过校准的分数、证据、置信度和人工复核建议。建议首批优先用多图编辑和AIGC图库做闭环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带来三层价值：业务上减少重复建设和人工成本，技术上形成可校准、可验证的评估方法，长期沉淀跨项目Pipeline、验证集和失败案例库。页面中的数字是SOW目标，不是现有成绩。希望领导批准本次合作，以一到两个场景先完成闭环验证，再逐步扩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658d8c00b747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c8625b5c0f4a71" /><Relationship Type="http://schemas.openxmlformats.org/officeDocument/2006/relationships/slideLayout" Target="/ppt/slideLayouts/slideLayout1.xml" Id="R88ae95963e0942f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ae95963e0942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c68ffba1934d54" /><Relationship Type="http://schemas.openxmlformats.org/officeDocument/2006/relationships/notesSlide" Target="/ppt/notesSlides/notesSlide1.xml" Id="R658d5569bcbf40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0da1fa2e04985" /><Relationship Type="http://schemas.openxmlformats.org/officeDocument/2006/relationships/notesSlide" Target="/ppt/notesSlides/notesSlide2.xml" Id="R443fd01169c348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1892a6fc843de" /><Relationship Type="http://schemas.openxmlformats.org/officeDocument/2006/relationships/image" Target="/ppt/media/image.png" Id="R14ef856186284197" /><Relationship Type="http://schemas.openxmlformats.org/officeDocument/2006/relationships/image" Target="/ppt/media/image2.png" Id="Rfd3ef7574a624324" /><Relationship Type="http://schemas.openxmlformats.org/officeDocument/2006/relationships/notesSlide" Target="/ppt/notesSlides/notesSlide3.xml" Id="R412deed0f2a94b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22a8d27b2b4d2f" /><Relationship Type="http://schemas.openxmlformats.org/officeDocument/2006/relationships/image" Target="/ppt/media/image3.png" Id="R4d03a7e91fd1471b" /><Relationship Type="http://schemas.openxmlformats.org/officeDocument/2006/relationships/image" Target="/ppt/media/image4.png" Id="Rb3160206ee58495f" /><Relationship Type="http://schemas.openxmlformats.org/officeDocument/2006/relationships/notesSlide" Target="/ppt/notesSlides/notesSlide4.xml" Id="R90335bd5751348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9cca68d954f31" /><Relationship Type="http://schemas.openxmlformats.org/officeDocument/2006/relationships/notesSlide" Target="/ppt/notesSlides/notesSlide5.xml" Id="Rb98c8e43221e4f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e9edd61044913" /><Relationship Type="http://schemas.openxmlformats.org/officeDocument/2006/relationships/notesSlide" Target="/ppt/notesSlides/notesSlide6.xml" Id="R61c4d8e9196d41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accent-1">
            <a:extLst xmlns:a="http://schemas.openxmlformats.org/drawingml/2006/main">
              <a:ext uri="{FF2B5EF4-FFF2-40B4-BE49-F238E27FC236}">
                <a16:creationId xmlns:a16="http://schemas.microsoft.com/office/drawing/2014/main" id="{B4334C82-F743-47F3-9216-F9B13BF7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7339E3E1-42D3-4FA0-B0F5-6C78AFC0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四类图文项目对质量的要求不同，却依赖同一类底层能力</a:t>
            </a:r>
          </a:p>
        </p:txBody>
      </p:sp>
      <p:sp>
        <p:nvSpPr>
          <p:cNvPr id="3" name="page-1">
            <a:extLst xmlns:a="http://schemas.openxmlformats.org/drawingml/2006/main">
              <a:ext uri="{FF2B5EF4-FFF2-40B4-BE49-F238E27FC236}">
                <a16:creationId xmlns:a16="http://schemas.microsoft.com/office/drawing/2014/main" id="{23679C2B-046A-475D-BB9B-F4BB031E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auto-text-1">
            <a:extLst xmlns:a="http://schemas.openxmlformats.org/drawingml/2006/main">
              <a:ext uri="{FF2B5EF4-FFF2-40B4-BE49-F238E27FC236}">
                <a16:creationId xmlns:a16="http://schemas.microsoft.com/office/drawing/2014/main" id="{FDD65D3F-DA8F-4781-97E7-B05724D0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优先以多图编辑和AIGC图库为代表场景：同一张图是否“高质量”，取决于具体任务和使用目标。</a:t>
            </a:r>
          </a:p>
        </p:txBody>
      </p:sp>
      <p:sp>
        <p:nvSpPr>
          <p:cNvPr id="5" name="auto-text-2">
            <a:extLst xmlns:a="http://schemas.openxmlformats.org/drawingml/2006/main">
              <a:ext uri="{FF2B5EF4-FFF2-40B4-BE49-F238E27FC236}">
                <a16:creationId xmlns:a16="http://schemas.microsoft.com/office/drawing/2014/main" id="{BF3C2142-307E-4A38-951C-FA7110B9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多图编辑</a:t>
            </a:r>
          </a:p>
        </p:txBody>
      </p:sp>
      <p:sp>
        <p:nvSpPr>
          <p:cNvPr id="6" name="auto-text-3">
            <a:extLst xmlns:a="http://schemas.openxmlformats.org/drawingml/2006/main">
              <a:ext uri="{FF2B5EF4-FFF2-40B4-BE49-F238E27FC236}">
                <a16:creationId xmlns:a16="http://schemas.microsoft.com/office/drawing/2014/main" id="{9E8E5AF6-7249-47E8-A714-DD8EAEC2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240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AIGC图库</a:t>
            </a:r>
          </a:p>
        </p:txBody>
      </p:sp>
      <p:sp>
        <p:nvSpPr>
          <p:cNvPr id="7" name="edit-media-surface">
            <a:extLst xmlns:a="http://schemas.openxmlformats.org/drawingml/2006/main">
              <a:ext uri="{FF2B5EF4-FFF2-40B4-BE49-F238E27FC236}">
                <a16:creationId xmlns:a16="http://schemas.microsoft.com/office/drawing/2014/main" id="{49DE6159-FE89-4E0A-9AA1-D932E811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43100"/>
            <a:ext cx="54292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B9C9F4"/>
            </a:solidFill>
            <a:prstDash val="solid"/>
          </a:ln>
        </p:spPr>
      </p:sp>
      <p:sp>
        <p:nvSpPr>
          <p:cNvPr id="8" name="edit-source-frame">
            <a:extLst xmlns:a="http://schemas.openxmlformats.org/drawingml/2006/main">
              <a:ext uri="{FF2B5EF4-FFF2-40B4-BE49-F238E27FC236}">
                <a16:creationId xmlns:a16="http://schemas.microsoft.com/office/drawing/2014/main" id="{9A2EF980-8385-4180-885C-2283AB64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9" name="edit-source-label">
            <a:extLst xmlns:a="http://schemas.openxmlformats.org/drawingml/2006/main">
              <a:ext uri="{FF2B5EF4-FFF2-40B4-BE49-F238E27FC236}">
                <a16:creationId xmlns:a16="http://schemas.microsoft.com/office/drawing/2014/main" id="{2E4E62C4-F84E-4F1C-AD67-25BE0762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原图</a:t>
            </a:r>
          </a:p>
        </p:txBody>
      </p:sp>
      <p:sp>
        <p:nvSpPr>
          <p:cNvPr id="10" name="edit-source-sub">
            <a:extLst xmlns:a="http://schemas.openxmlformats.org/drawingml/2006/main">
              <a:ext uri="{FF2B5EF4-FFF2-40B4-BE49-F238E27FC236}">
                <a16:creationId xmlns:a16="http://schemas.microsoft.com/office/drawing/2014/main" id="{19B25C54-2724-4412-A579-AB728F89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1" name="edit-reference-frame">
            <a:extLst xmlns:a="http://schemas.openxmlformats.org/drawingml/2006/main">
              <a:ext uri="{FF2B5EF4-FFF2-40B4-BE49-F238E27FC236}">
                <a16:creationId xmlns:a16="http://schemas.microsoft.com/office/drawing/2014/main" id="{2C1C0771-4B5D-464A-894D-B1BA05F9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2" name="edit-reference-label">
            <a:extLst xmlns:a="http://schemas.openxmlformats.org/drawingml/2006/main">
              <a:ext uri="{FF2B5EF4-FFF2-40B4-BE49-F238E27FC236}">
                <a16:creationId xmlns:a16="http://schemas.microsoft.com/office/drawing/2014/main" id="{A2D79847-7511-42D4-BB21-C723FF2D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参考图</a:t>
            </a:r>
          </a:p>
        </p:txBody>
      </p:sp>
      <p:sp>
        <p:nvSpPr>
          <p:cNvPr id="13" name="edit-reference-sub">
            <a:extLst xmlns:a="http://schemas.openxmlformats.org/drawingml/2006/main">
              <a:ext uri="{FF2B5EF4-FFF2-40B4-BE49-F238E27FC236}">
                <a16:creationId xmlns:a16="http://schemas.microsoft.com/office/drawing/2014/main" id="{6C5B1F1A-4445-40CA-96E9-459D9E70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4" name="edit-output-frame">
            <a:extLst xmlns:a="http://schemas.openxmlformats.org/drawingml/2006/main">
              <a:ext uri="{FF2B5EF4-FFF2-40B4-BE49-F238E27FC236}">
                <a16:creationId xmlns:a16="http://schemas.microsoft.com/office/drawing/2014/main" id="{34C121CB-E55C-4A16-9653-8A946AEC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90750"/>
            <a:ext cx="1504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5" name="edit-output-label">
            <a:extLst xmlns:a="http://schemas.openxmlformats.org/drawingml/2006/main">
              <a:ext uri="{FF2B5EF4-FFF2-40B4-BE49-F238E27FC236}">
                <a16:creationId xmlns:a16="http://schemas.microsoft.com/office/drawing/2014/main" id="{FB8FBBBE-6008-424D-AD25-863193A8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编辑结果</a:t>
            </a:r>
          </a:p>
        </p:txBody>
      </p:sp>
      <p:sp>
        <p:nvSpPr>
          <p:cNvPr id="16" name="edit-output-sub">
            <a:extLst xmlns:a="http://schemas.openxmlformats.org/drawingml/2006/main">
              <a:ext uri="{FF2B5EF4-FFF2-40B4-BE49-F238E27FC236}">
                <a16:creationId xmlns:a16="http://schemas.microsoft.com/office/drawing/2014/main" id="{7FBC965A-61B6-494E-95A0-C7208C18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981325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17" name="auto-text-4">
            <a:extLst xmlns:a="http://schemas.openxmlformats.org/drawingml/2006/main">
              <a:ext uri="{FF2B5EF4-FFF2-40B4-BE49-F238E27FC236}">
                <a16:creationId xmlns:a16="http://schemas.microsoft.com/office/drawing/2014/main" id="{13871B20-9061-433B-8543-6410DF47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建议样例：换装／持物／合影／表情迁移</a:t>
            </a:r>
          </a:p>
        </p:txBody>
      </p:sp>
      <p:sp>
        <p:nvSpPr>
          <p:cNvPr id="18" name="gallery-media-surface">
            <a:extLst xmlns:a="http://schemas.openxmlformats.org/drawingml/2006/main">
              <a:ext uri="{FF2B5EF4-FFF2-40B4-BE49-F238E27FC236}">
                <a16:creationId xmlns:a16="http://schemas.microsoft.com/office/drawing/2014/main" id="{B9EEB2B6-B05D-4CD6-BC74-C655212B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43100"/>
            <a:ext cx="53149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B8DDD8"/>
            </a:solidFill>
            <a:prstDash val="solid"/>
          </a:ln>
        </p:spPr>
      </p:sp>
      <p:sp>
        <p:nvSpPr>
          <p:cNvPr id="19" name="gallery-good-frame">
            <a:extLst xmlns:a="http://schemas.openxmlformats.org/drawingml/2006/main">
              <a:ext uri="{FF2B5EF4-FFF2-40B4-BE49-F238E27FC236}">
                <a16:creationId xmlns:a16="http://schemas.microsoft.com/office/drawing/2014/main" id="{86635CDA-41A8-4F45-8BDE-6F53AFD8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22098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0" name="gallery-good-label">
            <a:extLst xmlns:a="http://schemas.openxmlformats.org/drawingml/2006/main">
              <a:ext uri="{FF2B5EF4-FFF2-40B4-BE49-F238E27FC236}">
                <a16:creationId xmlns:a16="http://schemas.microsoft.com/office/drawing/2014/main" id="{27111CE5-5D6E-4478-9A12-FE93C347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765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可入库样本</a:t>
            </a:r>
          </a:p>
        </p:txBody>
      </p:sp>
      <p:sp>
        <p:nvSpPr>
          <p:cNvPr id="21" name="gallery-good-sub">
            <a:extLst xmlns:a="http://schemas.openxmlformats.org/drawingml/2006/main">
              <a:ext uri="{FF2B5EF4-FFF2-40B4-BE49-F238E27FC236}">
                <a16:creationId xmlns:a16="http://schemas.microsoft.com/office/drawing/2014/main" id="{3F861321-C927-47E7-820E-9DC8EC97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8132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22" name="gallery-bad-frame">
            <a:extLst xmlns:a="http://schemas.openxmlformats.org/drawingml/2006/main">
              <a:ext uri="{FF2B5EF4-FFF2-40B4-BE49-F238E27FC236}">
                <a16:creationId xmlns:a16="http://schemas.microsoft.com/office/drawing/2014/main" id="{2E63FC7E-FF43-4CD4-890F-08C40839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90750"/>
            <a:ext cx="22098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3" name="gallery-bad-label">
            <a:extLst xmlns:a="http://schemas.openxmlformats.org/drawingml/2006/main">
              <a:ext uri="{FF2B5EF4-FFF2-40B4-BE49-F238E27FC236}">
                <a16:creationId xmlns:a16="http://schemas.microsoft.com/office/drawing/2014/main" id="{CEB1DC47-1068-4FA0-B7EF-C4B09015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6765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异常／低质样本</a:t>
            </a:r>
          </a:p>
        </p:txBody>
      </p:sp>
      <p:sp>
        <p:nvSpPr>
          <p:cNvPr id="24" name="gallery-bad-sub">
            <a:extLst xmlns:a="http://schemas.openxmlformats.org/drawingml/2006/main">
              <a:ext uri="{FF2B5EF4-FFF2-40B4-BE49-F238E27FC236}">
                <a16:creationId xmlns:a16="http://schemas.microsoft.com/office/drawing/2014/main" id="{9F21DCBE-17BD-4AA2-A616-FD66432F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81325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替换为内部图片</a:t>
            </a:r>
          </a:p>
        </p:txBody>
      </p:sp>
      <p:sp>
        <p:nvSpPr>
          <p:cNvPr id="25" name="auto-text-5">
            <a:extLst xmlns:a="http://schemas.openxmlformats.org/drawingml/2006/main">
              <a:ext uri="{FF2B5EF4-FFF2-40B4-BE49-F238E27FC236}">
                <a16:creationId xmlns:a16="http://schemas.microsoft.com/office/drawing/2014/main" id="{14BDFD7C-E879-4577-AF66-07D06510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909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建议样例：肢体异常／结构错误／构图或美学问题</a:t>
            </a:r>
          </a:p>
        </p:txBody>
      </p:sp>
      <p:sp>
        <p:nvSpPr>
          <p:cNvPr id="26" name="auto-text-6">
            <a:extLst xmlns:a="http://schemas.openxmlformats.org/drawingml/2006/main">
              <a:ext uri="{FF2B5EF4-FFF2-40B4-BE49-F238E27FC236}">
                <a16:creationId xmlns:a16="http://schemas.microsoft.com/office/drawing/2014/main" id="{6EFED4AA-5DFF-4111-9F9F-1D98474E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38650"/>
            <a:ext cx="523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主体与参考一致性｜编辑目标满足｜非目标区域保持｜结果自然度</a:t>
            </a:r>
          </a:p>
        </p:txBody>
      </p:sp>
      <p:sp>
        <p:nvSpPr>
          <p:cNvPr id="27" name="auto-text-7">
            <a:extLst xmlns:a="http://schemas.openxmlformats.org/drawingml/2006/main">
              <a:ext uri="{FF2B5EF4-FFF2-40B4-BE49-F238E27FC236}">
                <a16:creationId xmlns:a16="http://schemas.microsoft.com/office/drawing/2014/main" id="{B60EDF57-BF57-4EF0-9ED5-E657E358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38650"/>
            <a:ext cx="512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异常生成｜主体完整性｜图文一致性｜美学与构图｜风险内容</a:t>
            </a:r>
          </a:p>
        </p:txBody>
      </p:sp>
      <p:sp>
        <p:nvSpPr>
          <p:cNvPr id="28" name="slide1-conclusion">
            <a:extLst xmlns:a="http://schemas.openxmlformats.org/drawingml/2006/main">
              <a:ext uri="{FF2B5EF4-FFF2-40B4-BE49-F238E27FC236}">
                <a16:creationId xmlns:a16="http://schemas.microsoft.com/office/drawing/2014/main" id="{31DA8909-DB10-4074-851E-5D1A16B8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86375"/>
            <a:ext cx="11239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9" name="auto-text-8">
            <a:extLst xmlns:a="http://schemas.openxmlformats.org/drawingml/2006/main">
              <a:ext uri="{FF2B5EF4-FFF2-40B4-BE49-F238E27FC236}">
                <a16:creationId xmlns:a16="http://schemas.microsoft.com/office/drawing/2014/main" id="{EAC6BBAE-3CCA-4B1A-AC28-AE212C40C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核心判断</a:t>
            </a:r>
          </a:p>
        </p:txBody>
      </p:sp>
      <p:sp>
        <p:nvSpPr>
          <p:cNvPr id="30" name="auto-text-9">
            <a:extLst xmlns:a="http://schemas.openxmlformats.org/drawingml/2006/main">
              <a:ext uri="{FF2B5EF4-FFF2-40B4-BE49-F238E27FC236}">
                <a16:creationId xmlns:a16="http://schemas.microsoft.com/office/drawing/2014/main" id="{7ABB6DB1-4C98-4FC8-8974-BCE1B0A9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质量不是图片的固定属性，而是图片、标签与目标任务之间的匹配关系。</a:t>
            </a:r>
          </a:p>
        </p:txBody>
      </p:sp>
    </p:spTree>
    <p:extLst>
      <p:ext uri="{BB962C8B-B14F-4D97-AF65-F5344CB8AC3E}">
        <p14:creationId xmlns:p14="http://schemas.microsoft.com/office/powerpoint/2010/main" val="7524036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cent-2">
            <a:extLst xmlns:a="http://schemas.openxmlformats.org/drawingml/2006/main">
              <a:ext uri="{FF2B5EF4-FFF2-40B4-BE49-F238E27FC236}">
                <a16:creationId xmlns:a16="http://schemas.microsoft.com/office/drawing/2014/main" id="{192C953A-46B6-4630-B83F-5F7C1852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6A224D38-7A47-4039-AC67-7635FF4C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按项目临时搭建质检管线，导致方法、成本和经验反复重置</a:t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5E29F1EB-F93E-4E70-BA44-348E29C4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auto-text-10">
            <a:extLst xmlns:a="http://schemas.openxmlformats.org/drawingml/2006/main">
              <a:ext uri="{FF2B5EF4-FFF2-40B4-BE49-F238E27FC236}">
                <a16:creationId xmlns:a16="http://schemas.microsoft.com/office/drawing/2014/main" id="{5A16B9B3-3DEA-44CE-9438-D95445BC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当前路径</a:t>
            </a:r>
          </a:p>
        </p:txBody>
      </p:sp>
      <p:sp>
        <p:nvSpPr>
          <p:cNvPr id="5" name="step-dot-0">
            <a:extLst xmlns:a="http://schemas.openxmlformats.org/drawingml/2006/main">
              <a:ext uri="{FF2B5EF4-FFF2-40B4-BE49-F238E27FC236}">
                <a16:creationId xmlns:a16="http://schemas.microsoft.com/office/drawing/2014/main" id="{5B024735-11E3-40FC-9367-A57EB472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049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6" name="step-line-0">
            <a:extLst xmlns:a="http://schemas.openxmlformats.org/drawingml/2006/main">
              <a:ext uri="{FF2B5EF4-FFF2-40B4-BE49-F238E27FC236}">
                <a16:creationId xmlns:a16="http://schemas.microsoft.com/office/drawing/2014/main" id="{2BB711BB-1D64-4E7D-9C99-693AA824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0500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7" name="step-text-0">
            <a:extLst xmlns:a="http://schemas.openxmlformats.org/drawingml/2006/main">
              <a:ext uri="{FF2B5EF4-FFF2-40B4-BE49-F238E27FC236}">
                <a16:creationId xmlns:a16="http://schemas.microsoft.com/office/drawing/2014/main" id="{ACDA41F3-40DD-46C7-9A2F-D050978C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讨论质量标准</a:t>
            </a:r>
          </a:p>
        </p:txBody>
      </p:sp>
      <p:sp>
        <p:nvSpPr>
          <p:cNvPr id="8" name="step-dot-1">
            <a:extLst xmlns:a="http://schemas.openxmlformats.org/drawingml/2006/main">
              <a:ext uri="{FF2B5EF4-FFF2-40B4-BE49-F238E27FC236}">
                <a16:creationId xmlns:a16="http://schemas.microsoft.com/office/drawing/2014/main" id="{5CCA2F8C-321B-482F-8E1E-50B0C2FD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574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9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C8A0800-7D18-413F-BFF8-C3944F57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0" name="step-text-1">
            <a:extLst xmlns:a="http://schemas.openxmlformats.org/drawingml/2006/main">
              <a:ext uri="{FF2B5EF4-FFF2-40B4-BE49-F238E27FC236}">
                <a16:creationId xmlns:a16="http://schemas.microsoft.com/office/drawing/2014/main" id="{F6D9FC9D-F32A-4A14-B29B-EC270FCE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编写规则／Prompt</a:t>
            </a:r>
          </a:p>
        </p:txBody>
      </p:sp>
      <p:sp>
        <p:nvSpPr>
          <p:cNvPr id="11" name="step-dot-2">
            <a:extLst xmlns:a="http://schemas.openxmlformats.org/drawingml/2006/main">
              <a:ext uri="{FF2B5EF4-FFF2-40B4-BE49-F238E27FC236}">
                <a16:creationId xmlns:a16="http://schemas.microsoft.com/office/drawing/2014/main" id="{FC54C369-FA3B-48A8-8FD5-95BE7AD6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98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2" name="step-line-2">
            <a:extLst xmlns:a="http://schemas.openxmlformats.org/drawingml/2006/main">
              <a:ext uri="{FF2B5EF4-FFF2-40B4-BE49-F238E27FC236}">
                <a16:creationId xmlns:a16="http://schemas.microsoft.com/office/drawing/2014/main" id="{719A0391-5B56-4A1A-BE4D-5CB0BE98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3" name="step-text-2">
            <a:extLst xmlns:a="http://schemas.openxmlformats.org/drawingml/2006/main">
              <a:ext uri="{FF2B5EF4-FFF2-40B4-BE49-F238E27FC236}">
                <a16:creationId xmlns:a16="http://schemas.microsoft.com/office/drawing/2014/main" id="{DCB6C023-F896-430D-A289-BCC27566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人工抽检与调参</a:t>
            </a:r>
          </a:p>
        </p:txBody>
      </p:sp>
      <p:sp>
        <p:nvSpPr>
          <p:cNvPr id="14" name="step-dot-3">
            <a:extLst xmlns:a="http://schemas.openxmlformats.org/drawingml/2006/main">
              <a:ext uri="{FF2B5EF4-FFF2-40B4-BE49-F238E27FC236}">
                <a16:creationId xmlns:a16="http://schemas.microsoft.com/office/drawing/2014/main" id="{AC63ACFB-C88B-43CF-92B6-A64213D8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15" name="step-line-3">
            <a:extLst xmlns:a="http://schemas.openxmlformats.org/drawingml/2006/main">
              <a:ext uri="{FF2B5EF4-FFF2-40B4-BE49-F238E27FC236}">
                <a16:creationId xmlns:a16="http://schemas.microsoft.com/office/drawing/2014/main" id="{3BFEAF2F-8CEF-4430-810B-F16F618C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D5F8"/>
          </a:solidFill>
          <a:ln xmlns:a="http://schemas.openxmlformats.org/drawingml/2006/main" w="9525">
            <a:solidFill>
              <a:srgbClr val="C7D5F8"/>
            </a:solidFill>
            <a:prstDash val="solid"/>
          </a:ln>
        </p:spPr>
      </p:sp>
      <p:sp>
        <p:nvSpPr>
          <p:cNvPr id="16" name="step-text-3">
            <a:extLst xmlns:a="http://schemas.openxmlformats.org/drawingml/2006/main">
              <a:ext uri="{FF2B5EF4-FFF2-40B4-BE49-F238E27FC236}">
                <a16:creationId xmlns:a16="http://schemas.microsoft.com/office/drawing/2014/main" id="{C8E66C43-FE58-424A-A492-D4350F23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临时搭建管线</a:t>
            </a:r>
          </a:p>
        </p:txBody>
      </p:sp>
      <p:sp>
        <p:nvSpPr>
          <p:cNvPr id="17" name="step-dot-4">
            <a:extLst xmlns:a="http://schemas.openxmlformats.org/drawingml/2006/main">
              <a:ext uri="{FF2B5EF4-FFF2-40B4-BE49-F238E27FC236}">
                <a16:creationId xmlns:a16="http://schemas.microsoft.com/office/drawing/2014/main" id="{170042F4-CB50-45A1-8226-B0E0462A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5C55"/>
          </a:solidFill>
          <a:ln xmlns:a="http://schemas.openxmlformats.org/drawingml/2006/main" w="9525">
            <a:solidFill>
              <a:srgbClr val="E65C55"/>
            </a:solidFill>
            <a:prstDash val="solid"/>
          </a:ln>
        </p:spPr>
      </p:sp>
      <p:sp>
        <p:nvSpPr>
          <p:cNvPr id="18" name="step-text-4">
            <a:extLst xmlns:a="http://schemas.openxmlformats.org/drawingml/2006/main">
              <a:ext uri="{FF2B5EF4-FFF2-40B4-BE49-F238E27FC236}">
                <a16:creationId xmlns:a16="http://schemas.microsoft.com/office/drawing/2014/main" id="{8E3B0AC7-9B86-41D1-8F46-167F7F23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任务变化后重做</a:t>
            </a:r>
          </a:p>
        </p:txBody>
      </p:sp>
      <p:sp>
        <p:nvSpPr>
          <p:cNvPr id="19" name="pain-summary">
            <a:extLst xmlns:a="http://schemas.openxmlformats.org/drawingml/2006/main">
              <a:ext uri="{FF2B5EF4-FFF2-40B4-BE49-F238E27FC236}">
                <a16:creationId xmlns:a16="http://schemas.microsoft.com/office/drawing/2014/main" id="{A9AFF6D3-05C9-44CB-A6EF-0BC7DE19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91050"/>
            <a:ext cx="4476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0" name="auto-text-11">
            <a:extLst xmlns:a="http://schemas.openxmlformats.org/drawingml/2006/main">
              <a:ext uri="{FF2B5EF4-FFF2-40B4-BE49-F238E27FC236}">
                <a16:creationId xmlns:a16="http://schemas.microsoft.com/office/drawing/2014/main" id="{FFB49076-ECC3-4E30-9640-C89C01BD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共性痛点</a:t>
            </a:r>
          </a:p>
        </p:txBody>
      </p:sp>
      <p:sp>
        <p:nvSpPr>
          <p:cNvPr id="21" name="auto-text-12">
            <a:extLst xmlns:a="http://schemas.openxmlformats.org/drawingml/2006/main">
              <a:ext uri="{FF2B5EF4-FFF2-40B4-BE49-F238E27FC236}">
                <a16:creationId xmlns:a16="http://schemas.microsoft.com/office/drawing/2014/main" id="{3087735C-C5BD-4FBD-A1F6-8939E973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标准需要什么加什么，维度不全面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Prompt效果依赖个人经验，难以对照实验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标注、筛选和复查成本高</a:t>
            </a:r>
          </a:p>
          <a:p xmlns:a="http://schemas.openxmlformats.org/drawingml/2006/main">
            <a:pPr algn="l">
              <a:def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• Pipeline难复用，任务变化后修改成本高</a:t>
            </a:r>
          </a:p>
        </p:txBody>
      </p:sp>
      <p:sp>
        <p:nvSpPr>
          <p:cNvPr id="22" name="auto-text-13">
            <a:extLst xmlns:a="http://schemas.openxmlformats.org/drawingml/2006/main">
              <a:ext uri="{FF2B5EF4-FFF2-40B4-BE49-F238E27FC236}">
                <a16:creationId xmlns:a16="http://schemas.microsoft.com/office/drawing/2014/main" id="{73125CB9-9401-4F66-A4D0-B626BA10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200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内部证据占位</a:t>
            </a:r>
          </a:p>
        </p:txBody>
      </p:sp>
      <p:sp>
        <p:nvSpPr>
          <p:cNvPr id="23" name="prompt-shot-frame">
            <a:extLst xmlns:a="http://schemas.openxmlformats.org/drawingml/2006/main">
              <a:ext uri="{FF2B5EF4-FFF2-40B4-BE49-F238E27FC236}">
                <a16:creationId xmlns:a16="http://schemas.microsoft.com/office/drawing/2014/main" id="{7AF36877-7C2F-4281-A41F-6096AFB4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19250"/>
            <a:ext cx="61912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4" name="prompt-shot-label">
            <a:extLst xmlns:a="http://schemas.openxmlformats.org/drawingml/2006/main">
              <a:ext uri="{FF2B5EF4-FFF2-40B4-BE49-F238E27FC236}">
                <a16:creationId xmlns:a16="http://schemas.microsoft.com/office/drawing/2014/main" id="{F5BD87F2-E125-4EDF-874E-C3D6639E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14575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当前质检Prompt截图</a:t>
            </a:r>
          </a:p>
        </p:txBody>
      </p:sp>
      <p:sp>
        <p:nvSpPr>
          <p:cNvPr id="25" name="prompt-shot-sub">
            <a:extLst xmlns:a="http://schemas.openxmlformats.org/drawingml/2006/main">
              <a:ext uri="{FF2B5EF4-FFF2-40B4-BE49-F238E27FC236}">
                <a16:creationId xmlns:a16="http://schemas.microsoft.com/office/drawing/2014/main" id="{32EDF13D-C700-4B68-A305-55CEDB1D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19375"/>
            <a:ext cx="588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建议包含：质量维度、评分规则、输出格式</a:t>
            </a:r>
          </a:p>
        </p:txBody>
      </p:sp>
      <p:sp>
        <p:nvSpPr>
          <p:cNvPr id="26" name="misjudge-case-frame">
            <a:extLst xmlns:a="http://schemas.openxmlformats.org/drawingml/2006/main">
              <a:ext uri="{FF2B5EF4-FFF2-40B4-BE49-F238E27FC236}">
                <a16:creationId xmlns:a16="http://schemas.microsoft.com/office/drawing/2014/main" id="{4C086BF8-6A97-477D-B948-C021E7F6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714750"/>
            <a:ext cx="61912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27" name="misjudge-case-label">
            <a:extLst xmlns:a="http://schemas.openxmlformats.org/drawingml/2006/main">
              <a:ext uri="{FF2B5EF4-FFF2-40B4-BE49-F238E27FC236}">
                <a16:creationId xmlns:a16="http://schemas.microsoft.com/office/drawing/2014/main" id="{A8E735DE-74FE-4365-89CB-27D4508E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10075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VLM误判／人工分歧案例</a:t>
            </a:r>
          </a:p>
        </p:txBody>
      </p:sp>
      <p:sp>
        <p:nvSpPr>
          <p:cNvPr id="28" name="misjudge-case-sub">
            <a:extLst xmlns:a="http://schemas.openxmlformats.org/drawingml/2006/main">
              <a:ext uri="{FF2B5EF4-FFF2-40B4-BE49-F238E27FC236}">
                <a16:creationId xmlns:a16="http://schemas.microsoft.com/office/drawing/2014/main" id="{7260AE7A-283D-4536-B58F-6725F8B6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714875"/>
            <a:ext cx="588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建议包含：输入图片、VLM结论、人工结论、分歧原因</a:t>
            </a:r>
          </a:p>
        </p:txBody>
      </p:sp>
      <p:sp>
        <p:nvSpPr>
          <p:cNvPr id="29" name="auto-text-14">
            <a:extLst xmlns:a="http://schemas.openxmlformats.org/drawingml/2006/main">
              <a:ext uri="{FF2B5EF4-FFF2-40B4-BE49-F238E27FC236}">
                <a16:creationId xmlns:a16="http://schemas.microsoft.com/office/drawing/2014/main" id="{75BF2FB8-13A7-401E-8ADB-73B34F00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7340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现状本质：我们并非没有质检能力，而是能力分散在个人经验、Prompt和临时脚本中，尚未形成可复用的方法资产。</a:t>
            </a:r>
          </a:p>
        </p:txBody>
      </p:sp>
    </p:spTree>
    <p:extLst>
      <p:ext uri="{BB962C8B-B14F-4D97-AF65-F5344CB8AC3E}">
        <p14:creationId xmlns:p14="http://schemas.microsoft.com/office/powerpoint/2010/main" val="20494496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3">
            <a:extLst xmlns:a="http://schemas.openxmlformats.org/drawingml/2006/main">
              <a:ext uri="{FF2B5EF4-FFF2-40B4-BE49-F238E27FC236}">
                <a16:creationId xmlns:a16="http://schemas.microsoft.com/office/drawing/2014/main" id="{F09200BB-5FE7-446B-BF2E-A99DEB8D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FE7569BD-474C-4F11-866C-BB127756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VLM Judge正在成为图像数据筛选和模型训练的关键能力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6C04D440-BBBE-4191-80B9-9E128808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auto-text-15">
            <a:extLst xmlns:a="http://schemas.openxmlformats.org/drawingml/2006/main">
              <a:ext uri="{FF2B5EF4-FFF2-40B4-BE49-F238E27FC236}">
                <a16:creationId xmlns:a16="http://schemas.microsoft.com/office/drawing/2014/main" id="{CBAEC919-71E1-463D-851F-1AFEDBB0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2025–2026年的研究重点已从“能否评价图像”，转向多维标准、细粒度任务和评价结果进入训练闭环。</a:t>
            </a:r>
          </a:p>
        </p:txBody>
      </p:sp>
      <p:sp>
        <p:nvSpPr>
          <p:cNvPr id="5" name="mjbench-dimensions-back">
            <a:extLst xmlns:a="http://schemas.openxmlformats.org/drawingml/2006/main">
              <a:ext uri="{FF2B5EF4-FFF2-40B4-BE49-F238E27FC236}">
                <a16:creationId xmlns:a16="http://schemas.microsoft.com/office/drawing/2014/main" id="{EC80C6FC-362D-4CDC-B610-F70B1040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53721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ef856186284197"/>
          <a:stretch xmlns:a="http://schemas.openxmlformats.org/drawingml/2006/main"/>
        </p:blipFill>
        <p:spPr>
          <a:xfrm xmlns:a="http://schemas.openxmlformats.org/drawingml/2006/main">
            <a:off x="931746" y="1524000"/>
            <a:ext cx="4499207" cy="3333750"/>
          </a:xfrm>
          <a:prstGeom xmlns:a="http://schemas.openxmlformats.org/drawingml/2006/main" prst="roundRect">
            <a:avLst>
              <a:gd name="adj" fmla="val 2286"/>
            </a:avLst>
          </a:prstGeom>
        </p:spPr>
      </p:pic>
      <p:sp>
        <p:nvSpPr>
          <p:cNvPr id="7" name="mmrb2-tasks-back">
            <a:extLst xmlns:a="http://schemas.openxmlformats.org/drawingml/2006/main">
              <a:ext uri="{FF2B5EF4-FFF2-40B4-BE49-F238E27FC236}">
                <a16:creationId xmlns:a16="http://schemas.microsoft.com/office/drawing/2014/main" id="{168E96B0-6CD2-476B-974B-0431146D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53721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ef7574a624324"/>
          <a:stretch xmlns:a="http://schemas.openxmlformats.org/drawingml/2006/main"/>
        </p:blipFill>
        <p:spPr>
          <a:xfrm xmlns:a="http://schemas.openxmlformats.org/drawingml/2006/main">
            <a:off x="6685429" y="1524000"/>
            <a:ext cx="4650441" cy="3333750"/>
          </a:xfrm>
          <a:prstGeom xmlns:a="http://schemas.openxmlformats.org/drawingml/2006/main" prst="roundRect">
            <a:avLst>
              <a:gd name="adj" fmla="val 2286"/>
            </a:avLst>
          </a:prstGeom>
        </p:spPr>
      </p:pic>
      <p:sp>
        <p:nvSpPr>
          <p:cNvPr id="9" name="auto-text-16">
            <a:extLst xmlns:a="http://schemas.openxmlformats.org/drawingml/2006/main">
              <a:ext uri="{FF2B5EF4-FFF2-40B4-BE49-F238E27FC236}">
                <a16:creationId xmlns:a16="http://schemas.microsoft.com/office/drawing/2014/main" id="{29A6AFCB-DCA6-468E-98A5-D4CA2C3B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图像评价已从单一质量分数扩展到一致性、安全、质量、偏差、构图等多个维度。</a:t>
            </a:r>
          </a:p>
        </p:txBody>
      </p:sp>
      <p:sp>
        <p:nvSpPr>
          <p:cNvPr id="10" name="auto-text-17">
            <a:extLst xmlns:a="http://schemas.openxmlformats.org/drawingml/2006/main">
              <a:ext uri="{FF2B5EF4-FFF2-40B4-BE49-F238E27FC236}">
                <a16:creationId xmlns:a16="http://schemas.microsoft.com/office/drawing/2014/main" id="{1C3DE863-2B26-4250-80D8-F638137A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4825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Judge开始覆盖文本生图、图像编辑、图文交错生成和视觉推理，并与人类偏好共同构成训练反馈。</a:t>
            </a:r>
          </a:p>
        </p:txBody>
      </p:sp>
      <p:sp>
        <p:nvSpPr>
          <p:cNvPr id="11" name="trend-conclusion">
            <a:extLst xmlns:a="http://schemas.openxmlformats.org/drawingml/2006/main">
              <a:ext uri="{FF2B5EF4-FFF2-40B4-BE49-F238E27FC236}">
                <a16:creationId xmlns:a16="http://schemas.microsoft.com/office/drawing/2014/main" id="{7FAF6697-AEA4-4B2E-A75D-5C84617C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163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12" name="auto-text-18">
            <a:extLst xmlns:a="http://schemas.openxmlformats.org/drawingml/2006/main">
              <a:ext uri="{FF2B5EF4-FFF2-40B4-BE49-F238E27FC236}">
                <a16:creationId xmlns:a16="http://schemas.microsoft.com/office/drawing/2014/main" id="{242BEBB1-E218-44EB-A871-607EFF15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74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共同趋势：任务化Rubric → VLM自动评估 → 人工校验 → 数据筛选与训练回流</a:t>
            </a:r>
          </a:p>
        </p:txBody>
      </p:sp>
      <p:sp>
        <p:nvSpPr>
          <p:cNvPr id="13" name="source-650-0.8152843049171624">
            <a:extLst xmlns:a="http://schemas.openxmlformats.org/drawingml/2006/main">
              <a:ext uri="{FF2B5EF4-FFF2-40B4-BE49-F238E27FC236}">
                <a16:creationId xmlns:a16="http://schemas.microsoft.com/office/drawing/2014/main" id="{6E8ECD40-0072-4BC8-B6E4-95532C49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912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defRPr>
            </a:pPr>
            <a:r>
              <a: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rPr>
              <a:t>图源：MJ-Bench（NeurIPS 2025）；Multimodal RewardBench 2（CVPR 2026）</a:t>
            </a:r>
          </a:p>
        </p:txBody>
      </p:sp>
    </p:spTree>
    <p:extLst>
      <p:ext uri="{BB962C8B-B14F-4D97-AF65-F5344CB8AC3E}">
        <p14:creationId xmlns:p14="http://schemas.microsoft.com/office/powerpoint/2010/main" val="7183336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cent-4">
            <a:extLst xmlns:a="http://schemas.openxmlformats.org/drawingml/2006/main">
              <a:ext uri="{FF2B5EF4-FFF2-40B4-BE49-F238E27FC236}">
                <a16:creationId xmlns:a16="http://schemas.microsoft.com/office/drawing/2014/main" id="{92DA0F88-F989-471C-8127-AE9387AA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7E8E797-D5F6-43B1-A392-9FB4B533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VLM能够规模化评价图像，但仍需校准、共识与证据核验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2E2FC8D9-6FFA-4501-81E2-477FF29D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stat-left">
            <a:extLst xmlns:a="http://schemas.openxmlformats.org/drawingml/2006/main">
              <a:ext uri="{FF2B5EF4-FFF2-40B4-BE49-F238E27FC236}">
                <a16:creationId xmlns:a16="http://schemas.microsoft.com/office/drawing/2014/main" id="{8335ABFD-79BF-460B-83F9-0BDD6862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5334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CEB"/>
          </a:solidFill>
          <a:ln xmlns:a="http://schemas.openxmlformats.org/drawingml/2006/main" w="9525">
            <a:solidFill>
              <a:srgbClr val="FCECEB"/>
            </a:solidFill>
            <a:prstDash val="solid"/>
          </a:ln>
        </p:spPr>
      </p:sp>
      <p:sp>
        <p:nvSpPr>
          <p:cNvPr id="5" name="auto-text-19">
            <a:extLst xmlns:a="http://schemas.openxmlformats.org/drawingml/2006/main">
              <a:ext uri="{FF2B5EF4-FFF2-40B4-BE49-F238E27FC236}">
                <a16:creationId xmlns:a16="http://schemas.microsoft.com/office/drawing/2014/main" id="{0E1EB20A-B8F4-4BF6-A75C-587011F3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E65C55"/>
                </a:solidFill>
                <a:latin typeface="Microsoft YaHei"/>
                <a:ea typeface="Microsoft YaHei"/>
                <a:cs typeface="Microsoft YaHei"/>
              </a:rPr>
              <a:t>66–75%</a:t>
            </a:r>
          </a:p>
        </p:txBody>
      </p:sp>
      <p:sp>
        <p:nvSpPr>
          <p:cNvPr id="6" name="auto-text-20">
            <a:extLst xmlns:a="http://schemas.openxmlformats.org/drawingml/2006/main">
              <a:ext uri="{FF2B5EF4-FFF2-40B4-BE49-F238E27FC236}">
                <a16:creationId xmlns:a16="http://schemas.microsoft.com/office/drawing/2014/main" id="{08070F58-AA55-4A56-853C-7D63F942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287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头部多模态Judge准确率</a:t>
            </a:r>
          </a:p>
        </p:txBody>
      </p:sp>
      <p:sp>
        <p:nvSpPr>
          <p:cNvPr id="7" name="auto-text-21">
            <a:extLst xmlns:a="http://schemas.openxmlformats.org/drawingml/2006/main">
              <a:ext uri="{FF2B5EF4-FFF2-40B4-BE49-F238E27FC236}">
                <a16:creationId xmlns:a16="http://schemas.microsoft.com/office/drawing/2014/main" id="{47917BBF-2AD4-413E-A96B-DC8C4BC3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对比：人类专家 &gt;90%</a:t>
            </a:r>
          </a:p>
        </p:txBody>
      </p:sp>
      <p:sp>
        <p:nvSpPr>
          <p:cNvPr id="8" name="stat-right">
            <a:extLst xmlns:a="http://schemas.openxmlformats.org/drawingml/2006/main">
              <a:ext uri="{FF2B5EF4-FFF2-40B4-BE49-F238E27FC236}">
                <a16:creationId xmlns:a16="http://schemas.microsoft.com/office/drawing/2014/main" id="{E7CE5ACF-D736-4314-8E29-D0A6F0F8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200150"/>
            <a:ext cx="5334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9" name="auto-text-22">
            <a:extLst xmlns:a="http://schemas.openxmlformats.org/drawingml/2006/main">
              <a:ext uri="{FF2B5EF4-FFF2-40B4-BE49-F238E27FC236}">
                <a16:creationId xmlns:a16="http://schemas.microsoft.com/office/drawing/2014/main" id="{4D410FEF-61E4-46CA-936F-FDB401EB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62075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少量验证样本</a:t>
            </a:r>
          </a:p>
        </p:txBody>
      </p:sp>
      <p:sp>
        <p:nvSpPr>
          <p:cNvPr id="10" name="auto-text-23">
            <a:extLst xmlns:a="http://schemas.openxmlformats.org/drawingml/2006/main">
              <a:ext uri="{FF2B5EF4-FFF2-40B4-BE49-F238E27FC236}">
                <a16:creationId xmlns:a16="http://schemas.microsoft.com/office/drawing/2014/main" id="{1091A3FD-5214-44DD-859E-D9DF3C2D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6207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即可学习不同Prompt／视觉类型的权重，并改善置信度校准</a:t>
            </a:r>
          </a:p>
        </p:txBody>
      </p:sp>
      <p:sp>
        <p:nvSpPr>
          <p:cNvPr id="11" name="mmrb2-results-back">
            <a:extLst xmlns:a="http://schemas.openxmlformats.org/drawingml/2006/main">
              <a:ext uri="{FF2B5EF4-FFF2-40B4-BE49-F238E27FC236}">
                <a16:creationId xmlns:a16="http://schemas.microsoft.com/office/drawing/2014/main" id="{B714977B-5DA2-424D-8686-3E41240D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53721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3a7e91fd1471b"/>
          <a:stretch xmlns:a="http://schemas.openxmlformats.org/drawingml/2006/main"/>
        </p:blipFill>
        <p:spPr>
          <a:xfrm xmlns:a="http://schemas.openxmlformats.org/drawingml/2006/main">
            <a:off x="627135" y="2419350"/>
            <a:ext cx="5108431" cy="2628900"/>
          </a:xfrm>
          <a:prstGeom xmlns:a="http://schemas.openxmlformats.org/drawingml/2006/main" prst="roundRect">
            <a:avLst>
              <a:gd name="adj" fmla="val 2899"/>
            </a:avLst>
          </a:prstGeom>
        </p:spPr>
      </p:pic>
      <p:sp>
        <p:nvSpPr>
          <p:cNvPr id="13" name="calibration-curves-back">
            <a:extLst xmlns:a="http://schemas.openxmlformats.org/drawingml/2006/main">
              <a:ext uri="{FF2B5EF4-FFF2-40B4-BE49-F238E27FC236}">
                <a16:creationId xmlns:a16="http://schemas.microsoft.com/office/drawing/2014/main" id="{8A9762E1-84DC-4DDE-A988-BC91290A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00300"/>
            <a:ext cx="53721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60206ee58495f"/>
          <a:stretch xmlns:a="http://schemas.openxmlformats.org/drawingml/2006/main"/>
        </p:blipFill>
        <p:spPr>
          <a:xfrm xmlns:a="http://schemas.openxmlformats.org/drawingml/2006/main">
            <a:off x="6343650" y="2514600"/>
            <a:ext cx="5334000" cy="2438400"/>
          </a:xfrm>
          <a:prstGeom xmlns:a="http://schemas.openxmlformats.org/drawingml/2006/main" prst="roundRect">
            <a:avLst>
              <a:gd name="adj" fmla="val 2899"/>
            </a:avLst>
          </a:prstGeom>
        </p:spPr>
      </p:pic>
      <p:sp>
        <p:nvSpPr>
          <p:cNvPr id="15" name="auto-text-24">
            <a:extLst xmlns:a="http://schemas.openxmlformats.org/drawingml/2006/main">
              <a:ext uri="{FF2B5EF4-FFF2-40B4-BE49-F238E27FC236}">
                <a16:creationId xmlns:a16="http://schemas.microsoft.com/office/drawing/2014/main" id="{7C2FEA69-86FD-4594-9E38-21667B8E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结论一｜通用Judge与专家偏好仍有明显差距，且不同任务表现差异较大。</a:t>
            </a:r>
          </a:p>
        </p:txBody>
      </p:sp>
      <p:sp>
        <p:nvSpPr>
          <p:cNvPr id="16" name="auto-text-25">
            <a:extLst xmlns:a="http://schemas.openxmlformats.org/drawingml/2006/main">
              <a:ext uri="{FF2B5EF4-FFF2-40B4-BE49-F238E27FC236}">
                <a16:creationId xmlns:a16="http://schemas.microsoft.com/office/drawing/2014/main" id="{471313CC-06DE-444E-87D0-C4DCB118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9700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结论二｜视觉任务需要专门校准；低置信和分歧样本应转入证据核验或人工复核。</a:t>
            </a:r>
          </a:p>
        </p:txBody>
      </p:sp>
      <p:sp>
        <p:nvSpPr>
          <p:cNvPr id="17" name="gap-conclusion">
            <a:extLst xmlns:a="http://schemas.openxmlformats.org/drawingml/2006/main">
              <a:ext uri="{FF2B5EF4-FFF2-40B4-BE49-F238E27FC236}">
                <a16:creationId xmlns:a16="http://schemas.microsoft.com/office/drawing/2014/main" id="{87E57065-AF49-4459-B867-93066304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53100"/>
            <a:ext cx="111633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8" name="auto-text-26">
            <a:extLst xmlns:a="http://schemas.openxmlformats.org/drawingml/2006/main">
              <a:ext uri="{FF2B5EF4-FFF2-40B4-BE49-F238E27FC236}">
                <a16:creationId xmlns:a16="http://schemas.microsoft.com/office/drawing/2014/main" id="{7E99A7D1-9C62-4F1C-8886-646D6FE8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38825"/>
            <a:ext cx="1078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真正需要建设的不是“能打分的模型”，而是“能根据任务校准、识别分歧并给出证据的评估机制”。</a:t>
            </a:r>
          </a:p>
        </p:txBody>
      </p:sp>
      <p:sp>
        <p:nvSpPr>
          <p:cNvPr id="19" name="source-650-0.02424874232370411">
            <a:extLst xmlns:a="http://schemas.openxmlformats.org/drawingml/2006/main">
              <a:ext uri="{FF2B5EF4-FFF2-40B4-BE49-F238E27FC236}">
                <a16:creationId xmlns:a16="http://schemas.microsoft.com/office/drawing/2014/main" id="{97796EAC-3EC2-4411-A9E4-85FCC669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91250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defRPr>
            </a:pPr>
            <a:r>
              <a:rPr sz="825" b="0" i="1">
                <a:solidFill>
                  <a:srgbClr val="7B8794"/>
                </a:solidFill>
                <a:latin typeface="Cambria"/>
                <a:ea typeface="Cambria"/>
                <a:cs typeface="Cambria"/>
              </a:rPr>
              <a:t>数据与图源：Multimodal RewardBench 2（CVPR 2026）；Calibrating MLLM-as-a-Judge（ICCV 2025）</a:t>
            </a:r>
          </a:p>
        </p:txBody>
      </p:sp>
    </p:spTree>
    <p:extLst>
      <p:ext uri="{BB962C8B-B14F-4D97-AF65-F5344CB8AC3E}">
        <p14:creationId xmlns:p14="http://schemas.microsoft.com/office/powerpoint/2010/main" val="19387070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cent-5">
            <a:extLst xmlns:a="http://schemas.openxmlformats.org/drawingml/2006/main">
              <a:ext uri="{FF2B5EF4-FFF2-40B4-BE49-F238E27FC236}">
                <a16:creationId xmlns:a16="http://schemas.microsoft.com/office/drawing/2014/main" id="{C776D50B-3B40-47FF-AC56-5DFE3E25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E0F18D58-5EE5-4D08-86F0-016FE439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项目将在现有质检能力之上增加可复用的任务自适应评估层</a:t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8EE7AA8A-B161-4DCC-89AD-1497CE59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auto-text-27">
            <a:extLst xmlns:a="http://schemas.openxmlformats.org/drawingml/2006/main">
              <a:ext uri="{FF2B5EF4-FFF2-40B4-BE49-F238E27FC236}">
                <a16:creationId xmlns:a16="http://schemas.microsoft.com/office/drawing/2014/main" id="{C9E9F3D6-8656-425A-BD09-031C2890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不重建生产平台，而是利用少量专家样本，对已有规则、Prompt和VLM Judge进行后验校准。</a:t>
            </a:r>
          </a:p>
        </p:txBody>
      </p:sp>
      <p:sp>
        <p:nvSpPr>
          <p:cNvPr id="5" name="input-node">
            <a:extLst xmlns:a="http://schemas.openxmlformats.org/drawingml/2006/main">
              <a:ext uri="{FF2B5EF4-FFF2-40B4-BE49-F238E27FC236}">
                <a16:creationId xmlns:a16="http://schemas.microsoft.com/office/drawing/2014/main" id="{7E10894C-E893-4B64-A589-F780CDC8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952750" cy="327660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" name="auto-text-28">
            <a:extLst xmlns:a="http://schemas.openxmlformats.org/drawingml/2006/main">
              <a:ext uri="{FF2B5EF4-FFF2-40B4-BE49-F238E27FC236}">
                <a16:creationId xmlns:a16="http://schemas.microsoft.com/office/drawing/2014/main" id="{6254A7A0-ECDD-4489-9F48-A77387D8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7" name="auto-text-29">
            <a:extLst xmlns:a="http://schemas.openxmlformats.org/drawingml/2006/main">
              <a:ext uri="{FF2B5EF4-FFF2-40B4-BE49-F238E27FC236}">
                <a16:creationId xmlns:a16="http://schemas.microsoft.com/office/drawing/2014/main" id="{5C9F9DC9-538E-407A-ABC4-085A5C1D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任务描述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少量人工标注／专家偏好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已有规则、Prompt和评估器输出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业务关注的质量维度</a:t>
            </a:r>
          </a:p>
        </p:txBody>
      </p:sp>
      <p:sp>
        <p:nvSpPr>
          <p:cNvPr id="8" name="auto-text-30">
            <a:extLst xmlns:a="http://schemas.openxmlformats.org/drawingml/2006/main">
              <a:ext uri="{FF2B5EF4-FFF2-40B4-BE49-F238E27FC236}">
                <a16:creationId xmlns:a16="http://schemas.microsoft.com/office/drawing/2014/main" id="{4E0AADB7-1FED-43D5-BAA9-8825A762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718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9BB3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9BB3E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calibration-node">
            <a:extLst xmlns:a="http://schemas.openxmlformats.org/drawingml/2006/main">
              <a:ext uri="{FF2B5EF4-FFF2-40B4-BE49-F238E27FC236}">
                <a16:creationId xmlns:a16="http://schemas.microsoft.com/office/drawing/2014/main" id="{B58ACA64-4398-468D-A0B2-5E7A6FD2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810000" cy="3657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B7C8F5"/>
            </a:solidFill>
            <a:prstDash val="solid"/>
          </a:ln>
        </p:spPr>
      </p:sp>
      <p:sp>
        <p:nvSpPr>
          <p:cNvPr id="10" name="auto-text-31">
            <a:extLst xmlns:a="http://schemas.openxmlformats.org/drawingml/2006/main">
              <a:ext uri="{FF2B5EF4-FFF2-40B4-BE49-F238E27FC236}">
                <a16:creationId xmlns:a16="http://schemas.microsoft.com/office/drawing/2014/main" id="{F05B3145-CF58-4F69-8674-103B8F07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21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任务自适应质量评估层</a:t>
            </a:r>
          </a:p>
        </p:txBody>
      </p:sp>
      <p:sp>
        <p:nvSpPr>
          <p:cNvPr id="11" name="auto-text-32">
            <a:extLst xmlns:a="http://schemas.openxmlformats.org/drawingml/2006/main">
              <a:ext uri="{FF2B5EF4-FFF2-40B4-BE49-F238E27FC236}">
                <a16:creationId xmlns:a16="http://schemas.microsoft.com/office/drawing/2014/main" id="{F421328C-9844-466E-A1F8-1A6A712E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38400"/>
            <a:ext cx="31432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01  任务偏好与质量维度建模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02  分数／权重／阈值与置信度校准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03  多视角邻域共识与分歧检测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04  对象、属性、数量、空间关系等证据核验</a:t>
            </a:r>
          </a:p>
        </p:txBody>
      </p:sp>
      <p:sp>
        <p:nvSpPr>
          <p:cNvPr id="12" name="auto-text-33">
            <a:extLst xmlns:a="http://schemas.openxmlformats.org/drawingml/2006/main">
              <a:ext uri="{FF2B5EF4-FFF2-40B4-BE49-F238E27FC236}">
                <a16:creationId xmlns:a16="http://schemas.microsoft.com/office/drawing/2014/main" id="{C11BC014-95CB-49F5-872F-9828258C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86C9C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i="0">
                <a:solidFill>
                  <a:srgbClr val="86C9C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output-node">
            <a:extLst xmlns:a="http://schemas.openxmlformats.org/drawingml/2006/main">
              <a:ext uri="{FF2B5EF4-FFF2-40B4-BE49-F238E27FC236}">
                <a16:creationId xmlns:a16="http://schemas.microsoft.com/office/drawing/2014/main" id="{E8D4B88D-BEF7-431E-BB74-C17B4A11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95450"/>
            <a:ext cx="2952750" cy="327660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B6DDD8"/>
            </a:solidFill>
            <a:prstDash val="solid"/>
          </a:ln>
        </p:spPr>
      </p:sp>
      <p:sp>
        <p:nvSpPr>
          <p:cNvPr id="14" name="auto-text-34">
            <a:extLst xmlns:a="http://schemas.openxmlformats.org/drawingml/2006/main">
              <a:ext uri="{FF2B5EF4-FFF2-40B4-BE49-F238E27FC236}">
                <a16:creationId xmlns:a16="http://schemas.microsoft.com/office/drawing/2014/main" id="{EFEDD199-B926-47DA-AB0D-0E9CB9D7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9240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5" name="auto-text-35">
            <a:extLst xmlns:a="http://schemas.openxmlformats.org/drawingml/2006/main">
              <a:ext uri="{FF2B5EF4-FFF2-40B4-BE49-F238E27FC236}">
                <a16:creationId xmlns:a16="http://schemas.microsoft.com/office/drawing/2014/main" id="{2155D92B-983C-40A1-B306-281D8BC8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19350"/>
            <a:ext cx="2381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任务适配后的质量分数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高／低质量筛选结论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问题标签与证据摘要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置信度与人工复核建议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可复用接口与评测脚本</a:t>
            </a:r>
          </a:p>
        </p:txBody>
      </p:sp>
      <p:sp>
        <p:nvSpPr>
          <p:cNvPr id="16" name="scenario-band">
            <a:extLst xmlns:a="http://schemas.openxmlformats.org/drawingml/2006/main">
              <a:ext uri="{FF2B5EF4-FFF2-40B4-BE49-F238E27FC236}">
                <a16:creationId xmlns:a16="http://schemas.microsoft.com/office/drawing/2014/main" id="{5DCD92E9-B38D-4209-9EB1-BEECCB18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7810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7" name="auto-text-36">
            <a:extLst xmlns:a="http://schemas.openxmlformats.org/drawingml/2006/main">
              <a:ext uri="{FF2B5EF4-FFF2-40B4-BE49-F238E27FC236}">
                <a16:creationId xmlns:a16="http://schemas.microsoft.com/office/drawing/2014/main" id="{BEC847AD-E80D-43E5-8DD6-7DDCACD4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91175"/>
            <a:ext cx="739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首批建议验证：多图编辑＋AIGC图库　｜　后续泛化：盲超分＋颜色标注</a:t>
            </a:r>
          </a:p>
        </p:txBody>
      </p:sp>
      <p:sp>
        <p:nvSpPr>
          <p:cNvPr id="18" name="current-pipeline-frame">
            <a:extLst xmlns:a="http://schemas.openxmlformats.org/drawingml/2006/main">
              <a:ext uri="{FF2B5EF4-FFF2-40B4-BE49-F238E27FC236}">
                <a16:creationId xmlns:a16="http://schemas.microsoft.com/office/drawing/2014/main" id="{DED6F017-370E-4E5C-91F1-9A631F22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429250"/>
            <a:ext cx="3105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0F3F6"/>
          </a:solidFill>
          <a:ln xmlns:a="http://schemas.openxmlformats.org/drawingml/2006/main" w="9525">
            <a:solidFill>
              <a:srgbClr val="AAB5C0"/>
            </a:solidFill>
            <a:prstDash val="solid"/>
          </a:ln>
        </p:spPr>
      </p:sp>
      <p:sp>
        <p:nvSpPr>
          <p:cNvPr id="19" name="current-pipeline-label">
            <a:extLst xmlns:a="http://schemas.openxmlformats.org/drawingml/2006/main">
              <a:ext uri="{FF2B5EF4-FFF2-40B4-BE49-F238E27FC236}">
                <a16:creationId xmlns:a16="http://schemas.microsoft.com/office/drawing/2014/main" id="{EA472EE5-223E-441B-A24C-D8B58BCF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4864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5E6C7A"/>
                </a:solidFill>
                <a:latin typeface="Microsoft YaHei"/>
                <a:ea typeface="Microsoft YaHei"/>
                <a:cs typeface="Microsoft YaHei"/>
              </a:rPr>
              <a:t>可选｜现有质检Pipeline截图</a:t>
            </a:r>
          </a:p>
        </p:txBody>
      </p:sp>
      <p:sp>
        <p:nvSpPr>
          <p:cNvPr id="20" name="current-pipeline-sub">
            <a:extLst xmlns:a="http://schemas.openxmlformats.org/drawingml/2006/main">
              <a:ext uri="{FF2B5EF4-FFF2-40B4-BE49-F238E27FC236}">
                <a16:creationId xmlns:a16="http://schemas.microsoft.com/office/drawing/2014/main" id="{6E12A758-F1B7-4A4D-B8FA-1F2EF747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791200"/>
            <a:ext cx="2800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如无材料可删除此框</a:t>
            </a:r>
          </a:p>
        </p:txBody>
      </p:sp>
      <p:sp>
        <p:nvSpPr>
          <p:cNvPr id="21" name="auto-text-37">
            <a:extLst xmlns:a="http://schemas.openxmlformats.org/drawingml/2006/main">
              <a:ext uri="{FF2B5EF4-FFF2-40B4-BE49-F238E27FC236}">
                <a16:creationId xmlns:a16="http://schemas.microsoft.com/office/drawing/2014/main" id="{C394B729-3901-4C51-9477-C5E0BFD8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912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合作边界：高校交付核心算法原型与评测方法；公司提供业务数据、专家反馈，并负责后续平台集成。</a:t>
            </a:r>
          </a:p>
        </p:txBody>
      </p:sp>
    </p:spTree>
    <p:extLst>
      <p:ext uri="{BB962C8B-B14F-4D97-AF65-F5344CB8AC3E}">
        <p14:creationId xmlns:p14="http://schemas.microsoft.com/office/powerpoint/2010/main" val="9832009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cent-6">
            <a:extLst xmlns:a="http://schemas.openxmlformats.org/drawingml/2006/main">
              <a:ext uri="{FF2B5EF4-FFF2-40B4-BE49-F238E27FC236}">
                <a16:creationId xmlns:a16="http://schemas.microsoft.com/office/drawing/2014/main" id="{1D461570-AD37-4CD8-B214-0E60982A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762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E07F5357-AAE8-445D-BF21-82163822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合作项目将把临时质检方案沉淀为可复用、可验证的质量能力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202B87A-ABA6-4545-BF4B-37C8FC50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008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 i="0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auto-text-38">
            <a:extLst xmlns:a="http://schemas.openxmlformats.org/drawingml/2006/main">
              <a:ext uri="{FF2B5EF4-FFF2-40B4-BE49-F238E27FC236}">
                <a16:creationId xmlns:a16="http://schemas.microsoft.com/office/drawing/2014/main" id="{A07EF51A-9EA9-4C92-ADB3-E39FE2FE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78A"/>
                </a:solidFill>
                <a:latin typeface="Microsoft YaHei"/>
                <a:ea typeface="Microsoft YaHei"/>
                <a:cs typeface="Microsoft YaHei"/>
              </a:rPr>
              <a:t>项目价值不仅是提高一次筛选准确率，更重要的是形成可服务多个图像项目的共同能力。</a:t>
            </a:r>
          </a:p>
        </p:txBody>
      </p:sp>
      <p:sp>
        <p:nvSpPr>
          <p:cNvPr id="5" name="value-0">
            <a:extLst xmlns:a="http://schemas.openxmlformats.org/drawingml/2006/main">
              <a:ext uri="{FF2B5EF4-FFF2-40B4-BE49-F238E27FC236}">
                <a16:creationId xmlns:a16="http://schemas.microsoft.com/office/drawing/2014/main" id="{9061903F-E51F-4FCC-BB1A-96D23CE7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6" name="value-title-0">
            <a:extLst xmlns:a="http://schemas.openxmlformats.org/drawingml/2006/main">
              <a:ext uri="{FF2B5EF4-FFF2-40B4-BE49-F238E27FC236}">
                <a16:creationId xmlns:a16="http://schemas.microsoft.com/office/drawing/2014/main" id="{CCFA3093-B928-43E0-B4A2-1EB7DCBE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业务价值</a:t>
            </a:r>
          </a:p>
        </p:txBody>
      </p:sp>
      <p:sp>
        <p:nvSpPr>
          <p:cNvPr id="7" name="value-body-0">
            <a:extLst xmlns:a="http://schemas.openxmlformats.org/drawingml/2006/main">
              <a:ext uri="{FF2B5EF4-FFF2-40B4-BE49-F238E27FC236}">
                <a16:creationId xmlns:a16="http://schemas.microsoft.com/office/drawing/2014/main" id="{4E4D7D9F-E575-49A6-B2BB-0DF47B7F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减少重复设计和搭建质检流程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将人工集中到困难和高风险样本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缩短新任务质量标准落地周期</a:t>
            </a:r>
          </a:p>
        </p:txBody>
      </p:sp>
      <p:sp>
        <p:nvSpPr>
          <p:cNvPr id="8" name="value-1">
            <a:extLst xmlns:a="http://schemas.openxmlformats.org/drawingml/2006/main">
              <a:ext uri="{FF2B5EF4-FFF2-40B4-BE49-F238E27FC236}">
                <a16:creationId xmlns:a16="http://schemas.microsoft.com/office/drawing/2014/main" id="{1D5A4F1F-38EF-4A7C-8212-81AA866B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9525">
            <a:solidFill>
              <a:srgbClr val="E7F6F3"/>
            </a:solidFill>
            <a:prstDash val="solid"/>
          </a:ln>
        </p:spPr>
      </p:sp>
      <p:sp>
        <p:nvSpPr>
          <p:cNvPr id="9" name="value-title-1">
            <a:extLst xmlns:a="http://schemas.openxmlformats.org/drawingml/2006/main">
              <a:ext uri="{FF2B5EF4-FFF2-40B4-BE49-F238E27FC236}">
                <a16:creationId xmlns:a16="http://schemas.microsoft.com/office/drawing/2014/main" id="{E2FB3801-6588-441E-A1B3-913BB513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技术价值</a:t>
            </a:r>
          </a:p>
        </p:txBody>
      </p:sp>
      <p:sp>
        <p:nvSpPr>
          <p:cNvPr id="10" name="value-body-1">
            <a:extLst xmlns:a="http://schemas.openxmlformats.org/drawingml/2006/main">
              <a:ext uri="{FF2B5EF4-FFF2-40B4-BE49-F238E27FC236}">
                <a16:creationId xmlns:a16="http://schemas.microsoft.com/office/drawing/2014/main" id="{F3C9F8E6-7208-4A67-B154-00D7CE7B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建立系统化Rubric和验证协议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让Prompt、权重和阈值可实验比较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输出分数、证据、置信度与复核建议</a:t>
            </a:r>
          </a:p>
        </p:txBody>
      </p:sp>
      <p:sp>
        <p:nvSpPr>
          <p:cNvPr id="11" name="value-2">
            <a:extLst xmlns:a="http://schemas.openxmlformats.org/drawingml/2006/main">
              <a:ext uri="{FF2B5EF4-FFF2-40B4-BE49-F238E27FC236}">
                <a16:creationId xmlns:a16="http://schemas.microsoft.com/office/drawing/2014/main" id="{88D9110C-5BA6-4F08-B138-8ABAF33C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81150"/>
            <a:ext cx="3314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5DE"/>
          </a:solidFill>
          <a:ln xmlns:a="http://schemas.openxmlformats.org/drawingml/2006/main" w="9525">
            <a:solidFill>
              <a:srgbClr val="FFF5DE"/>
            </a:solidFill>
            <a:prstDash val="solid"/>
          </a:ln>
        </p:spPr>
      </p:sp>
      <p:sp>
        <p:nvSpPr>
          <p:cNvPr id="12" name="value-title-2">
            <a:extLst xmlns:a="http://schemas.openxmlformats.org/drawingml/2006/main">
              <a:ext uri="{FF2B5EF4-FFF2-40B4-BE49-F238E27FC236}">
                <a16:creationId xmlns:a16="http://schemas.microsoft.com/office/drawing/2014/main" id="{688BAFE5-F846-42E8-A586-A3BA6529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C88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C88919"/>
                </a:solidFill>
                <a:latin typeface="Microsoft YaHei"/>
                <a:ea typeface="Microsoft YaHei"/>
                <a:cs typeface="Microsoft YaHei"/>
              </a:rPr>
              <a:t>长期资产</a:t>
            </a:r>
          </a:p>
        </p:txBody>
      </p:sp>
      <p:sp>
        <p:nvSpPr>
          <p:cNvPr id="13" name="value-body-2">
            <a:extLst xmlns:a="http://schemas.openxmlformats.org/drawingml/2006/main">
              <a:ext uri="{FF2B5EF4-FFF2-40B4-BE49-F238E27FC236}">
                <a16:creationId xmlns:a16="http://schemas.microsoft.com/office/drawing/2014/main" id="{2CFBF651-A08B-450E-AC6F-BFAEA793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860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沉淀跨项目可复用Pipeline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积累验证集、失败案例和专家偏好</a:t>
            </a:r>
          </a:p>
          <a:p xmlns:a="http://schemas.openxmlformats.org/drawingml/2006/main">
            <a:pPr algn="l">
              <a:def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• 形成接口、论文和专利成果</a:t>
            </a:r>
          </a:p>
        </p:txBody>
      </p:sp>
      <p:sp>
        <p:nvSpPr>
          <p:cNvPr id="14" name="auto-text-39">
            <a:extLst xmlns:a="http://schemas.openxmlformats.org/drawingml/2006/main">
              <a:ext uri="{FF2B5EF4-FFF2-40B4-BE49-F238E27FC236}">
                <a16:creationId xmlns:a16="http://schemas.microsoft.com/office/drawing/2014/main" id="{B028997D-3352-4189-BEF4-4A4A8F04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2263A"/>
                </a:solidFill>
                <a:latin typeface="Microsoft YaHei"/>
                <a:ea typeface="Microsoft YaHei"/>
                <a:cs typeface="Microsoft YaHei"/>
              </a:rPr>
              <a:t>SOW项目目标（非现有成果）</a:t>
            </a:r>
          </a:p>
        </p:txBody>
      </p:sp>
      <p:sp>
        <p:nvSpPr>
          <p:cNvPr id="15" name="metric-0">
            <a:extLst xmlns:a="http://schemas.openxmlformats.org/drawingml/2006/main">
              <a:ext uri="{FF2B5EF4-FFF2-40B4-BE49-F238E27FC236}">
                <a16:creationId xmlns:a16="http://schemas.microsoft.com/office/drawing/2014/main" id="{9F885632-F863-4DB3-8376-FCA4568A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6" name="metric-stat-0">
            <a:extLst xmlns:a="http://schemas.openxmlformats.org/drawingml/2006/main">
              <a:ext uri="{FF2B5EF4-FFF2-40B4-BE49-F238E27FC236}">
                <a16:creationId xmlns:a16="http://schemas.microsoft.com/office/drawing/2014/main" id="{322487AD-65F2-4788-ADF1-951CF960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+10pp</a:t>
            </a:r>
          </a:p>
        </p:txBody>
      </p:sp>
      <p:sp>
        <p:nvSpPr>
          <p:cNvPr id="17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112E781C-6929-46EF-8633-8AB0B4C9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人机一致率提升</a:t>
            </a:r>
          </a:p>
        </p:txBody>
      </p:sp>
      <p:sp>
        <p:nvSpPr>
          <p:cNvPr id="18" name="metric-1">
            <a:extLst xmlns:a="http://schemas.openxmlformats.org/drawingml/2006/main">
              <a:ext uri="{FF2B5EF4-FFF2-40B4-BE49-F238E27FC236}">
                <a16:creationId xmlns:a16="http://schemas.microsoft.com/office/drawing/2014/main" id="{C89AAEFB-5EB6-4F37-9AD5-38167B51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01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19" name="metric-stat-1">
            <a:extLst xmlns:a="http://schemas.openxmlformats.org/drawingml/2006/main">
              <a:ext uri="{FF2B5EF4-FFF2-40B4-BE49-F238E27FC236}">
                <a16:creationId xmlns:a16="http://schemas.microsoft.com/office/drawing/2014/main" id="{BB03C7E4-FEA1-494E-B30C-754083E1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41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≥85%</a:t>
            </a:r>
          </a:p>
        </p:txBody>
      </p:sp>
      <p:sp>
        <p:nvSpPr>
          <p:cNvPr id="20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FE52D35E-BD26-4770-BBCF-E58603C9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41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低质量召回</a:t>
            </a:r>
          </a:p>
        </p:txBody>
      </p:sp>
      <p:sp>
        <p:nvSpPr>
          <p:cNvPr id="21" name="metric-2">
            <a:extLst xmlns:a="http://schemas.openxmlformats.org/drawingml/2006/main">
              <a:ext uri="{FF2B5EF4-FFF2-40B4-BE49-F238E27FC236}">
                <a16:creationId xmlns:a16="http://schemas.microsoft.com/office/drawing/2014/main" id="{5E7B5B4B-FA71-44C8-ABFE-C5889A44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967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2" name="metric-stat-2">
            <a:extLst xmlns:a="http://schemas.openxmlformats.org/drawingml/2006/main">
              <a:ext uri="{FF2B5EF4-FFF2-40B4-BE49-F238E27FC236}">
                <a16:creationId xmlns:a16="http://schemas.microsoft.com/office/drawing/2014/main" id="{A22218DF-A77F-47D5-8B03-6FA43232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07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6BFF"/>
                </a:solidFill>
                <a:latin typeface="Microsoft YaHei"/>
                <a:ea typeface="Microsoft YaHei"/>
                <a:cs typeface="Microsoft YaHei"/>
              </a:rPr>
              <a:t>≥88%</a:t>
            </a:r>
          </a:p>
        </p:txBody>
      </p:sp>
      <p:sp>
        <p:nvSpPr>
          <p:cNvPr id="23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A91B6C3C-4F70-4A12-AE4A-8831EB0B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07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高置信优质准确率</a:t>
            </a:r>
          </a:p>
        </p:txBody>
      </p:sp>
      <p:sp>
        <p:nvSpPr>
          <p:cNvPr id="24" name="metric-3">
            <a:extLst xmlns:a="http://schemas.openxmlformats.org/drawingml/2006/main">
              <a:ext uri="{FF2B5EF4-FFF2-40B4-BE49-F238E27FC236}">
                <a16:creationId xmlns:a16="http://schemas.microsoft.com/office/drawing/2014/main" id="{3DAF303F-0496-4EDB-83B4-24111868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233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5" name="metric-stat-3">
            <a:extLst xmlns:a="http://schemas.openxmlformats.org/drawingml/2006/main">
              <a:ext uri="{FF2B5EF4-FFF2-40B4-BE49-F238E27FC236}">
                <a16:creationId xmlns:a16="http://schemas.microsoft.com/office/drawing/2014/main" id="{07F868A8-2EE0-4DC2-8868-E9F98F77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−30%</a:t>
            </a:r>
          </a:p>
        </p:txBody>
      </p:sp>
      <p:sp>
        <p:nvSpPr>
          <p:cNvPr id="26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E7271278-40F9-49B0-89A5-BF6FC3D3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平均评估成本</a:t>
            </a:r>
          </a:p>
        </p:txBody>
      </p:sp>
      <p:sp>
        <p:nvSpPr>
          <p:cNvPr id="27" name="metric-4">
            <a:extLst xmlns:a="http://schemas.openxmlformats.org/drawingml/2006/main">
              <a:ext uri="{FF2B5EF4-FFF2-40B4-BE49-F238E27FC236}">
                <a16:creationId xmlns:a16="http://schemas.microsoft.com/office/drawing/2014/main" id="{6768F4B7-2CAE-4301-A0B7-756CCBC1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990" y="4362450"/>
            <a:ext cx="2057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9525">
            <a:solidFill>
              <a:srgbClr val="F4F7FA"/>
            </a:solidFill>
            <a:prstDash val="solid"/>
          </a:ln>
        </p:spPr>
      </p:sp>
      <p:sp>
        <p:nvSpPr>
          <p:cNvPr id="28" name="metric-stat-4">
            <a:extLst xmlns:a="http://schemas.openxmlformats.org/drawingml/2006/main">
              <a:ext uri="{FF2B5EF4-FFF2-40B4-BE49-F238E27FC236}">
                <a16:creationId xmlns:a16="http://schemas.microsoft.com/office/drawing/2014/main" id="{076D4718-E205-4432-A9B4-FD0D1104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7390" y="4476750"/>
            <a:ext cx="1752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59A91"/>
                </a:solidFill>
                <a:latin typeface="Microsoft YaHei"/>
                <a:ea typeface="Microsoft YaHei"/>
                <a:cs typeface="Microsoft YaHei"/>
              </a:rPr>
              <a:t>−35%</a:t>
            </a:r>
          </a:p>
        </p:txBody>
      </p:sp>
      <p:sp>
        <p:nvSpPr>
          <p:cNvPr id="29" name="metric-label-4">
            <a:extLst xmlns:a="http://schemas.openxmlformats.org/drawingml/2006/main">
              <a:ext uri="{FF2B5EF4-FFF2-40B4-BE49-F238E27FC236}">
                <a16:creationId xmlns:a16="http://schemas.microsoft.com/office/drawing/2014/main" id="{FFA44656-53AA-4CA2-AB87-805B7739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7390" y="48958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25364A"/>
                </a:solidFill>
                <a:latin typeface="Microsoft YaHei"/>
                <a:ea typeface="Microsoft YaHei"/>
                <a:cs typeface="Microsoft YaHei"/>
              </a:rPr>
              <a:t>人工复核量</a:t>
            </a:r>
          </a:p>
        </p:txBody>
      </p:sp>
      <p:sp>
        <p:nvSpPr>
          <p:cNvPr id="30" name="auto-text-40">
            <a:extLst xmlns:a="http://schemas.openxmlformats.org/drawingml/2006/main">
              <a:ext uri="{FF2B5EF4-FFF2-40B4-BE49-F238E27FC236}">
                <a16:creationId xmlns:a16="http://schemas.microsoft.com/office/drawing/2014/main" id="{79CA06BA-7C02-4E9C-87A2-5417F936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1163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1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1">
                <a:solidFill>
                  <a:srgbClr val="8A98A8"/>
                </a:solidFill>
                <a:latin typeface="Microsoft YaHei"/>
                <a:ea typeface="Microsoft YaHei"/>
                <a:cs typeface="Microsoft YaHei"/>
              </a:rPr>
              <a:t>内部基线待补充：单样本成本／人工复核比例／新项目质检管线搭建周期</a:t>
            </a:r>
          </a:p>
        </p:txBody>
      </p:sp>
      <p:sp>
        <p:nvSpPr>
          <p:cNvPr id="31" name="approval-band">
            <a:extLst xmlns:a="http://schemas.openxmlformats.org/drawingml/2006/main">
              <a:ext uri="{FF2B5EF4-FFF2-40B4-BE49-F238E27FC236}">
                <a16:creationId xmlns:a16="http://schemas.microsoft.com/office/drawing/2014/main" id="{0CD3DE9C-3524-4840-B763-7D83CFBC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0"/>
            <a:ext cx="11163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12263A"/>
            </a:solidFill>
            <a:prstDash val="solid"/>
          </a:ln>
        </p:spPr>
      </p:sp>
      <p:sp>
        <p:nvSpPr>
          <p:cNvPr id="32" name="auto-text-41">
            <a:extLst xmlns:a="http://schemas.openxmlformats.org/drawingml/2006/main">
              <a:ext uri="{FF2B5EF4-FFF2-40B4-BE49-F238E27FC236}">
                <a16:creationId xmlns:a16="http://schemas.microsoft.com/office/drawing/2014/main" id="{EAC573A5-3799-41CE-A32B-350982EF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24550"/>
            <a:ext cx="1070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建议批准本次合作：以1–2个代表场景完成验证，并沉淀可服务多个项目的任务自适应质量评估能力。</a:t>
            </a:r>
          </a:p>
        </p:txBody>
      </p:sp>
    </p:spTree>
    <p:extLst>
      <p:ext uri="{BB962C8B-B14F-4D97-AF65-F5344CB8AC3E}">
        <p14:creationId xmlns:p14="http://schemas.microsoft.com/office/powerpoint/2010/main" val="492063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2026-08-05T08:35:20.3100000Z</dcterms:created>
  <dcterms:modified xsi:type="dcterms:W3CDTF">2026-08-05T08:35:20.3100000Z</dcterms:modified>
</coreProperties>
</file>