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390df0b894e68" /><Relationship Type="http://schemas.openxmlformats.org/officeDocument/2006/relationships/extended-properties" Target="/docProps/app.xml" Id="Rc6ee225e6bca4f0c" /><Relationship Type="http://schemas.openxmlformats.org/officeDocument/2006/relationships/officeDocument" Target="/ppt/presentation.xml" Id="Ra07a6a288c12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27042b25e47c4"/>
  </p:sldMasterIdLst>
  <p:notesMasterIdLst>
    <p:notesMasterId xmlns:r="http://schemas.openxmlformats.org/officeDocument/2006/relationships" r:id="R299f2143f24f43b8"/>
  </p:notesMasterIdLst>
  <p:sldIdLst>
    <p:sldId xmlns:r="http://schemas.openxmlformats.org/officeDocument/2006/relationships" id="256" r:id="Reb0abeb50e304c61"/>
    <p:sldId xmlns:r="http://schemas.openxmlformats.org/officeDocument/2006/relationships" id="257" r:id="R779a6349da104ab1"/>
    <p:sldId xmlns:r="http://schemas.openxmlformats.org/officeDocument/2006/relationships" id="258" r:id="Rdc360bd035b7454e"/>
    <p:sldId xmlns:r="http://schemas.openxmlformats.org/officeDocument/2006/relationships" id="259" r:id="R3584485b06fb4004"/>
    <p:sldId xmlns:r="http://schemas.openxmlformats.org/officeDocument/2006/relationships" id="260" r:id="R79a3844969be4422"/>
    <p:sldId xmlns:r="http://schemas.openxmlformats.org/officeDocument/2006/relationships" id="261" r:id="Rd655a0da8a48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165fe4fd18431d" /><Relationship Type="http://schemas.openxmlformats.org/officeDocument/2006/relationships/slideMaster" Target="/ppt/slideMasters/slideMaster1.xml" Id="Rccf27042b25e47c4" /><Relationship Type="http://schemas.openxmlformats.org/officeDocument/2006/relationships/notesMaster" Target="/ppt/notesMasters/notesMaster1.xml" Id="R299f2143f24f43b8" /><Relationship Type="http://schemas.openxmlformats.org/officeDocument/2006/relationships/presProps" Target="/ppt/presProps.xml" Id="R87065fe051d84570" /><Relationship Type="http://schemas.openxmlformats.org/officeDocument/2006/relationships/tableStyles" Target="/ppt/tableStyles.xml" Id="Rfdd4d4e5c23b4891" /><Relationship Type="http://schemas.openxmlformats.org/officeDocument/2006/relationships/slide" Target="/ppt/slides/slide1.xml" Id="Reb0abeb50e304c61" /><Relationship Type="http://schemas.openxmlformats.org/officeDocument/2006/relationships/slide" Target="/ppt/slides/slide2.xml" Id="R779a6349da104ab1" /><Relationship Type="http://schemas.openxmlformats.org/officeDocument/2006/relationships/slide" Target="/ppt/slides/slide3.xml" Id="Rdc360bd035b7454e" /><Relationship Type="http://schemas.openxmlformats.org/officeDocument/2006/relationships/slide" Target="/ppt/slides/slide4.xml" Id="R3584485b06fb4004" /><Relationship Type="http://schemas.openxmlformats.org/officeDocument/2006/relationships/slide" Target="/ppt/slides/slide5.xml" Id="R79a3844969be4422" /><Relationship Type="http://schemas.openxmlformats.org/officeDocument/2006/relationships/slide" Target="/ppt/slides/slide6.xml" Id="Rd655a0da8a48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b778cb729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322c9d6c38457f" /><Relationship Type="http://schemas.openxmlformats.org/officeDocument/2006/relationships/notesMaster" Target="/ppt/notesMasters/notesMaster1.xml" Id="Rc5b618a85ba4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a3ababbc4482d" /><Relationship Type="http://schemas.openxmlformats.org/officeDocument/2006/relationships/notesMaster" Target="/ppt/notesMasters/notesMaster1.xml" Id="R9bb6cbb8ae8d4c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186f94d07b4953" /><Relationship Type="http://schemas.openxmlformats.org/officeDocument/2006/relationships/notesMaster" Target="/ppt/notesMasters/notesMaster1.xml" Id="R23b7d1837cf447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a1230ae6e6434c" /><Relationship Type="http://schemas.openxmlformats.org/officeDocument/2006/relationships/notesMaster" Target="/ppt/notesMasters/notesMaster1.xml" Id="Re256027ed2ab4b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bcf59adaea4f0f" /><Relationship Type="http://schemas.openxmlformats.org/officeDocument/2006/relationships/notesMaster" Target="/ppt/notesMasters/notesMaster1.xml" Id="Ra1259435be494a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78a14205ef418e" /><Relationship Type="http://schemas.openxmlformats.org/officeDocument/2006/relationships/notesMaster" Target="/ppt/notesMasters/notesMaster1.xml" Id="R1d8fc194fd6041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当前已有多图编辑、盲超分、颜色标注和AIGC图库等多个图像项目。这里用多图编辑和图库两个代表场景说明：多图编辑关注参考内容是否正确迁移、人物是否保持、非目标区域是否被破坏；图库关注异常、美学和构图。由此可见，数据质量不是一套固定分数，而是与任务目标直接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方式能够解决眼前问题，但每次都从讨论标准、编写Prompt、人工抽检开始。最大问题不是某一个Prompt写得不好，而是缺少统一的质量维度、基线、校准方法和可复用组件。右侧预留了内部Prompt和误判案例，后续替换后可以直观说明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将学术趋势重新对齐SOW。第一条路线是后验校准：已有评分器会有偏差，但可以利用少量验证样本修正分数、权重、阈值与置信度。第二条路线是邻域共识：对于细粒度或长尾偏好，不依赖一次Prompt，而是围绕目标偏好生成相邻配置，再聚合或保守选择。第三条路线是证据核验：对对象、属性和空间关系等结论，回到结构化视觉证据或专用工具验证。VLM Judge位于这些方法的底层，不是项目的全部。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Improving Data Efficiency via Curating LLM-Driven Rating Systems, ICLR 2025: https://proceedings.iclr.cc/paper_files/paper/2025/hash/faa6144674bce872365874c576b4f56f-Abstract-Conference.html</a:t>
            </a:r>
          </a:p>
          <a:p xmlns:a="http://schemas.openxmlformats.org/drawingml/2006/main">
            <a:r>
              <a:t>- Robust Preference Alignment via Directional Neighborhood Consensus, ICLR 2026: https://iclr.cc/virtual/2026/poster/10007833</a:t>
            </a:r>
          </a:p>
          <a:p xmlns:a="http://schemas.openxmlformats.org/drawingml/2006/main">
            <a:r>
              <a:t>- Trust but Verify: Programmatic VLM Evaluation in the Wild, ICCV 2025: https://openaccess.thecvf.com/content/ICCV2025/html/Prabhu_Trust_but_Verify_Programmatic_VLM_Evaluation_in_the_Wild_ICCV_2025_paper.html</a:t>
            </a:r>
          </a:p>
          <a:p xmlns:a="http://schemas.openxmlformats.org/drawingml/2006/main">
            <a:r>
              <a:t>- Do Humans and Machines Have the Same Eyes?, AAAI 2025: https://arxiv.org/abs/2304.08733</a:t>
            </a:r>
          </a:p>
          <a:p xmlns:a="http://schemas.openxmlformats.org/drawingml/2006/main">
            <a:r>
              <a:t>- Calibrating MLLM-as-a-Judge via Multimodal Bayesian Prompt Ensembles, ICCV 2025: https://arxiv.org/abs/2509.08777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强调哪个公司排名第一，而是观察头部团队采用了什么方法。四家的公开路径虽然各有侧重，但结构高度一致：先把质量拆成场景、维度或检查点，再组合自动评价器，并用人工数据做校验。Qwen甚至发布了专用图像Judge和分层评价体系；腾讯把提示词拆成3500个关键点，说明业界已经从一条Prompt打总分，走向细粒度、可核验的评价机制。这正是本合作项目要补齐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https://deploymentsafety.openai.com/chatgpt-images-2-0/automated-evaluations-and-adversarial-testing</a:t>
            </a:r>
          </a:p>
          <a:p xmlns:a="http://schemas.openxmlformats.org/drawingml/2006/main">
            <a:r>
              <a:t>- https://github.com/QwenLM/Qwen-Image-Bench</a:t>
            </a:r>
          </a:p>
          <a:p xmlns:a="http://schemas.openxmlformats.org/drawingml/2006/main">
            <a:r>
              <a:t>- https://seed.bytedance.com/en/blog/bytedance-released-image-editing-model-seededit-3-0-enhanced-image-consistency-and-usability-rate</a:t>
            </a:r>
          </a:p>
          <a:p xmlns:a="http://schemas.openxmlformats.org/drawingml/2006/main">
            <a:r>
              <a:t>- https://github.com/Tencent-Hunyuan/HunyuanImage-3.0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合并说明项目路线和预期能力。左侧输入业务任务、少量专家样本以及VLM、CLIP、OCR、规则等已有评估结果；中间通过任务偏好与后验校准、邻域共识与分歧选择、图文证据核验与闭环验证三类算法进行处理；右侧形成可落地的质量分数、筛选结论、证据、置信度、复核建议和接口脚本。项目不是研发单一VLM Judge，也不重建生产平台，而是在现有能力上增加可插拔的任务自适应层。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带来三层价值：业务上减少重复建设和人工成本，技术上形成可校准、可验证的评估方法，长期沉淀跨项目Pipeline、验证集和失败案例库。页面中的数字是SOW目标，不是现有成绩。希望领导批准本次合作，以一到两个场景先完成闭环验证，再逐步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45b12304e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ca2268d204e91" /><Relationship Type="http://schemas.openxmlformats.org/officeDocument/2006/relationships/slideLayout" Target="/ppt/slideLayouts/slideLayout1.xml" Id="R421688a0ed194f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688a0ed194f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b3928b87e4618" /><Relationship Type="http://schemas.openxmlformats.org/officeDocument/2006/relationships/notesSlide" Target="/ppt/notesSlides/notesSlide1.xml" Id="R74f619c5603b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bed73f24a4c37" /><Relationship Type="http://schemas.openxmlformats.org/officeDocument/2006/relationships/notesSlide" Target="/ppt/notesSlides/notesSlide2.xml" Id="Rd34d11a83324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6a5cd15e04196" /><Relationship Type="http://schemas.openxmlformats.org/officeDocument/2006/relationships/notesSlide" Target="/ppt/notesSlides/notesSlide3.xml" Id="R47700d682be2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70393780c43cb" /><Relationship Type="http://schemas.openxmlformats.org/officeDocument/2006/relationships/notesSlide" Target="/ppt/notesSlides/notesSlide4.xml" Id="R31e4e75e5ad6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93ac1d8d84fda" /><Relationship Type="http://schemas.openxmlformats.org/officeDocument/2006/relationships/notesSlide" Target="/ppt/notesSlides/notesSlide5.xml" Id="R3c455856b3554d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f2a23631143f2" /><Relationship Type="http://schemas.openxmlformats.org/officeDocument/2006/relationships/notesSlide" Target="/ppt/notesSlides/notesSlide6.xml" Id="R57754506c2a8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1">
            <a:extLst xmlns:a="http://schemas.openxmlformats.org/drawingml/2006/main">
              <a:ext uri="{FF2B5EF4-FFF2-40B4-BE49-F238E27FC236}">
                <a16:creationId xmlns:a16="http://schemas.microsoft.com/office/drawing/2014/main" id="{4F839A93-E68E-407B-882C-F628837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9A82889D-7323-4EF0-B077-666F2A2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四类图文项目对质量的要求不同，却依赖同一类底层能力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38A67260-7339-457A-8217-980A8383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uto-text-1">
            <a:extLst xmlns:a="http://schemas.openxmlformats.org/drawingml/2006/main">
              <a:ext uri="{FF2B5EF4-FFF2-40B4-BE49-F238E27FC236}">
                <a16:creationId xmlns:a16="http://schemas.microsoft.com/office/drawing/2014/main" id="{F285F07C-86A9-44CE-94A0-18E8C75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优先以多图编辑和AIGC图库为代表场景：同一张图是否“高质量”，取决于具体任务和使用目标。</a:t>
            </a:r>
          </a:p>
        </p:txBody>
      </p:sp>
      <p:sp>
        <p:nvSpPr>
          <p:cNvPr id="5" name="auto-text-2">
            <a:extLst xmlns:a="http://schemas.openxmlformats.org/drawingml/2006/main">
              <a:ext uri="{FF2B5EF4-FFF2-40B4-BE49-F238E27FC236}">
                <a16:creationId xmlns:a16="http://schemas.microsoft.com/office/drawing/2014/main" id="{10204224-46DF-4C36-A2DE-9643EA2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多图编辑</a:t>
            </a:r>
          </a:p>
        </p:txBody>
      </p:sp>
      <p:sp>
        <p:nvSpPr>
          <p:cNvPr id="6" name="auto-text-3">
            <a:extLst xmlns:a="http://schemas.openxmlformats.org/drawingml/2006/main">
              <a:ext uri="{FF2B5EF4-FFF2-40B4-BE49-F238E27FC236}">
                <a16:creationId xmlns:a16="http://schemas.microsoft.com/office/drawing/2014/main" id="{EC51D8C6-BF68-4642-9C57-B767D69B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AIGC图库</a:t>
            </a:r>
          </a:p>
        </p:txBody>
      </p:sp>
      <p:sp>
        <p:nvSpPr>
          <p:cNvPr id="7" name="edit-media-surface">
            <a:extLst xmlns:a="http://schemas.openxmlformats.org/drawingml/2006/main">
              <a:ext uri="{FF2B5EF4-FFF2-40B4-BE49-F238E27FC236}">
                <a16:creationId xmlns:a16="http://schemas.microsoft.com/office/drawing/2014/main" id="{FE025C7F-4FFF-41CA-8303-FB57B5D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429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9C9F4"/>
            </a:solidFill>
            <a:prstDash val="solid"/>
          </a:ln>
        </p:spPr>
      </p:sp>
      <p:sp>
        <p:nvSpPr>
          <p:cNvPr id="8" name="edit-source-frame">
            <a:extLst xmlns:a="http://schemas.openxmlformats.org/drawingml/2006/main">
              <a:ext uri="{FF2B5EF4-FFF2-40B4-BE49-F238E27FC236}">
                <a16:creationId xmlns:a16="http://schemas.microsoft.com/office/drawing/2014/main" id="{424E276D-4123-4F05-B495-E9EA48CA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9" name="edit-source-label">
            <a:extLst xmlns:a="http://schemas.openxmlformats.org/drawingml/2006/main">
              <a:ext uri="{FF2B5EF4-FFF2-40B4-BE49-F238E27FC236}">
                <a16:creationId xmlns:a16="http://schemas.microsoft.com/office/drawing/2014/main" id="{975AC682-6645-4726-91E3-5195155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10" name="edit-source-sub">
            <a:extLst xmlns:a="http://schemas.openxmlformats.org/drawingml/2006/main">
              <a:ext uri="{FF2B5EF4-FFF2-40B4-BE49-F238E27FC236}">
                <a16:creationId xmlns:a16="http://schemas.microsoft.com/office/drawing/2014/main" id="{229CAD11-1248-4F68-9866-FD131F0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1" name="edit-reference-frame">
            <a:extLst xmlns:a="http://schemas.openxmlformats.org/drawingml/2006/main">
              <a:ext uri="{FF2B5EF4-FFF2-40B4-BE49-F238E27FC236}">
                <a16:creationId xmlns:a16="http://schemas.microsoft.com/office/drawing/2014/main" id="{38A8C8BF-E46C-4823-857C-6278BE6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2" name="edit-reference-label">
            <a:extLst xmlns:a="http://schemas.openxmlformats.org/drawingml/2006/main">
              <a:ext uri="{FF2B5EF4-FFF2-40B4-BE49-F238E27FC236}">
                <a16:creationId xmlns:a16="http://schemas.microsoft.com/office/drawing/2014/main" id="{6C3B75B0-A5E9-4B5A-B68E-6FF588F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参考图</a:t>
            </a:r>
          </a:p>
        </p:txBody>
      </p:sp>
      <p:sp>
        <p:nvSpPr>
          <p:cNvPr id="13" name="edit-reference-sub">
            <a:extLst xmlns:a="http://schemas.openxmlformats.org/drawingml/2006/main">
              <a:ext uri="{FF2B5EF4-FFF2-40B4-BE49-F238E27FC236}">
                <a16:creationId xmlns:a16="http://schemas.microsoft.com/office/drawing/2014/main" id="{BAD86F46-0317-4F1C-8E95-030B9DF9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4" name="edit-output-frame">
            <a:extLst xmlns:a="http://schemas.openxmlformats.org/drawingml/2006/main">
              <a:ext uri="{FF2B5EF4-FFF2-40B4-BE49-F238E27FC236}">
                <a16:creationId xmlns:a16="http://schemas.microsoft.com/office/drawing/2014/main" id="{DE8EF774-A70C-49B9-AAD9-5364874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5" name="edit-output-label">
            <a:extLst xmlns:a="http://schemas.openxmlformats.org/drawingml/2006/main">
              <a:ext uri="{FF2B5EF4-FFF2-40B4-BE49-F238E27FC236}">
                <a16:creationId xmlns:a16="http://schemas.microsoft.com/office/drawing/2014/main" id="{2D199DCA-FF98-4EB6-8E38-E45849E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编辑结果</a:t>
            </a:r>
          </a:p>
        </p:txBody>
      </p:sp>
      <p:sp>
        <p:nvSpPr>
          <p:cNvPr id="16" name="edit-output-sub">
            <a:extLst xmlns:a="http://schemas.openxmlformats.org/drawingml/2006/main">
              <a:ext uri="{FF2B5EF4-FFF2-40B4-BE49-F238E27FC236}">
                <a16:creationId xmlns:a16="http://schemas.microsoft.com/office/drawing/2014/main" id="{A140A53F-A3A2-4C07-BF0F-97B5F1F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7" name="auto-text-4">
            <a:extLst xmlns:a="http://schemas.openxmlformats.org/drawingml/2006/main">
              <a:ext uri="{FF2B5EF4-FFF2-40B4-BE49-F238E27FC236}">
                <a16:creationId xmlns:a16="http://schemas.microsoft.com/office/drawing/2014/main" id="{2F0EE434-F081-4196-B628-B712DDC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建议样例：换装／持物／合影／表情迁移</a:t>
            </a:r>
          </a:p>
        </p:txBody>
      </p:sp>
      <p:sp>
        <p:nvSpPr>
          <p:cNvPr id="18" name="gallery-media-surface">
            <a:extLst xmlns:a="http://schemas.openxmlformats.org/drawingml/2006/main">
              <a:ext uri="{FF2B5EF4-FFF2-40B4-BE49-F238E27FC236}">
                <a16:creationId xmlns:a16="http://schemas.microsoft.com/office/drawing/2014/main" id="{1A812605-745B-40D0-AA30-ADC8000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3149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8DDD8"/>
            </a:solidFill>
            <a:prstDash val="solid"/>
          </a:ln>
        </p:spPr>
      </p:sp>
      <p:sp>
        <p:nvSpPr>
          <p:cNvPr id="19" name="gallery-good-frame">
            <a:extLst xmlns:a="http://schemas.openxmlformats.org/drawingml/2006/main">
              <a:ext uri="{FF2B5EF4-FFF2-40B4-BE49-F238E27FC236}">
                <a16:creationId xmlns:a16="http://schemas.microsoft.com/office/drawing/2014/main" id="{0686C153-8BE2-4408-8355-795ECA3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0" name="gallery-good-label">
            <a:extLst xmlns:a="http://schemas.openxmlformats.org/drawingml/2006/main">
              <a:ext uri="{FF2B5EF4-FFF2-40B4-BE49-F238E27FC236}">
                <a16:creationId xmlns:a16="http://schemas.microsoft.com/office/drawing/2014/main" id="{60DE572E-583E-4D01-9E48-D4139ADA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可入库样本</a:t>
            </a:r>
          </a:p>
        </p:txBody>
      </p:sp>
      <p:sp>
        <p:nvSpPr>
          <p:cNvPr id="21" name="gallery-good-sub">
            <a:extLst xmlns:a="http://schemas.openxmlformats.org/drawingml/2006/main">
              <a:ext uri="{FF2B5EF4-FFF2-40B4-BE49-F238E27FC236}">
                <a16:creationId xmlns:a16="http://schemas.microsoft.com/office/drawing/2014/main" id="{B741222A-893E-4A41-8AD0-B6D2C34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2" name="gallery-bad-frame">
            <a:extLst xmlns:a="http://schemas.openxmlformats.org/drawingml/2006/main">
              <a:ext uri="{FF2B5EF4-FFF2-40B4-BE49-F238E27FC236}">
                <a16:creationId xmlns:a16="http://schemas.microsoft.com/office/drawing/2014/main" id="{6A9D007A-5F55-47F7-8F0A-867EE3AD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3" name="gallery-bad-label">
            <a:extLst xmlns:a="http://schemas.openxmlformats.org/drawingml/2006/main">
              <a:ext uri="{FF2B5EF4-FFF2-40B4-BE49-F238E27FC236}">
                <a16:creationId xmlns:a16="http://schemas.microsoft.com/office/drawing/2014/main" id="{0BD39804-08CA-4935-BBA9-CE32500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异常／低质样本</a:t>
            </a:r>
          </a:p>
        </p:txBody>
      </p:sp>
      <p:sp>
        <p:nvSpPr>
          <p:cNvPr id="24" name="gallery-bad-sub">
            <a:extLst xmlns:a="http://schemas.openxmlformats.org/drawingml/2006/main">
              <a:ext uri="{FF2B5EF4-FFF2-40B4-BE49-F238E27FC236}">
                <a16:creationId xmlns:a16="http://schemas.microsoft.com/office/drawing/2014/main" id="{535017E9-C41E-4216-8259-D7E29E8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5" name="auto-text-5">
            <a:extLst xmlns:a="http://schemas.openxmlformats.org/drawingml/2006/main">
              <a:ext uri="{FF2B5EF4-FFF2-40B4-BE49-F238E27FC236}">
                <a16:creationId xmlns:a16="http://schemas.microsoft.com/office/drawing/2014/main" id="{03DDE0A0-E7D7-4AC2-B3D3-89A53D3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建议样例：肢体异常／结构错误／构图或美学问题</a:t>
            </a:r>
          </a:p>
        </p:txBody>
      </p:sp>
      <p:sp>
        <p:nvSpPr>
          <p:cNvPr id="26" name="auto-text-6">
            <a:extLst xmlns:a="http://schemas.openxmlformats.org/drawingml/2006/main">
              <a:ext uri="{FF2B5EF4-FFF2-40B4-BE49-F238E27FC236}">
                <a16:creationId xmlns:a16="http://schemas.microsoft.com/office/drawing/2014/main" id="{168138B1-B7D6-4067-8C20-7D323726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主体与参考一致性｜编辑目标满足｜非目标区域保持｜结果自然度</a:t>
            </a:r>
          </a:p>
        </p:txBody>
      </p:sp>
      <p:sp>
        <p:nvSpPr>
          <p:cNvPr id="27" name="auto-text-7">
            <a:extLst xmlns:a="http://schemas.openxmlformats.org/drawingml/2006/main">
              <a:ext uri="{FF2B5EF4-FFF2-40B4-BE49-F238E27FC236}">
                <a16:creationId xmlns:a16="http://schemas.microsoft.com/office/drawing/2014/main" id="{CAB749AA-BB29-478F-A410-E8E9F34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12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异常生成｜主体完整性｜图文一致性｜美学与构图｜风险内容</a:t>
            </a:r>
          </a:p>
        </p:txBody>
      </p:sp>
      <p:sp>
        <p:nvSpPr>
          <p:cNvPr id="28" name="slide1-conclusion">
            <a:extLst xmlns:a="http://schemas.openxmlformats.org/drawingml/2006/main">
              <a:ext uri="{FF2B5EF4-FFF2-40B4-BE49-F238E27FC236}">
                <a16:creationId xmlns:a16="http://schemas.microsoft.com/office/drawing/2014/main" id="{10A60729-D500-443D-9D8A-A8DD7D5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86375"/>
            <a:ext cx="11239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9" name="auto-text-8">
            <a:extLst xmlns:a="http://schemas.openxmlformats.org/drawingml/2006/main">
              <a:ext uri="{FF2B5EF4-FFF2-40B4-BE49-F238E27FC236}">
                <a16:creationId xmlns:a16="http://schemas.microsoft.com/office/drawing/2014/main" id="{2004ED73-4CBF-4BB0-B76C-8EAE9E3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30" name="auto-text-9">
            <a:extLst xmlns:a="http://schemas.openxmlformats.org/drawingml/2006/main">
              <a:ext uri="{FF2B5EF4-FFF2-40B4-BE49-F238E27FC236}">
                <a16:creationId xmlns:a16="http://schemas.microsoft.com/office/drawing/2014/main" id="{82259A21-ED48-4F5A-BFEF-62A6B26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质量不是图片的固定属性，而是图片、标签与目标任务之间的匹配关系。</a:t>
            </a:r>
          </a:p>
        </p:txBody>
      </p:sp>
    </p:spTree>
    <p:extLst>
      <p:ext uri="{BB962C8B-B14F-4D97-AF65-F5344CB8AC3E}">
        <p14:creationId xmlns:p14="http://schemas.microsoft.com/office/powerpoint/2010/main" val="26575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2">
            <a:extLst xmlns:a="http://schemas.openxmlformats.org/drawingml/2006/main">
              <a:ext uri="{FF2B5EF4-FFF2-40B4-BE49-F238E27FC236}">
                <a16:creationId xmlns:a16="http://schemas.microsoft.com/office/drawing/2014/main" id="{FA4D26B4-48EC-481D-9B06-6C5DD93D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003038A-5576-41DC-9139-6C56118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按项目临时搭建质检管线，导致方法、成本和经验反复重置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42A74E4-C2AE-4A95-86B0-532CD9A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uto-text-10">
            <a:extLst xmlns:a="http://schemas.openxmlformats.org/drawingml/2006/main">
              <a:ext uri="{FF2B5EF4-FFF2-40B4-BE49-F238E27FC236}">
                <a16:creationId xmlns:a16="http://schemas.microsoft.com/office/drawing/2014/main" id="{5EF03389-55FF-4B65-AD66-C11D3681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当前路径</a:t>
            </a:r>
          </a:p>
        </p:txBody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D6A711EB-66AB-4F73-829E-05001EA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step-line-0">
            <a:extLst xmlns:a="http://schemas.openxmlformats.org/drawingml/2006/main">
              <a:ext uri="{FF2B5EF4-FFF2-40B4-BE49-F238E27FC236}">
                <a16:creationId xmlns:a16="http://schemas.microsoft.com/office/drawing/2014/main" id="{612E9642-531D-494D-BD3A-B270D9B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E092610B-729B-4723-ADBF-2EB71BD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讨论质量标准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169E565F-1014-4B31-957B-AF11AF4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EBEA66E-1609-4692-BC68-4BA5F5E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B891E1F1-D1E4-4311-A0AD-77051C5E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编写规则／Prompt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2D8F66C8-203B-4AA0-9669-906F1E9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0A5815A-2B68-42EB-97D6-2C060BD5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3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43B4B24-9FF2-407E-8C52-13D72CC0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人工抽检与调参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02B37CB3-2284-414C-8AE7-C9DAD67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5" name="step-line-3">
            <a:extLst xmlns:a="http://schemas.openxmlformats.org/drawingml/2006/main">
              <a:ext uri="{FF2B5EF4-FFF2-40B4-BE49-F238E27FC236}">
                <a16:creationId xmlns:a16="http://schemas.microsoft.com/office/drawing/2014/main" id="{6D2921C7-6483-4B76-BDB8-D25DB38A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6" name="step-text-3">
            <a:extLst xmlns:a="http://schemas.openxmlformats.org/drawingml/2006/main">
              <a:ext uri="{FF2B5EF4-FFF2-40B4-BE49-F238E27FC236}">
                <a16:creationId xmlns:a16="http://schemas.microsoft.com/office/drawing/2014/main" id="{C7B9E17B-4B05-481B-8B71-51A1B32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临时搭建管线</a:t>
            </a:r>
          </a:p>
        </p:txBody>
      </p:sp>
      <p:sp>
        <p:nvSpPr>
          <p:cNvPr id="17" name="step-dot-4">
            <a:extLst xmlns:a="http://schemas.openxmlformats.org/drawingml/2006/main">
              <a:ext uri="{FF2B5EF4-FFF2-40B4-BE49-F238E27FC236}">
                <a16:creationId xmlns:a16="http://schemas.microsoft.com/office/drawing/2014/main" id="{24DA844D-8A46-4B6D-805D-2F41783E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55"/>
          </a:solidFill>
          <a:ln xmlns:a="http://schemas.openxmlformats.org/drawingml/2006/main" w="9525">
            <a:solidFill>
              <a:srgbClr val="E65C55"/>
            </a:solidFill>
            <a:prstDash val="solid"/>
          </a:ln>
        </p:spPr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A999A097-2BE6-43A5-82B3-F977D02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任务变化后重做</a:t>
            </a:r>
          </a:p>
        </p:txBody>
      </p:sp>
      <p:sp>
        <p:nvSpPr>
          <p:cNvPr id="19" name="pain-summary">
            <a:extLst xmlns:a="http://schemas.openxmlformats.org/drawingml/2006/main">
              <a:ext uri="{FF2B5EF4-FFF2-40B4-BE49-F238E27FC236}">
                <a16:creationId xmlns:a16="http://schemas.microsoft.com/office/drawing/2014/main" id="{81958BA4-8532-4BB6-ADA8-2A9BA3E3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4767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0" name="auto-text-11">
            <a:extLst xmlns:a="http://schemas.openxmlformats.org/drawingml/2006/main">
              <a:ext uri="{FF2B5EF4-FFF2-40B4-BE49-F238E27FC236}">
                <a16:creationId xmlns:a16="http://schemas.microsoft.com/office/drawing/2014/main" id="{AACC5D4A-812F-4BAE-8284-C81F897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共性痛点</a:t>
            </a:r>
          </a:p>
        </p:txBody>
      </p:sp>
      <p:sp>
        <p:nvSpPr>
          <p:cNvPr id="21" name="auto-text-12">
            <a:extLst xmlns:a="http://schemas.openxmlformats.org/drawingml/2006/main">
              <a:ext uri="{FF2B5EF4-FFF2-40B4-BE49-F238E27FC236}">
                <a16:creationId xmlns:a16="http://schemas.microsoft.com/office/drawing/2014/main" id="{5DC6E27B-536D-44D3-8C87-0D6A40A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标准需要什么加什么，维度不全面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Prompt效果依赖个人经验，难以对照实验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标注、筛选和复查成本高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Pipeline难复用，任务变化后修改成本高</a:t>
            </a:r>
          </a:p>
        </p:txBody>
      </p:sp>
      <p:sp>
        <p:nvSpPr>
          <p:cNvPr id="22" name="auto-text-13">
            <a:extLst xmlns:a="http://schemas.openxmlformats.org/drawingml/2006/main">
              <a:ext uri="{FF2B5EF4-FFF2-40B4-BE49-F238E27FC236}">
                <a16:creationId xmlns:a16="http://schemas.microsoft.com/office/drawing/2014/main" id="{E6951480-EACB-4F40-AEEA-4D92AB51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0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内部证据占位</a:t>
            </a:r>
          </a:p>
        </p:txBody>
      </p:sp>
      <p:sp>
        <p:nvSpPr>
          <p:cNvPr id="23" name="prompt-shot-frame">
            <a:extLst xmlns:a="http://schemas.openxmlformats.org/drawingml/2006/main">
              <a:ext uri="{FF2B5EF4-FFF2-40B4-BE49-F238E27FC236}">
                <a16:creationId xmlns:a16="http://schemas.microsoft.com/office/drawing/2014/main" id="{307941D8-99F4-4CE9-8DA7-9637FF2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192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4" name="prompt-shot-label">
            <a:extLst xmlns:a="http://schemas.openxmlformats.org/drawingml/2006/main">
              <a:ext uri="{FF2B5EF4-FFF2-40B4-BE49-F238E27FC236}">
                <a16:creationId xmlns:a16="http://schemas.microsoft.com/office/drawing/2014/main" id="{616BFD8C-9D81-4DB6-8540-9F58CF8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145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当前质检Prompt截图</a:t>
            </a:r>
          </a:p>
        </p:txBody>
      </p:sp>
      <p:sp>
        <p:nvSpPr>
          <p:cNvPr id="25" name="prompt-shot-sub">
            <a:extLst xmlns:a="http://schemas.openxmlformats.org/drawingml/2006/main">
              <a:ext uri="{FF2B5EF4-FFF2-40B4-BE49-F238E27FC236}">
                <a16:creationId xmlns:a16="http://schemas.microsoft.com/office/drawing/2014/main" id="{42CC7503-3947-4FF7-81B5-6AD08D3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193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建议包含：质量维度、评分规则、输出格式</a:t>
            </a:r>
          </a:p>
        </p:txBody>
      </p:sp>
      <p:sp>
        <p:nvSpPr>
          <p:cNvPr id="26" name="misjudge-case-frame">
            <a:extLst xmlns:a="http://schemas.openxmlformats.org/drawingml/2006/main">
              <a:ext uri="{FF2B5EF4-FFF2-40B4-BE49-F238E27FC236}">
                <a16:creationId xmlns:a16="http://schemas.microsoft.com/office/drawing/2014/main" id="{706C0D0C-FFAB-4ED4-A260-2F70344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7" name="misjudge-case-label">
            <a:extLst xmlns:a="http://schemas.openxmlformats.org/drawingml/2006/main">
              <a:ext uri="{FF2B5EF4-FFF2-40B4-BE49-F238E27FC236}">
                <a16:creationId xmlns:a16="http://schemas.microsoft.com/office/drawing/2014/main" id="{A166AD50-1901-4677-B14C-EFB84DE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VLM误判／人工分歧案例</a:t>
            </a:r>
          </a:p>
        </p:txBody>
      </p:sp>
      <p:sp>
        <p:nvSpPr>
          <p:cNvPr id="28" name="misjudge-case-sub">
            <a:extLst xmlns:a="http://schemas.openxmlformats.org/drawingml/2006/main">
              <a:ext uri="{FF2B5EF4-FFF2-40B4-BE49-F238E27FC236}">
                <a16:creationId xmlns:a16="http://schemas.microsoft.com/office/drawing/2014/main" id="{8EDDE250-D409-4C2F-BF30-15799754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148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建议包含：输入图片、VLM结论、人工结论、分歧原因</a:t>
            </a:r>
          </a:p>
        </p:txBody>
      </p:sp>
      <p:sp>
        <p:nvSpPr>
          <p:cNvPr id="29" name="auto-text-14">
            <a:extLst xmlns:a="http://schemas.openxmlformats.org/drawingml/2006/main">
              <a:ext uri="{FF2B5EF4-FFF2-40B4-BE49-F238E27FC236}">
                <a16:creationId xmlns:a16="http://schemas.microsoft.com/office/drawing/2014/main" id="{DBC1374B-D9C8-49EC-B92A-FC49E4D6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34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现状本质：我们并非没有质检能力，而是能力分散在个人经验、Prompt和临时脚本中，尚未形成可复用的方法资产。</a:t>
            </a:r>
          </a:p>
        </p:txBody>
      </p:sp>
    </p:spTree>
    <p:extLst>
      <p:ext uri="{BB962C8B-B14F-4D97-AF65-F5344CB8AC3E}">
        <p14:creationId xmlns:p14="http://schemas.microsoft.com/office/powerpoint/2010/main" val="967765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B6941013-46C3-477F-8E5D-D625800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2BE71B8-84C8-40BD-AE49-47A76040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学术界正从“单一Judge打分”转向任务自适应的组合评估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CA15898F-CBFB-404E-BBB4-D6CBBB5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auto-text-15">
            <a:extLst xmlns:a="http://schemas.openxmlformats.org/drawingml/2006/main">
              <a:ext uri="{FF2B5EF4-FFF2-40B4-BE49-F238E27FC236}">
                <a16:creationId xmlns:a16="http://schemas.microsoft.com/office/drawing/2014/main" id="{252BBB51-4A5F-4B0D-904E-CFA897A5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2025–2026年的关键进展分布在三条路线，VLM Judge只是可被校准和组合的基础评估器之一。</a:t>
            </a:r>
          </a:p>
        </p:txBody>
      </p:sp>
      <p:sp>
        <p:nvSpPr>
          <p:cNvPr id="5" name="track-0">
            <a:extLst xmlns:a="http://schemas.openxmlformats.org/drawingml/2006/main">
              <a:ext uri="{FF2B5EF4-FFF2-40B4-BE49-F238E27FC236}">
                <a16:creationId xmlns:a16="http://schemas.microsoft.com/office/drawing/2014/main" id="{6398A8C7-79FB-49D5-A5E0-8B3FF45C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track-no-0">
            <a:extLst xmlns:a="http://schemas.openxmlformats.org/drawingml/2006/main">
              <a:ext uri="{FF2B5EF4-FFF2-40B4-BE49-F238E27FC236}">
                <a16:creationId xmlns:a16="http://schemas.microsoft.com/office/drawing/2014/main" id="{1F868107-E089-4BF1-8C00-CBDE799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7E5D3886-DD66-40EE-9DD7-2870CAF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后验校准与偏移鲁棒</a:t>
            </a:r>
          </a:p>
        </p:txBody>
      </p:sp>
      <p:sp>
        <p:nvSpPr>
          <p:cNvPr id="8" name="track-lead-0">
            <a:extLst xmlns:a="http://schemas.openxmlformats.org/drawingml/2006/main">
              <a:ext uri="{FF2B5EF4-FFF2-40B4-BE49-F238E27FC236}">
                <a16:creationId xmlns:a16="http://schemas.microsoft.com/office/drawing/2014/main" id="{54CD255A-501F-403B-8A87-A09E9CC3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用少量验证样本修正评分偏差，而不是为每个新任务重训模型。</a:t>
            </a:r>
          </a:p>
        </p:txBody>
      </p:sp>
      <p:sp>
        <p:nvSpPr>
          <p:cNvPr id="9" name="track-divider-0">
            <a:extLst xmlns:a="http://schemas.openxmlformats.org/drawingml/2006/main">
              <a:ext uri="{FF2B5EF4-FFF2-40B4-BE49-F238E27FC236}">
                <a16:creationId xmlns:a16="http://schemas.microsoft.com/office/drawing/2014/main" id="{495F3C2C-F591-49DE-906D-A64D7373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track-evidence-label-0">
            <a:extLst xmlns:a="http://schemas.openxmlformats.org/drawingml/2006/main">
              <a:ext uri="{FF2B5EF4-FFF2-40B4-BE49-F238E27FC236}">
                <a16:creationId xmlns:a16="http://schemas.microsoft.com/office/drawing/2014/main" id="{96C8F2F7-958E-4E50-8A06-01E55E0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1" name="track-evidence-0">
            <a:extLst xmlns:a="http://schemas.openxmlformats.org/drawingml/2006/main">
              <a:ext uri="{FF2B5EF4-FFF2-40B4-BE49-F238E27FC236}">
                <a16:creationId xmlns:a16="http://schemas.microsoft.com/office/drawing/2014/main" id="{6AD30619-E241-4191-BBFF-B7C0507D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可利用转移矩阵与Prompt加权，结合分数缩放和阈值校准纠正评分误差。</a:t>
            </a:r>
          </a:p>
        </p:txBody>
      </p:sp>
      <p:sp>
        <p:nvSpPr>
          <p:cNvPr id="12" name="track-signal-0">
            <a:extLst xmlns:a="http://schemas.openxmlformats.org/drawingml/2006/main">
              <a:ext uri="{FF2B5EF4-FFF2-40B4-BE49-F238E27FC236}">
                <a16:creationId xmlns:a16="http://schemas.microsoft.com/office/drawing/2014/main" id="{455D2960-83B2-452A-B1B0-BA7EE83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对应：任务偏好／分数／权重／阈值校准</a:t>
            </a:r>
          </a:p>
        </p:txBody>
      </p:sp>
      <p:sp>
        <p:nvSpPr>
          <p:cNvPr id="13" name="track-1">
            <a:extLst xmlns:a="http://schemas.openxmlformats.org/drawingml/2006/main">
              <a:ext uri="{FF2B5EF4-FFF2-40B4-BE49-F238E27FC236}">
                <a16:creationId xmlns:a16="http://schemas.microsoft.com/office/drawing/2014/main" id="{8FA1DA81-4B19-43DA-B5AA-8A5535C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  <a:prstDash val="solid"/>
          </a:ln>
        </p:spPr>
      </p:sp>
      <p:sp>
        <p:nvSpPr>
          <p:cNvPr id="14" name="track-no-1">
            <a:extLst xmlns:a="http://schemas.openxmlformats.org/drawingml/2006/main">
              <a:ext uri="{FF2B5EF4-FFF2-40B4-BE49-F238E27FC236}">
                <a16:creationId xmlns:a16="http://schemas.microsoft.com/office/drawing/2014/main" id="{8D75DFCE-72CC-42A7-9D3C-C8DB2BB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12A7E792-70C4-443E-A8C7-E6EE05F3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邻域共识与鲁棒选择</a:t>
            </a:r>
          </a:p>
        </p:txBody>
      </p:sp>
      <p:sp>
        <p:nvSpPr>
          <p:cNvPr id="16" name="track-lead-1">
            <a:extLst xmlns:a="http://schemas.openxmlformats.org/drawingml/2006/main">
              <a:ext uri="{FF2B5EF4-FFF2-40B4-BE49-F238E27FC236}">
                <a16:creationId xmlns:a16="http://schemas.microsoft.com/office/drawing/2014/main" id="{9AA5121B-611A-4576-BB9D-54F67765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不把一次Prompt或单一权重配置当作最终结论，而是在相邻偏好上形成候选池。</a:t>
            </a:r>
          </a:p>
        </p:txBody>
      </p:sp>
      <p:sp>
        <p:nvSpPr>
          <p:cNvPr id="17" name="track-divider-1">
            <a:extLst xmlns:a="http://schemas.openxmlformats.org/drawingml/2006/main">
              <a:ext uri="{FF2B5EF4-FFF2-40B4-BE49-F238E27FC236}">
                <a16:creationId xmlns:a16="http://schemas.microsoft.com/office/drawing/2014/main" id="{8B869F6D-49A9-4174-89FA-F100D34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  <a:prstDash val="solid"/>
          </a:ln>
        </p:spPr>
      </p:sp>
      <p:sp>
        <p:nvSpPr>
          <p:cNvPr id="18" name="track-evidence-label-1">
            <a:extLst xmlns:a="http://schemas.openxmlformats.org/drawingml/2006/main">
              <a:ext uri="{FF2B5EF4-FFF2-40B4-BE49-F238E27FC236}">
                <a16:creationId xmlns:a16="http://schemas.microsoft.com/office/drawing/2014/main" id="{22A82857-17F0-44C5-904E-B392A136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9" name="track-evidence-1">
            <a:extLst xmlns:a="http://schemas.openxmlformats.org/drawingml/2006/main">
              <a:ext uri="{FF2B5EF4-FFF2-40B4-BE49-F238E27FC236}">
                <a16:creationId xmlns:a16="http://schemas.microsoft.com/office/drawing/2014/main" id="{8FEFB643-914A-4EB6-B605-147DECF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2026年研究显示：无需重训练，邻域共识在长尾偏好上取得最高69%的胜率。</a:t>
            </a:r>
          </a:p>
        </p:txBody>
      </p:sp>
      <p:sp>
        <p:nvSpPr>
          <p:cNvPr id="20" name="track-signal-1">
            <a:extLst xmlns:a="http://schemas.openxmlformats.org/drawingml/2006/main">
              <a:ext uri="{FF2B5EF4-FFF2-40B4-BE49-F238E27FC236}">
                <a16:creationId xmlns:a16="http://schemas.microsoft.com/office/drawing/2014/main" id="{7CFA471F-42B2-4451-AFB5-24C6941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对应：多视角／分歧检测／保守选择</a:t>
            </a:r>
          </a:p>
        </p:txBody>
      </p:sp>
      <p:sp>
        <p:nvSpPr>
          <p:cNvPr id="21" name="track-2">
            <a:extLst xmlns:a="http://schemas.openxmlformats.org/drawingml/2006/main">
              <a:ext uri="{FF2B5EF4-FFF2-40B4-BE49-F238E27FC236}">
                <a16:creationId xmlns:a16="http://schemas.microsoft.com/office/drawing/2014/main" id="{7CC68896-D1BF-417C-809A-046A9001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22" name="track-no-2">
            <a:extLst xmlns:a="http://schemas.openxmlformats.org/drawingml/2006/main">
              <a:ext uri="{FF2B5EF4-FFF2-40B4-BE49-F238E27FC236}">
                <a16:creationId xmlns:a16="http://schemas.microsoft.com/office/drawing/2014/main" id="{B0E6DF52-3832-4A3E-A033-00BB9E36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609DA1D6-10A6-4C8C-9ED7-17DE3F4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证据核验与人机协同</a:t>
            </a:r>
          </a:p>
        </p:txBody>
      </p:sp>
      <p:sp>
        <p:nvSpPr>
          <p:cNvPr id="24" name="track-lead-2">
            <a:extLst xmlns:a="http://schemas.openxmlformats.org/drawingml/2006/main">
              <a:ext uri="{FF2B5EF4-FFF2-40B4-BE49-F238E27FC236}">
                <a16:creationId xmlns:a16="http://schemas.microsoft.com/office/drawing/2014/main" id="{8C99CC6C-01F3-406B-A3A5-8FDDEE79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模型分数必须能回到对象、属性、区域、OCR或结构化视觉证据上核验。</a:t>
            </a:r>
          </a:p>
        </p:txBody>
      </p:sp>
      <p:sp>
        <p:nvSpPr>
          <p:cNvPr id="25" name="track-divider-2">
            <a:extLst xmlns:a="http://schemas.openxmlformats.org/drawingml/2006/main">
              <a:ext uri="{FF2B5EF4-FFF2-40B4-BE49-F238E27FC236}">
                <a16:creationId xmlns:a16="http://schemas.microsoft.com/office/drawing/2014/main" id="{CE4894D4-371F-47D2-9C02-BA5C8CE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9525">
            <a:solidFill>
              <a:srgbClr val="159A91"/>
            </a:solidFill>
            <a:prstDash val="solid"/>
          </a:ln>
        </p:spPr>
      </p:sp>
      <p:sp>
        <p:nvSpPr>
          <p:cNvPr id="26" name="track-evidence-label-2">
            <a:extLst xmlns:a="http://schemas.openxmlformats.org/drawingml/2006/main">
              <a:ext uri="{FF2B5EF4-FFF2-40B4-BE49-F238E27FC236}">
                <a16:creationId xmlns:a16="http://schemas.microsoft.com/office/drawing/2014/main" id="{034CD633-6652-4F18-A84A-FA55D158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27" name="track-evidence-2">
            <a:extLst xmlns:a="http://schemas.openxmlformats.org/drawingml/2006/main">
              <a:ext uri="{FF2B5EF4-FFF2-40B4-BE49-F238E27FC236}">
                <a16:creationId xmlns:a16="http://schemas.microsoft.com/office/drawing/2014/main" id="{5DEA99E1-A642-4781-9157-6724881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研究以场景图和可执行程序核验1.06万条视觉问答，减少对主观Judge的依赖。</a:t>
            </a:r>
          </a:p>
        </p:txBody>
      </p:sp>
      <p:sp>
        <p:nvSpPr>
          <p:cNvPr id="28" name="track-signal-2">
            <a:extLst xmlns:a="http://schemas.openxmlformats.org/drawingml/2006/main">
              <a:ext uri="{FF2B5EF4-FFF2-40B4-BE49-F238E27FC236}">
                <a16:creationId xmlns:a16="http://schemas.microsoft.com/office/drawing/2014/main" id="{F27396BF-650F-4086-9F54-6B35C10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对应：证据仲裁／人工复核／闭环验证</a:t>
            </a:r>
          </a:p>
        </p:txBody>
      </p:sp>
      <p:sp>
        <p:nvSpPr>
          <p:cNvPr id="29" name="research-conclusion">
            <a:extLst xmlns:a="http://schemas.openxmlformats.org/drawingml/2006/main">
              <a:ext uri="{FF2B5EF4-FFF2-40B4-BE49-F238E27FC236}">
                <a16:creationId xmlns:a16="http://schemas.microsoft.com/office/drawing/2014/main" id="{B8E58402-5DF8-4EEA-B653-84BDF653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1163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16">
            <a:extLst xmlns:a="http://schemas.openxmlformats.org/drawingml/2006/main">
              <a:ext uri="{FF2B5EF4-FFF2-40B4-BE49-F238E27FC236}">
                <a16:creationId xmlns:a16="http://schemas.microsoft.com/office/drawing/2014/main" id="{7BD3A092-FB24-49DE-BF74-A4400A5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研究共识</a:t>
            </a:r>
          </a:p>
        </p:txBody>
      </p:sp>
      <p:sp>
        <p:nvSpPr>
          <p:cNvPr id="31" name="auto-text-17">
            <a:extLst xmlns:a="http://schemas.openxmlformats.org/drawingml/2006/main">
              <a:ext uri="{FF2B5EF4-FFF2-40B4-BE49-F238E27FC236}">
                <a16:creationId xmlns:a16="http://schemas.microsoft.com/office/drawing/2014/main" id="{E7594B1F-EA7F-465D-B5FD-3DAEC039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9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评估能力的增量来自校准、组合与核验，而不仅是更换一个更大的VLM。</a:t>
            </a:r>
          </a:p>
        </p:txBody>
      </p:sp>
      <p:sp>
        <p:nvSpPr>
          <p:cNvPr id="32" name="source-650-0.9949618410014753">
            <a:extLst xmlns:a="http://schemas.openxmlformats.org/drawingml/2006/main">
              <a:ext uri="{FF2B5EF4-FFF2-40B4-BE49-F238E27FC236}">
                <a16:creationId xmlns:a16="http://schemas.microsoft.com/office/drawing/2014/main" id="{782F995E-5684-4AEC-BC80-99D36F2A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依据：ICLR 2025／2026；ICCV 2025；AAAI 2025相关研究结论</a:t>
            </a:r>
          </a:p>
        </p:txBody>
      </p:sp>
    </p:spTree>
    <p:extLst>
      <p:ext uri="{BB962C8B-B14F-4D97-AF65-F5344CB8AC3E}">
        <p14:creationId xmlns:p14="http://schemas.microsoft.com/office/powerpoint/2010/main" val="721660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4">
            <a:extLst xmlns:a="http://schemas.openxmlformats.org/drawingml/2006/main">
              <a:ext uri="{FF2B5EF4-FFF2-40B4-BE49-F238E27FC236}">
                <a16:creationId xmlns:a16="http://schemas.microsoft.com/office/drawing/2014/main" id="{EBC5CB2B-AF5C-43E0-B182-9643E863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91CF828-4829-41B7-AEB5-71ECAC8B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头部公司已形成“任务标准＋自动Judge＋人工校准”闭环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2668C037-D015-43E7-B3BD-7FB35275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auto-text-18">
            <a:extLst xmlns:a="http://schemas.openxmlformats.org/drawingml/2006/main">
              <a:ext uri="{FF2B5EF4-FFF2-40B4-BE49-F238E27FC236}">
                <a16:creationId xmlns:a16="http://schemas.microsoft.com/office/drawing/2014/main" id="{088E5528-1BBC-44E4-9416-8F5FF3B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公开做法虽不完全相同，但都先拆解任务标准，再组合自动评估、人工验证和训练回流。</a:t>
            </a:r>
          </a:p>
        </p:txBody>
      </p:sp>
      <p:sp>
        <p:nvSpPr>
          <p:cNvPr id="5" name="auto-text-19">
            <a:extLst xmlns:a="http://schemas.openxmlformats.org/drawingml/2006/main">
              <a:ext uri="{FF2B5EF4-FFF2-40B4-BE49-F238E27FC236}">
                <a16:creationId xmlns:a16="http://schemas.microsoft.com/office/drawing/2014/main" id="{BFAFA318-6CB5-454D-80A7-F27755F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公司／团队</a:t>
            </a:r>
          </a:p>
        </p:txBody>
      </p:sp>
      <p:sp>
        <p:nvSpPr>
          <p:cNvPr id="6" name="auto-text-20">
            <a:extLst xmlns:a="http://schemas.openxmlformats.org/drawingml/2006/main">
              <a:ext uri="{FF2B5EF4-FFF2-40B4-BE49-F238E27FC236}">
                <a16:creationId xmlns:a16="http://schemas.microsoft.com/office/drawing/2014/main" id="{77BF4683-E6B5-4BA0-AECE-9D7F848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287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公开实践</a:t>
            </a:r>
          </a:p>
        </p:txBody>
      </p:sp>
      <p:sp>
        <p:nvSpPr>
          <p:cNvPr id="7" name="auto-text-21">
            <a:extLst xmlns:a="http://schemas.openxmlformats.org/drawingml/2006/main">
              <a:ext uri="{FF2B5EF4-FFF2-40B4-BE49-F238E27FC236}">
                <a16:creationId xmlns:a16="http://schemas.microsoft.com/office/drawing/2014/main" id="{4F11196A-B1E3-4295-8B22-35BA31FB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方法特征</a:t>
            </a:r>
          </a:p>
        </p:txBody>
      </p:sp>
      <p:sp>
        <p:nvSpPr>
          <p:cNvPr id="8" name="company-row-0">
            <a:extLst xmlns:a="http://schemas.openxmlformats.org/drawingml/2006/main">
              <a:ext uri="{FF2B5EF4-FFF2-40B4-BE49-F238E27FC236}">
                <a16:creationId xmlns:a16="http://schemas.microsoft.com/office/drawing/2014/main" id="{E7611890-ACA6-41B4-BFA5-3106866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F5F8FF"/>
            </a:solidFill>
            <a:prstDash val="solid"/>
          </a:ln>
        </p:spPr>
      </p:sp>
      <p:sp>
        <p:nvSpPr>
          <p:cNvPr id="9" name="company-name-0">
            <a:extLst xmlns:a="http://schemas.openxmlformats.org/drawingml/2006/main">
              <a:ext uri="{FF2B5EF4-FFF2-40B4-BE49-F238E27FC236}">
                <a16:creationId xmlns:a16="http://schemas.microsoft.com/office/drawing/2014/main" id="{89352C2B-F13B-4F67-8B57-12EB9768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company-body-0">
            <a:extLst xmlns:a="http://schemas.openxmlformats.org/drawingml/2006/main">
              <a:ext uri="{FF2B5EF4-FFF2-40B4-BE49-F238E27FC236}">
                <a16:creationId xmlns:a16="http://schemas.microsoft.com/office/drawing/2014/main" id="{DC2ECC01-F08D-49BC-BF62-2AD4FA1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954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按能力与安全风险切分评测集；用自动分类器／推理模型做离线评估，并结合对抗测试与人工规范校验。</a:t>
            </a:r>
          </a:p>
        </p:txBody>
      </p:sp>
      <p:sp>
        <p:nvSpPr>
          <p:cNvPr id="11" name="company-tag-0">
            <a:extLst xmlns:a="http://schemas.openxmlformats.org/drawingml/2006/main">
              <a:ext uri="{FF2B5EF4-FFF2-40B4-BE49-F238E27FC236}">
                <a16:creationId xmlns:a16="http://schemas.microsoft.com/office/drawing/2014/main" id="{CAE93206-F601-44C3-BADB-AE0DEC65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持续评测</a:t>
            </a:r>
          </a:p>
        </p:txBody>
      </p:sp>
      <p:sp>
        <p:nvSpPr>
          <p:cNvPr id="12" name="company-row-1">
            <a:extLst xmlns:a="http://schemas.openxmlformats.org/drawingml/2006/main">
              <a:ext uri="{FF2B5EF4-FFF2-40B4-BE49-F238E27FC236}">
                <a16:creationId xmlns:a16="http://schemas.microsoft.com/office/drawing/2014/main" id="{CD0F52CC-B5E5-4714-98FA-C98345A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6FF"/>
          </a:solidFill>
          <a:ln xmlns:a="http://schemas.openxmlformats.org/drawingml/2006/main" w="9525">
            <a:solidFill>
              <a:srgbClr val="F8F6FF"/>
            </a:solidFill>
            <a:prstDash val="solid"/>
          </a:ln>
        </p:spPr>
      </p:sp>
      <p:sp>
        <p:nvSpPr>
          <p:cNvPr id="13" name="company-name-1">
            <a:extLst xmlns:a="http://schemas.openxmlformats.org/drawingml/2006/main">
              <a:ext uri="{FF2B5EF4-FFF2-40B4-BE49-F238E27FC236}">
                <a16:creationId xmlns:a16="http://schemas.microsoft.com/office/drawing/2014/main" id="{012E1FAB-D3BF-46ED-82EF-28913DC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阿里 Qwen</a:t>
            </a:r>
          </a:p>
        </p:txBody>
      </p:sp>
      <p:sp>
        <p:nvSpPr>
          <p:cNvPr id="14" name="company-body-1">
            <a:extLst xmlns:a="http://schemas.openxmlformats.org/drawingml/2006/main">
              <a:ext uri="{FF2B5EF4-FFF2-40B4-BE49-F238E27FC236}">
                <a16:creationId xmlns:a16="http://schemas.microsoft.com/office/drawing/2014/main" id="{8F8AB7C6-84A0-49CE-996E-B8F48F82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98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建设多级图像评测体系；专用 Q-Judger 按5个一级维度、56个细粒度因素评分，并结合公开基准与盲测。</a:t>
            </a:r>
          </a:p>
        </p:txBody>
      </p:sp>
      <p:sp>
        <p:nvSpPr>
          <p:cNvPr id="15" name="company-tag-1">
            <a:extLst xmlns:a="http://schemas.openxmlformats.org/drawingml/2006/main">
              <a:ext uri="{FF2B5EF4-FFF2-40B4-BE49-F238E27FC236}">
                <a16:creationId xmlns:a16="http://schemas.microsoft.com/office/drawing/2014/main" id="{BC2DC7C1-5895-4AB0-8198-AC0A49D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专用 Judge</a:t>
            </a:r>
          </a:p>
        </p:txBody>
      </p:sp>
      <p:sp>
        <p:nvSpPr>
          <p:cNvPr id="16" name="company-row-2">
            <a:extLst xmlns:a="http://schemas.openxmlformats.org/drawingml/2006/main">
              <a:ext uri="{FF2B5EF4-FFF2-40B4-BE49-F238E27FC236}">
                <a16:creationId xmlns:a16="http://schemas.microsoft.com/office/drawing/2014/main" id="{4E661D3D-07B8-4350-ADDC-6B8CE7C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5"/>
          </a:solidFill>
          <a:ln xmlns:a="http://schemas.openxmlformats.org/drawingml/2006/main" w="9525">
            <a:solidFill>
              <a:srgbClr val="FFF7F5"/>
            </a:solidFill>
            <a:prstDash val="solid"/>
          </a:ln>
        </p:spPr>
      </p:sp>
      <p:sp>
        <p:nvSpPr>
          <p:cNvPr id="17" name="company-name-2">
            <a:extLst xmlns:a="http://schemas.openxmlformats.org/drawingml/2006/main">
              <a:ext uri="{FF2B5EF4-FFF2-40B4-BE49-F238E27FC236}">
                <a16:creationId xmlns:a16="http://schemas.microsoft.com/office/drawing/2014/main" id="{F3C22F4D-282A-4D80-B652-83D4056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字节 Seed</a:t>
            </a:r>
          </a:p>
        </p:txBody>
      </p:sp>
      <p:sp>
        <p:nvSpPr>
          <p:cNvPr id="18" name="company-body-2">
            <a:extLst xmlns:a="http://schemas.openxmlformats.org/drawingml/2006/main">
              <a:ext uri="{FF2B5EF4-FFF2-40B4-BE49-F238E27FC236}">
                <a16:creationId xmlns:a16="http://schemas.microsoft.com/office/drawing/2014/main" id="{D1927DAA-FB6B-4B2E-9C9C-A7A9401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242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覆盖23类图像编辑子任务；CLIP评一致性、第三方VLM评指令响应，再以人工可用率验证最终效果。</a:t>
            </a:r>
          </a:p>
        </p:txBody>
      </p:sp>
      <p:sp>
        <p:nvSpPr>
          <p:cNvPr id="19" name="company-tag-2">
            <a:extLst xmlns:a="http://schemas.openxmlformats.org/drawingml/2006/main">
              <a:ext uri="{FF2B5EF4-FFF2-40B4-BE49-F238E27FC236}">
                <a16:creationId xmlns:a16="http://schemas.microsoft.com/office/drawing/2014/main" id="{8B4A5D16-0C80-473B-94F4-E515B51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混合指标</a:t>
            </a:r>
          </a:p>
        </p:txBody>
      </p:sp>
      <p:sp>
        <p:nvSpPr>
          <p:cNvPr id="20" name="company-row-3">
            <a:extLst xmlns:a="http://schemas.openxmlformats.org/drawingml/2006/main">
              <a:ext uri="{FF2B5EF4-FFF2-40B4-BE49-F238E27FC236}">
                <a16:creationId xmlns:a16="http://schemas.microsoft.com/office/drawing/2014/main" id="{C28142B6-6F45-47D6-B9B5-1449F70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BFA"/>
          </a:solidFill>
          <a:ln xmlns:a="http://schemas.openxmlformats.org/drawingml/2006/main" w="9525">
            <a:solidFill>
              <a:srgbClr val="F3FBFA"/>
            </a:solidFill>
            <a:prstDash val="solid"/>
          </a:ln>
        </p:spPr>
      </p:sp>
      <p:sp>
        <p:nvSpPr>
          <p:cNvPr id="21" name="company-name-3">
            <a:extLst xmlns:a="http://schemas.openxmlformats.org/drawingml/2006/main">
              <a:ext uri="{FF2B5EF4-FFF2-40B4-BE49-F238E27FC236}">
                <a16:creationId xmlns:a16="http://schemas.microsoft.com/office/drawing/2014/main" id="{605BCE7D-08FF-4375-94D0-6EC289B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腾讯混元</a:t>
            </a:r>
          </a:p>
        </p:txBody>
      </p:sp>
      <p:sp>
        <p:nvSpPr>
          <p:cNvPr id="22" name="company-body-3">
            <a:extLst xmlns:a="http://schemas.openxmlformats.org/drawingml/2006/main">
              <a:ext uri="{FF2B5EF4-FFF2-40B4-BE49-F238E27FC236}">
                <a16:creationId xmlns:a16="http://schemas.microsoft.com/office/drawing/2014/main" id="{5645D030-B300-4543-B866-42D95ED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386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SSAE将提示词拆成3500个关键点／12类，由MLLM逐点评分；同时以100+专业评估员开展GSB对比。</a:t>
            </a:r>
          </a:p>
        </p:txBody>
      </p:sp>
      <p:sp>
        <p:nvSpPr>
          <p:cNvPr id="23" name="company-tag-3">
            <a:extLst xmlns:a="http://schemas.openxmlformats.org/drawingml/2006/main">
              <a:ext uri="{FF2B5EF4-FFF2-40B4-BE49-F238E27FC236}">
                <a16:creationId xmlns:a16="http://schemas.microsoft.com/office/drawing/2014/main" id="{126C9D86-5C4A-423A-8F8A-64283A0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检查点＋人工</a:t>
            </a:r>
          </a:p>
        </p:txBody>
      </p:sp>
      <p:sp>
        <p:nvSpPr>
          <p:cNvPr id="24" name="company-conclusion">
            <a:extLst xmlns:a="http://schemas.openxmlformats.org/drawingml/2006/main">
              <a:ext uri="{FF2B5EF4-FFF2-40B4-BE49-F238E27FC236}">
                <a16:creationId xmlns:a16="http://schemas.microsoft.com/office/drawing/2014/main" id="{85371D0C-3110-4F0D-94F5-BF3D3DB9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25" name="auto-text-22">
            <a:extLst xmlns:a="http://schemas.openxmlformats.org/drawingml/2006/main">
              <a:ext uri="{FF2B5EF4-FFF2-40B4-BE49-F238E27FC236}">
                <a16:creationId xmlns:a16="http://schemas.microsoft.com/office/drawing/2014/main" id="{BD51EBA6-27C8-4041-9C7C-8947EE7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行业共识</a:t>
            </a:r>
          </a:p>
        </p:txBody>
      </p:sp>
      <p:sp>
        <p:nvSpPr>
          <p:cNvPr id="26" name="auto-text-23">
            <a:extLst xmlns:a="http://schemas.openxmlformats.org/drawingml/2006/main">
              <a:ext uri="{FF2B5EF4-FFF2-40B4-BE49-F238E27FC236}">
                <a16:creationId xmlns:a16="http://schemas.microsoft.com/office/drawing/2014/main" id="{F91F839B-CF79-4361-8437-DBAF457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通用模型只是底座；真正拉开效果的是任务Rubric、评价器组合、人工校准与持续回流。</a:t>
            </a:r>
          </a:p>
        </p:txBody>
      </p:sp>
      <p:sp>
        <p:nvSpPr>
          <p:cNvPr id="27" name="source-650-0.7902498349186582">
            <a:extLst xmlns:a="http://schemas.openxmlformats.org/drawingml/2006/main">
              <a:ext uri="{FF2B5EF4-FFF2-40B4-BE49-F238E27FC236}">
                <a16:creationId xmlns:a16="http://schemas.microsoft.com/office/drawing/2014/main" id="{9D6AEC30-90A0-46E5-B7FF-2542C7C0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公开资料：OpenAI Images 2.0；Qwen-Image-Bench；SeedEdit 3.0；HunyuanImage 3.0</a:t>
            </a:r>
          </a:p>
        </p:txBody>
      </p:sp>
    </p:spTree>
    <p:extLst>
      <p:ext uri="{BB962C8B-B14F-4D97-AF65-F5344CB8AC3E}">
        <p14:creationId xmlns:p14="http://schemas.microsoft.com/office/powerpoint/2010/main" val="290815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5">
            <a:extLst xmlns:a="http://schemas.openxmlformats.org/drawingml/2006/main">
              <a:ext uri="{FF2B5EF4-FFF2-40B4-BE49-F238E27FC236}">
                <a16:creationId xmlns:a16="http://schemas.microsoft.com/office/drawing/2014/main" id="{B3E3BA5E-0989-4D7A-A92C-6BFDB8C9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4D0602B-CE12-482A-96C4-96E8F792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项目将多源评估器组合为任务自适应质量能力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30480D74-C7DA-49D8-B0D8-0C04C3A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auto-text-24">
            <a:extLst xmlns:a="http://schemas.openxmlformats.org/drawingml/2006/main">
              <a:ext uri="{FF2B5EF4-FFF2-40B4-BE49-F238E27FC236}">
                <a16:creationId xmlns:a16="http://schemas.microsoft.com/office/drawing/2014/main" id="{0378314D-BA51-4E66-8A23-58E04F1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不重建生产平台：输入任务要求、少量专家样本和既有评估结果，经三类上层算法形成可复用输出。</a:t>
            </a:r>
          </a:p>
        </p:txBody>
      </p:sp>
      <p:sp>
        <p:nvSpPr>
          <p:cNvPr id="5" name="input-node">
            <a:extLst xmlns:a="http://schemas.openxmlformats.org/drawingml/2006/main">
              <a:ext uri="{FF2B5EF4-FFF2-40B4-BE49-F238E27FC236}">
                <a16:creationId xmlns:a16="http://schemas.microsoft.com/office/drawing/2014/main" id="{4D8038A5-C3DA-48E5-BA09-7C01EF8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571750" cy="36004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" name="auto-text-25">
            <a:extLst xmlns:a="http://schemas.openxmlformats.org/drawingml/2006/main">
              <a:ext uri="{FF2B5EF4-FFF2-40B4-BE49-F238E27FC236}">
                <a16:creationId xmlns:a16="http://schemas.microsoft.com/office/drawing/2014/main" id="{A1B12F8F-00AD-4936-8951-2DB607F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输入与底座</a:t>
            </a:r>
          </a:p>
        </p:txBody>
      </p:sp>
      <p:sp>
        <p:nvSpPr>
          <p:cNvPr id="7" name="auto-text-26">
            <a:extLst xmlns:a="http://schemas.openxmlformats.org/drawingml/2006/main">
              <a:ext uri="{FF2B5EF4-FFF2-40B4-BE49-F238E27FC236}">
                <a16:creationId xmlns:a16="http://schemas.microsoft.com/office/drawing/2014/main" id="{6738F80A-4592-48C8-99F8-845C4883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任务描述与质量维度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少量验证样本／专家偏好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已有规则、Prompt和评估结果</a:t>
            </a:r>
          </a:p>
        </p:txBody>
      </p:sp>
      <p:sp>
        <p:nvSpPr>
          <p:cNvPr id="8" name="input-divider">
            <a:extLst xmlns:a="http://schemas.openxmlformats.org/drawingml/2006/main">
              <a:ext uri="{FF2B5EF4-FFF2-40B4-BE49-F238E27FC236}">
                <a16:creationId xmlns:a16="http://schemas.microsoft.com/office/drawing/2014/main" id="{9544057F-49BB-4BBC-B121-0A157B9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095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auto-text-27">
            <a:extLst xmlns:a="http://schemas.openxmlformats.org/drawingml/2006/main">
              <a:ext uri="{FF2B5EF4-FFF2-40B4-BE49-F238E27FC236}">
                <a16:creationId xmlns:a16="http://schemas.microsoft.com/office/drawing/2014/main" id="{761C8248-4EF6-4E79-B27F-26D9CE6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评估器池</a:t>
            </a:r>
          </a:p>
        </p:txBody>
      </p:sp>
      <p:sp>
        <p:nvSpPr>
          <p:cNvPr id="10" name="auto-text-28">
            <a:extLst xmlns:a="http://schemas.openxmlformats.org/drawingml/2006/main">
              <a:ext uri="{FF2B5EF4-FFF2-40B4-BE49-F238E27FC236}">
                <a16:creationId xmlns:a16="http://schemas.microsoft.com/office/drawing/2014/main" id="{B93B7AE2-C926-46A6-A2A2-C76E9F4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VLM／CLIP／DINO／LPIPS</a:t>
            </a:r>
          </a:p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OCR／检测／定位／业务规则</a:t>
            </a:r>
          </a:p>
        </p:txBody>
      </p:sp>
      <p:sp>
        <p:nvSpPr>
          <p:cNvPr id="11" name="auto-text-29">
            <a:extLst xmlns:a="http://schemas.openxmlformats.org/drawingml/2006/main">
              <a:ext uri="{FF2B5EF4-FFF2-40B4-BE49-F238E27FC236}">
                <a16:creationId xmlns:a16="http://schemas.microsoft.com/office/drawing/2014/main" id="{31949251-3A25-4CC9-AF9F-8C0DAF8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adaptive-node">
            <a:extLst xmlns:a="http://schemas.openxmlformats.org/drawingml/2006/main">
              <a:ext uri="{FF2B5EF4-FFF2-40B4-BE49-F238E27FC236}">
                <a16:creationId xmlns:a16="http://schemas.microsoft.com/office/drawing/2014/main" id="{1854C3A6-2FEE-4111-A11F-26F7D2F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66850"/>
            <a:ext cx="51625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3" name="auto-text-30">
            <a:extLst xmlns:a="http://schemas.openxmlformats.org/drawingml/2006/main">
              <a:ext uri="{FF2B5EF4-FFF2-40B4-BE49-F238E27FC236}">
                <a16:creationId xmlns:a16="http://schemas.microsoft.com/office/drawing/2014/main" id="{A0319CDF-BDF1-4A95-B8AC-B630B27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任务自适应质量评估层</a:t>
            </a:r>
          </a:p>
        </p:txBody>
      </p:sp>
      <p:sp>
        <p:nvSpPr>
          <p:cNvPr id="14" name="module-no-0">
            <a:extLst xmlns:a="http://schemas.openxmlformats.org/drawingml/2006/main">
              <a:ext uri="{FF2B5EF4-FFF2-40B4-BE49-F238E27FC236}">
                <a16:creationId xmlns:a16="http://schemas.microsoft.com/office/drawing/2014/main" id="{CBF01D96-5D2B-4CF7-8D91-897D3EE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module-title-0">
            <a:extLst xmlns:a="http://schemas.openxmlformats.org/drawingml/2006/main">
              <a:ext uri="{FF2B5EF4-FFF2-40B4-BE49-F238E27FC236}">
                <a16:creationId xmlns:a16="http://schemas.microsoft.com/office/drawing/2014/main" id="{6F69F385-A669-48BC-BC04-EB6E7719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任务偏好建模与后验校准</a:t>
            </a:r>
          </a:p>
        </p:txBody>
      </p:sp>
      <p:sp>
        <p:nvSpPr>
          <p:cNvPr id="16" name="module-body-0">
            <a:extLst xmlns:a="http://schemas.openxmlformats.org/drawingml/2006/main">
              <a:ext uri="{FF2B5EF4-FFF2-40B4-BE49-F238E27FC236}">
                <a16:creationId xmlns:a16="http://schemas.microsoft.com/office/drawing/2014/main" id="{1F43DCD6-7969-40E0-A62E-F2300BB9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校准分数、维度权重、阈值与置信度</a:t>
            </a:r>
          </a:p>
        </p:txBody>
      </p:sp>
      <p:sp>
        <p:nvSpPr>
          <p:cNvPr id="17" name="module-no-1">
            <a:extLst xmlns:a="http://schemas.openxmlformats.org/drawingml/2006/main">
              <a:ext uri="{FF2B5EF4-FFF2-40B4-BE49-F238E27FC236}">
                <a16:creationId xmlns:a16="http://schemas.microsoft.com/office/drawing/2014/main" id="{CB7CABFA-AD97-44CB-AC9D-BD72C59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module-title-1">
            <a:extLst xmlns:a="http://schemas.openxmlformats.org/drawingml/2006/main">
              <a:ext uri="{FF2B5EF4-FFF2-40B4-BE49-F238E27FC236}">
                <a16:creationId xmlns:a16="http://schemas.microsoft.com/office/drawing/2014/main" id="{151D5F93-0FCF-4BEE-9000-056D675D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邻域共识与分歧鲁棒选择</a:t>
            </a:r>
          </a:p>
        </p:txBody>
      </p:sp>
      <p:sp>
        <p:nvSpPr>
          <p:cNvPr id="19" name="module-body-1">
            <a:extLst xmlns:a="http://schemas.openxmlformats.org/drawingml/2006/main">
              <a:ext uri="{FF2B5EF4-FFF2-40B4-BE49-F238E27FC236}">
                <a16:creationId xmlns:a16="http://schemas.microsoft.com/office/drawing/2014/main" id="{D0C46A6A-7C1C-427C-B717-588C415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聚合相邻Rubric／Prompt，对分歧样本保守判定</a:t>
            </a:r>
          </a:p>
        </p:txBody>
      </p:sp>
      <p:sp>
        <p:nvSpPr>
          <p:cNvPr id="20" name="module-no-2">
            <a:extLst xmlns:a="http://schemas.openxmlformats.org/drawingml/2006/main">
              <a:ext uri="{FF2B5EF4-FFF2-40B4-BE49-F238E27FC236}">
                <a16:creationId xmlns:a16="http://schemas.microsoft.com/office/drawing/2014/main" id="{998585AA-12B0-45B2-BD19-948BD92A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52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module-title-2">
            <a:extLst xmlns:a="http://schemas.openxmlformats.org/drawingml/2006/main">
              <a:ext uri="{FF2B5EF4-FFF2-40B4-BE49-F238E27FC236}">
                <a16:creationId xmlns:a16="http://schemas.microsoft.com/office/drawing/2014/main" id="{867F60C0-3D22-452D-857B-D2986DE3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图文证据核验与闭环验证</a:t>
            </a:r>
          </a:p>
        </p:txBody>
      </p:sp>
      <p:sp>
        <p:nvSpPr>
          <p:cNvPr id="22" name="module-body-2">
            <a:extLst xmlns:a="http://schemas.openxmlformats.org/drawingml/2006/main">
              <a:ext uri="{FF2B5EF4-FFF2-40B4-BE49-F238E27FC236}">
                <a16:creationId xmlns:a16="http://schemas.microsoft.com/office/drawing/2014/main" id="{FA8F96F0-F5BC-44D6-88F3-0842F05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核验对象、属性、数量、关系，并验证下游增益</a:t>
            </a:r>
          </a:p>
        </p:txBody>
      </p:sp>
      <p:sp>
        <p:nvSpPr>
          <p:cNvPr id="23" name="auto-text-31">
            <a:extLst xmlns:a="http://schemas.openxmlformats.org/drawingml/2006/main">
              <a:ext uri="{FF2B5EF4-FFF2-40B4-BE49-F238E27FC236}">
                <a16:creationId xmlns:a16="http://schemas.microsoft.com/office/drawing/2014/main" id="{DF9DA4FF-F97E-42EC-A8DF-2E335DA3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output-node">
            <a:extLst xmlns:a="http://schemas.openxmlformats.org/drawingml/2006/main">
              <a:ext uri="{FF2B5EF4-FFF2-40B4-BE49-F238E27FC236}">
                <a16:creationId xmlns:a16="http://schemas.microsoft.com/office/drawing/2014/main" id="{5D31F80A-2788-4A91-8160-CAE046F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552700" cy="36004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5" name="auto-text-32">
            <a:extLst xmlns:a="http://schemas.openxmlformats.org/drawingml/2006/main">
              <a:ext uri="{FF2B5EF4-FFF2-40B4-BE49-F238E27FC236}">
                <a16:creationId xmlns:a16="http://schemas.microsoft.com/office/drawing/2014/main" id="{08FB96D5-15BF-4EE3-A61B-1FEC5A35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预期能力</a:t>
            </a:r>
          </a:p>
        </p:txBody>
      </p:sp>
      <p:sp>
        <p:nvSpPr>
          <p:cNvPr id="26" name="auto-text-33">
            <a:extLst xmlns:a="http://schemas.openxmlformats.org/drawingml/2006/main">
              <a:ext uri="{FF2B5EF4-FFF2-40B4-BE49-F238E27FC236}">
                <a16:creationId xmlns:a16="http://schemas.microsoft.com/office/drawing/2014/main" id="{DE198FC0-C0D6-445B-9B06-F3A8DDF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2057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任务适配的质量分数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高／低质量筛选结论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问题标签与证据摘要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置信度与人工复核建议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可复用接口与评测脚本</a:t>
            </a:r>
          </a:p>
        </p:txBody>
      </p:sp>
      <p:sp>
        <p:nvSpPr>
          <p:cNvPr id="27" name="scenario-band">
            <a:extLst xmlns:a="http://schemas.openxmlformats.org/drawingml/2006/main">
              <a:ext uri="{FF2B5EF4-FFF2-40B4-BE49-F238E27FC236}">
                <a16:creationId xmlns:a16="http://schemas.microsoft.com/office/drawing/2014/main" id="{8D24DCD0-9E17-46C6-AD22-EB99439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7810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8" name="auto-text-34">
            <a:extLst xmlns:a="http://schemas.openxmlformats.org/drawingml/2006/main">
              <a:ext uri="{FF2B5EF4-FFF2-40B4-BE49-F238E27FC236}">
                <a16:creationId xmlns:a16="http://schemas.microsoft.com/office/drawing/2014/main" id="{F33F449C-8BBD-482A-9DBC-FAEC8684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首批验证：多图编辑＋AIGC图库　｜　后续泛化：盲超分＋颜色标注</a:t>
            </a:r>
          </a:p>
        </p:txBody>
      </p:sp>
      <p:sp>
        <p:nvSpPr>
          <p:cNvPr id="29" name="current-pipeline-frame">
            <a:extLst xmlns:a="http://schemas.openxmlformats.org/drawingml/2006/main">
              <a:ext uri="{FF2B5EF4-FFF2-40B4-BE49-F238E27FC236}">
                <a16:creationId xmlns:a16="http://schemas.microsoft.com/office/drawing/2014/main" id="{AF3ADABF-879A-41A0-A097-571174D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05450"/>
            <a:ext cx="3105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30" name="current-pipeline-label">
            <a:extLst xmlns:a="http://schemas.openxmlformats.org/drawingml/2006/main">
              <a:ext uri="{FF2B5EF4-FFF2-40B4-BE49-F238E27FC236}">
                <a16:creationId xmlns:a16="http://schemas.microsoft.com/office/drawing/2014/main" id="{B379B2A8-BFF3-4E13-BE68-32BE63A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43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可选｜现有质检Pipeline截图</a:t>
            </a:r>
          </a:p>
        </p:txBody>
      </p:sp>
      <p:sp>
        <p:nvSpPr>
          <p:cNvPr id="31" name="current-pipeline-sub">
            <a:extLst xmlns:a="http://schemas.openxmlformats.org/drawingml/2006/main">
              <a:ext uri="{FF2B5EF4-FFF2-40B4-BE49-F238E27FC236}">
                <a16:creationId xmlns:a16="http://schemas.microsoft.com/office/drawing/2014/main" id="{7B2F3CF7-64BF-453C-BA5D-797F9FC4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84835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如无材料可删除此框</a:t>
            </a:r>
          </a:p>
        </p:txBody>
      </p:sp>
      <p:sp>
        <p:nvSpPr>
          <p:cNvPr id="32" name="auto-text-35">
            <a:extLst xmlns:a="http://schemas.openxmlformats.org/drawingml/2006/main">
              <a:ext uri="{FF2B5EF4-FFF2-40B4-BE49-F238E27FC236}">
                <a16:creationId xmlns:a16="http://schemas.microsoft.com/office/drawing/2014/main" id="{238B32CC-1D7D-4596-9F8C-6E8D49D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定位：VLM Judge是输入之一；高校交付算法原型与评测方法，公司负责业务数据和平台集成。</a:t>
            </a:r>
          </a:p>
        </p:txBody>
      </p:sp>
    </p:spTree>
    <p:extLst>
      <p:ext uri="{BB962C8B-B14F-4D97-AF65-F5344CB8AC3E}">
        <p14:creationId xmlns:p14="http://schemas.microsoft.com/office/powerpoint/2010/main" val="832923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6">
            <a:extLst xmlns:a="http://schemas.openxmlformats.org/drawingml/2006/main">
              <a:ext uri="{FF2B5EF4-FFF2-40B4-BE49-F238E27FC236}">
                <a16:creationId xmlns:a16="http://schemas.microsoft.com/office/drawing/2014/main" id="{C17D4E4D-DB7B-44AB-B843-EB27F944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BCB0084-B737-4F88-929A-99BC4E5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合作项目将把临时质检方案沉淀为可复用、可验证的质量能力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780CC468-490B-486A-A174-CCB75AD5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auto-text-36">
            <a:extLst xmlns:a="http://schemas.openxmlformats.org/drawingml/2006/main">
              <a:ext uri="{FF2B5EF4-FFF2-40B4-BE49-F238E27FC236}">
                <a16:creationId xmlns:a16="http://schemas.microsoft.com/office/drawing/2014/main" id="{8F9B23C9-3925-4C30-BCC2-44B23E0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项目价值不仅是提高一次筛选准确率，更重要的是形成可服务多个图像项目的共同能力。</a:t>
            </a:r>
          </a:p>
        </p:txBody>
      </p:sp>
      <p:sp>
        <p:nvSpPr>
          <p:cNvPr id="5" name="value-0">
            <a:extLst xmlns:a="http://schemas.openxmlformats.org/drawingml/2006/main">
              <a:ext uri="{FF2B5EF4-FFF2-40B4-BE49-F238E27FC236}">
                <a16:creationId xmlns:a16="http://schemas.microsoft.com/office/drawing/2014/main" id="{BD25ED19-8A51-4802-B230-2E6BDDD3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C73AE096-0CF6-446D-9F3D-81E6626A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EE488468-D7E1-4FB3-B498-FD1351F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减少重复设计和搭建质检流程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将人工集中到困难和高风险样本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缩短新任务质量标准落地周期</a:t>
            </a:r>
          </a:p>
        </p:txBody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B9F995DF-6064-457E-81E7-3A015FD5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9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8223B2BB-CB94-477A-986A-CEE8835F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技术价值</a:t>
            </a:r>
          </a:p>
        </p:txBody>
      </p:sp>
      <p:sp>
        <p:nvSpPr>
          <p:cNvPr id="10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32C62C97-AFB9-41FA-BCE2-0B2FAE21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建立系统化Rubric和验证协议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让Prompt、权重和阈值可实验比较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输出分数、证据、置信度与复核建议</a:t>
            </a:r>
          </a:p>
        </p:txBody>
      </p:sp>
      <p:sp>
        <p:nvSpPr>
          <p:cNvPr id="11" name="value-2">
            <a:extLst xmlns:a="http://schemas.openxmlformats.org/drawingml/2006/main">
              <a:ext uri="{FF2B5EF4-FFF2-40B4-BE49-F238E27FC236}">
                <a16:creationId xmlns:a16="http://schemas.microsoft.com/office/drawing/2014/main" id="{D116944D-F4CD-47FB-8AB2-DE2254F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  <a:prstDash val="solid"/>
          </a:ln>
        </p:spPr>
      </p:sp>
      <p:sp>
        <p:nvSpPr>
          <p:cNvPr id="12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0DC047BF-E1A3-4D42-862C-92921D0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rPr>
              <a:t>长期资产</a:t>
            </a:r>
          </a:p>
        </p:txBody>
      </p:sp>
      <p:sp>
        <p:nvSpPr>
          <p:cNvPr id="13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7EF21327-71E0-4394-8127-D2EF507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沉淀跨项目可复用Pipeline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积累验证集、失败案例和专家偏好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形成接口、论文和专利成果</a:t>
            </a:r>
          </a:p>
        </p:txBody>
      </p:sp>
      <p:sp>
        <p:nvSpPr>
          <p:cNvPr id="14" name="auto-text-37">
            <a:extLst xmlns:a="http://schemas.openxmlformats.org/drawingml/2006/main">
              <a:ext uri="{FF2B5EF4-FFF2-40B4-BE49-F238E27FC236}">
                <a16:creationId xmlns:a16="http://schemas.microsoft.com/office/drawing/2014/main" id="{05BA61DB-B6F5-4EAA-8C9E-08FBA95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SOW项目目标（非现有成果）</a:t>
            </a:r>
          </a:p>
        </p:txBody>
      </p:sp>
      <p:sp>
        <p:nvSpPr>
          <p:cNvPr id="15" name="metric-0">
            <a:extLst xmlns:a="http://schemas.openxmlformats.org/drawingml/2006/main">
              <a:ext uri="{FF2B5EF4-FFF2-40B4-BE49-F238E27FC236}">
                <a16:creationId xmlns:a16="http://schemas.microsoft.com/office/drawing/2014/main" id="{8CC348DC-A964-4ACB-AAEB-DFF3CEB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6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F94F2066-9E94-473C-AB48-ECF6741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+10pp</a:t>
            </a:r>
          </a:p>
        </p:txBody>
      </p:sp>
      <p:sp>
        <p:nvSpPr>
          <p:cNvPr id="1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8841F40-2254-40A2-B57C-CF5E0D6E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人机一致率提升</a:t>
            </a:r>
          </a:p>
        </p:txBody>
      </p:sp>
      <p:sp>
        <p:nvSpPr>
          <p:cNvPr id="18" name="metric-1">
            <a:extLst xmlns:a="http://schemas.openxmlformats.org/drawingml/2006/main">
              <a:ext uri="{FF2B5EF4-FFF2-40B4-BE49-F238E27FC236}">
                <a16:creationId xmlns:a16="http://schemas.microsoft.com/office/drawing/2014/main" id="{8C80D11B-2B87-4BAD-8D09-71F8B653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D0640045-40FA-4B44-A585-3D6E9D9A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≥85%</a:t>
            </a:r>
          </a:p>
        </p:txBody>
      </p:sp>
      <p:sp>
        <p:nvSpPr>
          <p:cNvPr id="2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DE284C8-FBB3-4CF5-853F-CE19003A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4895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低质量召回</a:t>
            </a:r>
          </a:p>
        </p:txBody>
      </p:sp>
      <p:sp>
        <p:nvSpPr>
          <p:cNvPr id="21" name="metric-2">
            <a:extLst xmlns:a="http://schemas.openxmlformats.org/drawingml/2006/main">
              <a:ext uri="{FF2B5EF4-FFF2-40B4-BE49-F238E27FC236}">
                <a16:creationId xmlns:a16="http://schemas.microsoft.com/office/drawing/2014/main" id="{92996F2A-1AEC-40C5-A228-3FEE452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C217602C-1179-4157-AD84-6DC868BD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≥88%</a:t>
            </a:r>
          </a:p>
        </p:txBody>
      </p:sp>
      <p:sp>
        <p:nvSpPr>
          <p:cNvPr id="2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B62CB90-13CF-4CC9-9CC6-0F7989FD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895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高置信优质准确率</a:t>
            </a:r>
          </a:p>
        </p:txBody>
      </p:sp>
      <p:sp>
        <p:nvSpPr>
          <p:cNvPr id="24" name="metric-3">
            <a:extLst xmlns:a="http://schemas.openxmlformats.org/drawingml/2006/main">
              <a:ext uri="{FF2B5EF4-FFF2-40B4-BE49-F238E27FC236}">
                <a16:creationId xmlns:a16="http://schemas.microsoft.com/office/drawing/2014/main" id="{D2E06B93-5C05-43B1-B9DF-F5CC87F1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389C2B2B-361D-464E-8468-0390337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−30%</a:t>
            </a:r>
          </a:p>
        </p:txBody>
      </p:sp>
      <p:sp>
        <p:nvSpPr>
          <p:cNvPr id="2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36FAFBE-9D83-4AC9-88B7-2184ED34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895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平均评估成本</a:t>
            </a:r>
          </a:p>
        </p:txBody>
      </p:sp>
      <p:sp>
        <p:nvSpPr>
          <p:cNvPr id="27" name="metric-4">
            <a:extLst xmlns:a="http://schemas.openxmlformats.org/drawingml/2006/main">
              <a:ext uri="{FF2B5EF4-FFF2-40B4-BE49-F238E27FC236}">
                <a16:creationId xmlns:a16="http://schemas.microsoft.com/office/drawing/2014/main" id="{647B269F-01D5-4E74-B172-2B5857A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8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2C8F49CC-EB3B-4649-BC2D-A1CC41BB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−35%</a:t>
            </a:r>
          </a:p>
        </p:txBody>
      </p:sp>
      <p:sp>
        <p:nvSpPr>
          <p:cNvPr id="29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AD286D52-591E-44E8-A03F-C2EE933E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895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人工复核量</a:t>
            </a:r>
          </a:p>
        </p:txBody>
      </p:sp>
      <p:sp>
        <p:nvSpPr>
          <p:cNvPr id="30" name="auto-text-38">
            <a:extLst xmlns:a="http://schemas.openxmlformats.org/drawingml/2006/main">
              <a:ext uri="{FF2B5EF4-FFF2-40B4-BE49-F238E27FC236}">
                <a16:creationId xmlns:a16="http://schemas.microsoft.com/office/drawing/2014/main" id="{5DCC531F-0D2C-447A-9A18-DD62ABF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内部基线待补充：单样本成本／人工复核比例／新项目质检管线搭建周期</a:t>
            </a:r>
          </a:p>
        </p:txBody>
      </p:sp>
      <p:sp>
        <p:nvSpPr>
          <p:cNvPr id="31" name="approval-band">
            <a:extLst xmlns:a="http://schemas.openxmlformats.org/drawingml/2006/main">
              <a:ext uri="{FF2B5EF4-FFF2-40B4-BE49-F238E27FC236}">
                <a16:creationId xmlns:a16="http://schemas.microsoft.com/office/drawing/2014/main" id="{4B75D23A-6ADC-4C10-900B-866E1B76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2" name="auto-text-39">
            <a:extLst xmlns:a="http://schemas.openxmlformats.org/drawingml/2006/main">
              <a:ext uri="{FF2B5EF4-FFF2-40B4-BE49-F238E27FC236}">
                <a16:creationId xmlns:a16="http://schemas.microsoft.com/office/drawing/2014/main" id="{C67DF6C7-398D-4C37-AD2E-AD36F97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建议批准本次合作：以1–2个代表场景完成验证，并沉淀可服务多个项目的任务自适应质量评估能力。</a:t>
            </a:r>
          </a:p>
        </p:txBody>
      </p:sp>
    </p:spTree>
    <p:extLst>
      <p:ext uri="{BB962C8B-B14F-4D97-AF65-F5344CB8AC3E}">
        <p14:creationId xmlns:p14="http://schemas.microsoft.com/office/powerpoint/2010/main" val="1697775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2026-08-05T09:50:01.8580000Z</dcterms:created>
  <dcterms:modified xsi:type="dcterms:W3CDTF">2026-08-05T09:50:01.8580000Z</dcterms:modified>
</coreProperties>
</file>