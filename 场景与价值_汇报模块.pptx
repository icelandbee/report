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9ab5b250faf4d30" /><Relationship Type="http://schemas.openxmlformats.org/officeDocument/2006/relationships/extended-properties" Target="/docProps/app.xml" Id="Rcea4bcd54cca4de7" /><Relationship Type="http://schemas.openxmlformats.org/officeDocument/2006/relationships/officeDocument" Target="/ppt/presentation.xml" Id="R2fb78c556e39477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a4bbb6d3b0d4d13"/>
  </p:sldMasterIdLst>
  <p:notesMasterIdLst>
    <p:notesMasterId xmlns:r="http://schemas.openxmlformats.org/officeDocument/2006/relationships" r:id="R9f5ef66de9614c6e"/>
  </p:notesMasterIdLst>
  <p:sldIdLst>
    <p:sldId xmlns:r="http://schemas.openxmlformats.org/officeDocument/2006/relationships" id="256" r:id="R7ed6104f1d0246fc"/>
    <p:sldId xmlns:r="http://schemas.openxmlformats.org/officeDocument/2006/relationships" id="257" r:id="R98e6e42e78c44054"/>
    <p:sldId xmlns:r="http://schemas.openxmlformats.org/officeDocument/2006/relationships" id="258" r:id="R13ac2705235d4e89"/>
    <p:sldId xmlns:r="http://schemas.openxmlformats.org/officeDocument/2006/relationships" id="259" r:id="R025a00fe80e94e3b"/>
    <p:sldId xmlns:r="http://schemas.openxmlformats.org/officeDocument/2006/relationships" id="260" r:id="R5789e67e7b66450d"/>
    <p:sldId xmlns:r="http://schemas.openxmlformats.org/officeDocument/2006/relationships" id="261" r:id="Rff49a18b0a1a47da"/>
    <p:sldId xmlns:r="http://schemas.openxmlformats.org/officeDocument/2006/relationships" id="262" r:id="R38965814f702488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8b6d9bd875846d5" /><Relationship Type="http://schemas.openxmlformats.org/officeDocument/2006/relationships/slideMaster" Target="/ppt/slideMasters/slideMaster1.xml" Id="Rca4bbb6d3b0d4d13" /><Relationship Type="http://schemas.openxmlformats.org/officeDocument/2006/relationships/notesMaster" Target="/ppt/notesMasters/notesMaster1.xml" Id="R9f5ef66de9614c6e" /><Relationship Type="http://schemas.openxmlformats.org/officeDocument/2006/relationships/presProps" Target="/ppt/presProps.xml" Id="Re190326877c745e3" /><Relationship Type="http://schemas.openxmlformats.org/officeDocument/2006/relationships/tableStyles" Target="/ppt/tableStyles.xml" Id="Rc0e3b9f3206b49dd" /><Relationship Type="http://schemas.openxmlformats.org/officeDocument/2006/relationships/slide" Target="/ppt/slides/slide1.xml" Id="R7ed6104f1d0246fc" /><Relationship Type="http://schemas.openxmlformats.org/officeDocument/2006/relationships/slide" Target="/ppt/slides/slide2.xml" Id="R98e6e42e78c44054" /><Relationship Type="http://schemas.openxmlformats.org/officeDocument/2006/relationships/slide" Target="/ppt/slides/slide3.xml" Id="R13ac2705235d4e89" /><Relationship Type="http://schemas.openxmlformats.org/officeDocument/2006/relationships/slide" Target="/ppt/slides/slide4.xml" Id="R025a00fe80e94e3b" /><Relationship Type="http://schemas.openxmlformats.org/officeDocument/2006/relationships/slide" Target="/ppt/slides/slide5.xml" Id="R5789e67e7b66450d" /><Relationship Type="http://schemas.openxmlformats.org/officeDocument/2006/relationships/slide" Target="/ppt/slides/slide6.xml" Id="Rff49a18b0a1a47da" /><Relationship Type="http://schemas.openxmlformats.org/officeDocument/2006/relationships/slide" Target="/ppt/slides/slide7.xml" Id="R38965814f702488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b4635103d46432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efa48b0fac341a1" /><Relationship Type="http://schemas.openxmlformats.org/officeDocument/2006/relationships/notesMaster" Target="/ppt/notesMasters/notesMaster1.xml" Id="R9eab87dea2834d9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40692d2d2614853" /><Relationship Type="http://schemas.openxmlformats.org/officeDocument/2006/relationships/notesMaster" Target="/ppt/notesMasters/notesMaster1.xml" Id="Rb0bc1ab166f94ea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8fc0b76b40644f4" /><Relationship Type="http://schemas.openxmlformats.org/officeDocument/2006/relationships/notesMaster" Target="/ppt/notesMasters/notesMaster1.xml" Id="Rd917d8a3a1514a7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151c0c834f440ec" /><Relationship Type="http://schemas.openxmlformats.org/officeDocument/2006/relationships/notesMaster" Target="/ppt/notesMasters/notesMaster1.xml" Id="R0a6cd9df487d4ec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6cb6c453b764bdf" /><Relationship Type="http://schemas.openxmlformats.org/officeDocument/2006/relationships/notesMaster" Target="/ppt/notesMasters/notesMaster1.xml" Id="R7545a8625d7f45a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b1b3a18d1a64ec4" /><Relationship Type="http://schemas.openxmlformats.org/officeDocument/2006/relationships/notesMaster" Target="/ppt/notesMasters/notesMaster1.xml" Id="R36d91c5c840a453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d401725b9394ff7" /><Relationship Type="http://schemas.openxmlformats.org/officeDocument/2006/relationships/notesMaster" Target="/ppt/notesMasters/notesMaster1.xml" Id="R43196079ab55450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们当前已有多图编辑、盲超分、颜色标注和AIGC图库等多个图像项目。这里用多图编辑和图库两个代表场景说明：多图编辑关注参考内容是否正确迁移、人物是否保持、非目标区域是否被破坏；图库关注异常、美学和构图。由此可见，数据质量不是一套固定分数，而是与任务目标直接相关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方式能够解决眼前问题，但每次都从讨论标准、编写Prompt、人工抽检开始。最大问题不是某一个Prompt写得不好，而是缺少统一的质量维度、基线、校准方法和可复用组件。右侧预留了内部Prompt和误判案例，后续替换后可以直观说明现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将学术趋势重新对齐SOW。第一条路线是后验校准：已有评分器会有偏差，但可以利用少量验证样本修正分数、权重、阈值与置信度。第二条路线是邻域共识：对于细粒度或长尾偏好，不依赖一次Prompt，而是围绕目标偏好生成相邻配置，再聚合或保守选择。第三条路线是证据核验：对对象、属性和空间关系等结论，回到结构化视觉证据或专用工具验证。VLM Judge位于这些方法的底层，不是项目的全部。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Improving Data Efficiency via Curating LLM-Driven Rating Systems, ICLR 2025: https://proceedings.iclr.cc/paper_files/paper/2025/hash/faa6144674bce872365874c576b4f56f-Abstract-Conference.html</a:t>
            </a:r>
          </a:p>
          <a:p xmlns:a="http://schemas.openxmlformats.org/drawingml/2006/main">
            <a:r>
              <a:t>- Robust Preference Alignment via Directional Neighborhood Consensus, ICLR 2026: https://iclr.cc/virtual/2026/poster/10007833</a:t>
            </a:r>
          </a:p>
          <a:p xmlns:a="http://schemas.openxmlformats.org/drawingml/2006/main">
            <a:r>
              <a:t>- Trust but Verify: Programmatic VLM Evaluation in the Wild, ICCV 2025: https://openaccess.thecvf.com/content/ICCV2025/html/Prabhu_Trust_but_Verify_Programmatic_VLM_Evaluation_in_the_Wild_ICCV_2025_paper.html</a:t>
            </a:r>
          </a:p>
          <a:p xmlns:a="http://schemas.openxmlformats.org/drawingml/2006/main">
            <a:r>
              <a:t>- Do Humans and Machines Have the Same Eyes?, AAAI 2025: https://arxiv.org/abs/2304.08733</a:t>
            </a:r>
          </a:p>
          <a:p xmlns:a="http://schemas.openxmlformats.org/drawingml/2006/main">
            <a:r>
              <a:t>- Calibrating MLLM-as-a-Judge via Multimodal Bayesian Prompt Ensembles, ICCV 2025: https://arxiv.org/abs/2509.08777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不强调哪个公司排名第一，而是观察头部团队采用了什么方法。四家的公开路径虽然各有侧重，但结构高度一致：先把质量拆成场景、维度或检查点，再组合自动评价器，并用人工数据做校验。Qwen甚至发布了专用图像Judge和分层评价体系；腾讯把提示词拆成3500个关键点，说明业界已经从一条Prompt打总分，走向细粒度、可核验的评价机制。这正是本合作项目要补齐的能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https://deploymentsafety.openai.com/chatgpt-images-2-0/automated-evaluations-and-adversarial-testing</a:t>
            </a:r>
          </a:p>
          <a:p xmlns:a="http://schemas.openxmlformats.org/drawingml/2006/main">
            <a:r>
              <a:t>- https://github.com/QwenLM/Qwen-Image-Bench</a:t>
            </a:r>
          </a:p>
          <a:p xmlns:a="http://schemas.openxmlformats.org/drawingml/2006/main">
            <a:r>
              <a:t>- https://seed.bytedance.com/en/blog/bytedance-released-image-editing-model-seededit-3-0-enhanced-image-consistency-and-usability-rate</a:t>
            </a:r>
          </a:p>
          <a:p xmlns:a="http://schemas.openxmlformats.org/drawingml/2006/main">
            <a:r>
              <a:t>- https://github.com/Tencent-Hunyuan/HunyuanImage-3.0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这页需要明确纠正一个可能的误解：高校不是来交付一个VLM Judge。VLM、CLIP、OCR、视觉定位、传统指标和人工反馈都可以成为底层输入。合作项目真正交付的是三层上层算法：第一层把业务偏好转换成可优化的评分标准并做后验校准；第二层通过相邻配置和共识处理单一Prompt的不稳定；第三层用专用工具核验证据，并通过下游实验验证筛选是否有效。因此项目价值在于形成可迁移的评估机制，而不是绑定某个模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项目不是再建设一套数据平台，而是在现有规则、Prompt和VLM之上增加一层可插拔的任务自适应能力。输入新任务描述、少量专家样本和已有评估结果，输出经过校准的分数、证据、置信度和人工复核建议。建议首批优先用多图编辑和AIGC图库做闭环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项目带来三层价值：业务上减少重复建设和人工成本，技术上形成可校准、可验证的评估方法，长期沉淀跨项目Pipeline、验证集和失败案例库。页面中的数字是SOW目标，不是现有成绩。希望领导批准本次合作，以一到两个场景先完成闭环验证，再逐步扩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6012b0497040e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2adbbc41a3b4851" /><Relationship Type="http://schemas.openxmlformats.org/officeDocument/2006/relationships/slideLayout" Target="/ppt/slideLayouts/slideLayout1.xml" Id="R1f9dc170802d4c8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f9dc170802d4c8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db8da944b541b2" /><Relationship Type="http://schemas.openxmlformats.org/officeDocument/2006/relationships/notesSlide" Target="/ppt/notesSlides/notesSlide1.xml" Id="Re9e55b1e3d414e5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f2b1044cba41b1" /><Relationship Type="http://schemas.openxmlformats.org/officeDocument/2006/relationships/notesSlide" Target="/ppt/notesSlides/notesSlide2.xml" Id="Ra74125ac77744da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e7ba81fabc49b7" /><Relationship Type="http://schemas.openxmlformats.org/officeDocument/2006/relationships/notesSlide" Target="/ppt/notesSlides/notesSlide3.xml" Id="Ra37503dae7234f3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c677c734de42e2" /><Relationship Type="http://schemas.openxmlformats.org/officeDocument/2006/relationships/notesSlide" Target="/ppt/notesSlides/notesSlide4.xml" Id="R551e96859cba464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18bfda0d1643f7" /><Relationship Type="http://schemas.openxmlformats.org/officeDocument/2006/relationships/notesSlide" Target="/ppt/notesSlides/notesSlide5.xml" Id="R016290866c454a2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85da53c4ae4461" /><Relationship Type="http://schemas.openxmlformats.org/officeDocument/2006/relationships/notesSlide" Target="/ppt/notesSlides/notesSlide6.xml" Id="R7f96520e10ee4a2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da65312bc94279" /><Relationship Type="http://schemas.openxmlformats.org/officeDocument/2006/relationships/notesSlide" Target="/ppt/notesSlides/notesSlide7.xml" Id="R41724ee8a53d4d8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accent-1">
            <a:extLst xmlns:a="http://schemas.openxmlformats.org/drawingml/2006/main">
              <a:ext uri="{FF2B5EF4-FFF2-40B4-BE49-F238E27FC236}">
                <a16:creationId xmlns:a16="http://schemas.microsoft.com/office/drawing/2014/main" id="{72E3BF9C-0602-4691-8FD2-182368DD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762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2" name="title-1">
            <a:extLst xmlns:a="http://schemas.openxmlformats.org/drawingml/2006/main">
              <a:ext uri="{FF2B5EF4-FFF2-40B4-BE49-F238E27FC236}">
                <a16:creationId xmlns:a16="http://schemas.microsoft.com/office/drawing/2014/main" id="{5F9E27E2-3EF1-4D08-8F61-FF63E975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四类图文项目对质量的要求不同，却依赖同一类底层能力</a:t>
            </a:r>
          </a:p>
        </p:txBody>
      </p:sp>
      <p:sp>
        <p:nvSpPr>
          <p:cNvPr id="3" name="page-1">
            <a:extLst xmlns:a="http://schemas.openxmlformats.org/drawingml/2006/main">
              <a:ext uri="{FF2B5EF4-FFF2-40B4-BE49-F238E27FC236}">
                <a16:creationId xmlns:a16="http://schemas.microsoft.com/office/drawing/2014/main" id="{27D091C1-C150-495C-97A5-0C92804B9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0080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4" name="auto-text-1">
            <a:extLst xmlns:a="http://schemas.openxmlformats.org/drawingml/2006/main">
              <a:ext uri="{FF2B5EF4-FFF2-40B4-BE49-F238E27FC236}">
                <a16:creationId xmlns:a16="http://schemas.microsoft.com/office/drawing/2014/main" id="{1568F0E7-39D5-4C1F-9DC5-7C2858D15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906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优先以多图编辑和AIGC图库为代表场景：同一张图是否“高质量”，取决于具体任务和使用目标。</a:t>
            </a:r>
          </a:p>
        </p:txBody>
      </p:sp>
      <p:sp>
        <p:nvSpPr>
          <p:cNvPr id="5" name="auto-text-2">
            <a:extLst xmlns:a="http://schemas.openxmlformats.org/drawingml/2006/main">
              <a:ext uri="{FF2B5EF4-FFF2-40B4-BE49-F238E27FC236}">
                <a16:creationId xmlns:a16="http://schemas.microsoft.com/office/drawing/2014/main" id="{5FF97A5E-FB93-4C3D-BDF3-E17840E6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2400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多图编辑</a:t>
            </a:r>
          </a:p>
        </p:txBody>
      </p:sp>
      <p:sp>
        <p:nvSpPr>
          <p:cNvPr id="6" name="auto-text-3">
            <a:extLst xmlns:a="http://schemas.openxmlformats.org/drawingml/2006/main">
              <a:ext uri="{FF2B5EF4-FFF2-40B4-BE49-F238E27FC236}">
                <a16:creationId xmlns:a16="http://schemas.microsoft.com/office/drawing/2014/main" id="{5A3E2A82-6691-489F-A524-F7C328A39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52400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rPr>
              <a:t>AIGC图库</a:t>
            </a:r>
          </a:p>
        </p:txBody>
      </p:sp>
      <p:sp>
        <p:nvSpPr>
          <p:cNvPr id="7" name="edit-media-surface">
            <a:extLst xmlns:a="http://schemas.openxmlformats.org/drawingml/2006/main">
              <a:ext uri="{FF2B5EF4-FFF2-40B4-BE49-F238E27FC236}">
                <a16:creationId xmlns:a16="http://schemas.microsoft.com/office/drawing/2014/main" id="{CEC6FEBC-B26A-46EF-9E6A-1E332B3A8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943100"/>
            <a:ext cx="542925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B9C9F4"/>
            </a:solidFill>
            <a:prstDash val="solid"/>
          </a:ln>
        </p:spPr>
      </p:sp>
      <p:sp>
        <p:nvSpPr>
          <p:cNvPr id="8" name="edit-source-frame">
            <a:extLst xmlns:a="http://schemas.openxmlformats.org/drawingml/2006/main">
              <a:ext uri="{FF2B5EF4-FFF2-40B4-BE49-F238E27FC236}">
                <a16:creationId xmlns:a16="http://schemas.microsoft.com/office/drawing/2014/main" id="{C156C8DE-F52E-4DAD-A601-BE03CA11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5049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AAB5C0"/>
            </a:solidFill>
            <a:prstDash val="solid"/>
          </a:ln>
        </p:spPr>
      </p:sp>
      <p:sp>
        <p:nvSpPr>
          <p:cNvPr id="9" name="edit-source-label">
            <a:extLst xmlns:a="http://schemas.openxmlformats.org/drawingml/2006/main">
              <a:ext uri="{FF2B5EF4-FFF2-40B4-BE49-F238E27FC236}">
                <a16:creationId xmlns:a16="http://schemas.microsoft.com/office/drawing/2014/main" id="{24DC80AE-AF94-4AA5-86B5-7A18558AB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76525"/>
            <a:ext cx="1200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rPr>
              <a:t>原图</a:t>
            </a:r>
          </a:p>
        </p:txBody>
      </p:sp>
      <p:sp>
        <p:nvSpPr>
          <p:cNvPr id="10" name="edit-source-sub">
            <a:extLst xmlns:a="http://schemas.openxmlformats.org/drawingml/2006/main">
              <a:ext uri="{FF2B5EF4-FFF2-40B4-BE49-F238E27FC236}">
                <a16:creationId xmlns:a16="http://schemas.microsoft.com/office/drawing/2014/main" id="{75A36E67-CE3E-496C-8441-D417A8F9B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81325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替换为内部图片</a:t>
            </a:r>
          </a:p>
        </p:txBody>
      </p:sp>
      <p:sp>
        <p:nvSpPr>
          <p:cNvPr id="11" name="edit-reference-frame">
            <a:extLst xmlns:a="http://schemas.openxmlformats.org/drawingml/2006/main">
              <a:ext uri="{FF2B5EF4-FFF2-40B4-BE49-F238E27FC236}">
                <a16:creationId xmlns:a16="http://schemas.microsoft.com/office/drawing/2014/main" id="{992CFEBC-3C86-49EE-8BB6-18DB7E37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190750"/>
            <a:ext cx="15049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AAB5C0"/>
            </a:solidFill>
            <a:prstDash val="solid"/>
          </a:ln>
        </p:spPr>
      </p:sp>
      <p:sp>
        <p:nvSpPr>
          <p:cNvPr id="12" name="edit-reference-label">
            <a:extLst xmlns:a="http://schemas.openxmlformats.org/drawingml/2006/main">
              <a:ext uri="{FF2B5EF4-FFF2-40B4-BE49-F238E27FC236}">
                <a16:creationId xmlns:a16="http://schemas.microsoft.com/office/drawing/2014/main" id="{280C28A8-48F8-4556-9377-401BA0553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676525"/>
            <a:ext cx="1200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rPr>
              <a:t>参考图</a:t>
            </a:r>
          </a:p>
        </p:txBody>
      </p:sp>
      <p:sp>
        <p:nvSpPr>
          <p:cNvPr id="13" name="edit-reference-sub">
            <a:extLst xmlns:a="http://schemas.openxmlformats.org/drawingml/2006/main">
              <a:ext uri="{FF2B5EF4-FFF2-40B4-BE49-F238E27FC236}">
                <a16:creationId xmlns:a16="http://schemas.microsoft.com/office/drawing/2014/main" id="{ADA27781-51C3-4E60-8E03-6A4435C9E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981325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替换为内部图片</a:t>
            </a:r>
          </a:p>
        </p:txBody>
      </p:sp>
      <p:sp>
        <p:nvSpPr>
          <p:cNvPr id="14" name="edit-output-frame">
            <a:extLst xmlns:a="http://schemas.openxmlformats.org/drawingml/2006/main">
              <a:ext uri="{FF2B5EF4-FFF2-40B4-BE49-F238E27FC236}">
                <a16:creationId xmlns:a16="http://schemas.microsoft.com/office/drawing/2014/main" id="{6CB075E8-F044-410C-A26C-1C78D41B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190750"/>
            <a:ext cx="15049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AAB5C0"/>
            </a:solidFill>
            <a:prstDash val="solid"/>
          </a:ln>
        </p:spPr>
      </p:sp>
      <p:sp>
        <p:nvSpPr>
          <p:cNvPr id="15" name="edit-output-label">
            <a:extLst xmlns:a="http://schemas.openxmlformats.org/drawingml/2006/main">
              <a:ext uri="{FF2B5EF4-FFF2-40B4-BE49-F238E27FC236}">
                <a16:creationId xmlns:a16="http://schemas.microsoft.com/office/drawing/2014/main" id="{92EFED62-F7D0-44BE-8F04-5EEC7BB95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76525"/>
            <a:ext cx="1200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rPr>
              <a:t>编辑结果</a:t>
            </a:r>
          </a:p>
        </p:txBody>
      </p:sp>
      <p:sp>
        <p:nvSpPr>
          <p:cNvPr id="16" name="edit-output-sub">
            <a:extLst xmlns:a="http://schemas.openxmlformats.org/drawingml/2006/main">
              <a:ext uri="{FF2B5EF4-FFF2-40B4-BE49-F238E27FC236}">
                <a16:creationId xmlns:a16="http://schemas.microsoft.com/office/drawing/2014/main" id="{1668C043-F927-4CA6-BAE7-5358E152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981325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替换为内部图片</a:t>
            </a:r>
          </a:p>
        </p:txBody>
      </p:sp>
      <p:sp>
        <p:nvSpPr>
          <p:cNvPr id="17" name="auto-text-4">
            <a:extLst xmlns:a="http://schemas.openxmlformats.org/drawingml/2006/main">
              <a:ext uri="{FF2B5EF4-FFF2-40B4-BE49-F238E27FC236}">
                <a16:creationId xmlns:a16="http://schemas.microsoft.com/office/drawing/2014/main" id="{F98B02C8-3B01-47A1-A164-BDB9DF270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建议样例：换装／持物／合影／表情迁移</a:t>
            </a:r>
          </a:p>
        </p:txBody>
      </p:sp>
      <p:sp>
        <p:nvSpPr>
          <p:cNvPr id="18" name="gallery-media-surface">
            <a:extLst xmlns:a="http://schemas.openxmlformats.org/drawingml/2006/main">
              <a:ext uri="{FF2B5EF4-FFF2-40B4-BE49-F238E27FC236}">
                <a16:creationId xmlns:a16="http://schemas.microsoft.com/office/drawing/2014/main" id="{7C0D55E9-2652-4709-B439-FF97FAE11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43100"/>
            <a:ext cx="531495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E7F6F3"/>
          </a:solidFill>
          <a:ln xmlns:a="http://schemas.openxmlformats.org/drawingml/2006/main" w="9525">
            <a:solidFill>
              <a:srgbClr val="B8DDD8"/>
            </a:solidFill>
            <a:prstDash val="solid"/>
          </a:ln>
        </p:spPr>
      </p:sp>
      <p:sp>
        <p:nvSpPr>
          <p:cNvPr id="19" name="gallery-good-frame">
            <a:extLst xmlns:a="http://schemas.openxmlformats.org/drawingml/2006/main">
              <a:ext uri="{FF2B5EF4-FFF2-40B4-BE49-F238E27FC236}">
                <a16:creationId xmlns:a16="http://schemas.microsoft.com/office/drawing/2014/main" id="{7C97C144-AD7C-479D-ABF0-14A1053E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90750"/>
            <a:ext cx="22098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AAB5C0"/>
            </a:solidFill>
            <a:prstDash val="solid"/>
          </a:ln>
        </p:spPr>
      </p:sp>
      <p:sp>
        <p:nvSpPr>
          <p:cNvPr id="20" name="gallery-good-label">
            <a:extLst xmlns:a="http://schemas.openxmlformats.org/drawingml/2006/main">
              <a:ext uri="{FF2B5EF4-FFF2-40B4-BE49-F238E27FC236}">
                <a16:creationId xmlns:a16="http://schemas.microsoft.com/office/drawing/2014/main" id="{3211E937-671B-4C5B-B394-7DC3F32F8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6765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rPr>
              <a:t>可入库样本</a:t>
            </a:r>
          </a:p>
        </p:txBody>
      </p:sp>
      <p:sp>
        <p:nvSpPr>
          <p:cNvPr id="21" name="gallery-good-sub">
            <a:extLst xmlns:a="http://schemas.openxmlformats.org/drawingml/2006/main">
              <a:ext uri="{FF2B5EF4-FFF2-40B4-BE49-F238E27FC236}">
                <a16:creationId xmlns:a16="http://schemas.microsoft.com/office/drawing/2014/main" id="{7C045741-4833-413E-8038-39D17B964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81325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替换为内部图片</a:t>
            </a:r>
          </a:p>
        </p:txBody>
      </p:sp>
      <p:sp>
        <p:nvSpPr>
          <p:cNvPr id="22" name="gallery-bad-frame">
            <a:extLst xmlns:a="http://schemas.openxmlformats.org/drawingml/2006/main">
              <a:ext uri="{FF2B5EF4-FFF2-40B4-BE49-F238E27FC236}">
                <a16:creationId xmlns:a16="http://schemas.microsoft.com/office/drawing/2014/main" id="{FD304B9D-CEE5-4CEF-9759-E50EFDFC2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190750"/>
            <a:ext cx="22098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AAB5C0"/>
            </a:solidFill>
            <a:prstDash val="solid"/>
          </a:ln>
        </p:spPr>
      </p:sp>
      <p:sp>
        <p:nvSpPr>
          <p:cNvPr id="23" name="gallery-bad-label">
            <a:extLst xmlns:a="http://schemas.openxmlformats.org/drawingml/2006/main">
              <a:ext uri="{FF2B5EF4-FFF2-40B4-BE49-F238E27FC236}">
                <a16:creationId xmlns:a16="http://schemas.microsoft.com/office/drawing/2014/main" id="{31F1B3AC-5BBF-4374-9B4F-8602A3B81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6765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rPr>
              <a:t>异常／低质样本</a:t>
            </a:r>
          </a:p>
        </p:txBody>
      </p:sp>
      <p:sp>
        <p:nvSpPr>
          <p:cNvPr id="24" name="gallery-bad-sub">
            <a:extLst xmlns:a="http://schemas.openxmlformats.org/drawingml/2006/main">
              <a:ext uri="{FF2B5EF4-FFF2-40B4-BE49-F238E27FC236}">
                <a16:creationId xmlns:a16="http://schemas.microsoft.com/office/drawing/2014/main" id="{D0A9247D-465D-4E35-9691-DE563D63B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981325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替换为内部图片</a:t>
            </a:r>
          </a:p>
        </p:txBody>
      </p:sp>
      <p:sp>
        <p:nvSpPr>
          <p:cNvPr id="25" name="auto-text-5">
            <a:extLst xmlns:a="http://schemas.openxmlformats.org/drawingml/2006/main">
              <a:ext uri="{FF2B5EF4-FFF2-40B4-BE49-F238E27FC236}">
                <a16:creationId xmlns:a16="http://schemas.microsoft.com/office/drawing/2014/main" id="{4023FEFE-BE79-49FC-B9F2-035B77D8E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90950"/>
            <a:ext cx="4629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建议样例：肢体异常／结构错误／构图或美学问题</a:t>
            </a:r>
          </a:p>
        </p:txBody>
      </p:sp>
      <p:sp>
        <p:nvSpPr>
          <p:cNvPr id="26" name="auto-text-6">
            <a:extLst xmlns:a="http://schemas.openxmlformats.org/drawingml/2006/main">
              <a:ext uri="{FF2B5EF4-FFF2-40B4-BE49-F238E27FC236}">
                <a16:creationId xmlns:a16="http://schemas.microsoft.com/office/drawing/2014/main" id="{E347040C-30A3-41B1-949C-6AF6FFFB3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38650"/>
            <a:ext cx="523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主体与参考一致性｜编辑目标满足｜非目标区域保持｜结果自然度</a:t>
            </a:r>
          </a:p>
        </p:txBody>
      </p:sp>
      <p:sp>
        <p:nvSpPr>
          <p:cNvPr id="27" name="auto-text-7">
            <a:extLst xmlns:a="http://schemas.openxmlformats.org/drawingml/2006/main">
              <a:ext uri="{FF2B5EF4-FFF2-40B4-BE49-F238E27FC236}">
                <a16:creationId xmlns:a16="http://schemas.microsoft.com/office/drawing/2014/main" id="{7ACB6283-CA33-44BF-A24B-7AE3F1320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438650"/>
            <a:ext cx="5124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异常生成｜主体完整性｜图文一致性｜美学与构图｜风险内容</a:t>
            </a:r>
          </a:p>
        </p:txBody>
      </p:sp>
      <p:sp>
        <p:nvSpPr>
          <p:cNvPr id="28" name="slide1-conclusion">
            <a:extLst xmlns:a="http://schemas.openxmlformats.org/drawingml/2006/main">
              <a:ext uri="{FF2B5EF4-FFF2-40B4-BE49-F238E27FC236}">
                <a16:creationId xmlns:a16="http://schemas.microsoft.com/office/drawing/2014/main" id="{D8C342B3-3B40-420F-A237-06FBEDCA2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286375"/>
            <a:ext cx="11239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F4F7FA"/>
            </a:solidFill>
            <a:prstDash val="solid"/>
          </a:ln>
        </p:spPr>
      </p:sp>
      <p:sp>
        <p:nvSpPr>
          <p:cNvPr id="29" name="auto-text-8">
            <a:extLst xmlns:a="http://schemas.openxmlformats.org/drawingml/2006/main">
              <a:ext uri="{FF2B5EF4-FFF2-40B4-BE49-F238E27FC236}">
                <a16:creationId xmlns:a16="http://schemas.microsoft.com/office/drawing/2014/main" id="{328EF635-6AFF-496C-A1E9-EBF63EBE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核心判断</a:t>
            </a:r>
          </a:p>
        </p:txBody>
      </p:sp>
      <p:sp>
        <p:nvSpPr>
          <p:cNvPr id="30" name="auto-text-9">
            <a:extLst xmlns:a="http://schemas.openxmlformats.org/drawingml/2006/main">
              <a:ext uri="{FF2B5EF4-FFF2-40B4-BE49-F238E27FC236}">
                <a16:creationId xmlns:a16="http://schemas.microsoft.com/office/drawing/2014/main" id="{4EA2A08C-9D93-4465-95CC-CA3CCC20E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410200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质量不是图片的固定属性，而是图片、标签与目标任务之间的匹配关系。</a:t>
            </a:r>
          </a:p>
        </p:txBody>
      </p:sp>
    </p:spTree>
    <p:extLst>
      <p:ext uri="{BB962C8B-B14F-4D97-AF65-F5344CB8AC3E}">
        <p14:creationId xmlns:p14="http://schemas.microsoft.com/office/powerpoint/2010/main" val="1687851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accent-2">
            <a:extLst xmlns:a="http://schemas.openxmlformats.org/drawingml/2006/main">
              <a:ext uri="{FF2B5EF4-FFF2-40B4-BE49-F238E27FC236}">
                <a16:creationId xmlns:a16="http://schemas.microsoft.com/office/drawing/2014/main" id="{B23409F7-4715-439C-AD04-B4F2E81F6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762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D80C5D7F-1974-4B50-B998-72DFF660B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按项目临时搭建质检管线，导致方法、成本和经验反复重置</a:t>
            </a:r>
          </a:p>
        </p:txBody>
      </p:sp>
      <p:sp>
        <p:nvSpPr>
          <p:cNvPr id="3" name="page-2">
            <a:extLst xmlns:a="http://schemas.openxmlformats.org/drawingml/2006/main">
              <a:ext uri="{FF2B5EF4-FFF2-40B4-BE49-F238E27FC236}">
                <a16:creationId xmlns:a16="http://schemas.microsoft.com/office/drawing/2014/main" id="{2FB31FB3-511E-4CFF-B53A-AE843765C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0080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4" name="auto-text-10">
            <a:extLst xmlns:a="http://schemas.openxmlformats.org/drawingml/2006/main">
              <a:ext uri="{FF2B5EF4-FFF2-40B4-BE49-F238E27FC236}">
                <a16:creationId xmlns:a16="http://schemas.microsoft.com/office/drawing/2014/main" id="{634B8EEC-D36B-44CC-AE5D-EA2C45A74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当前路径</a:t>
            </a:r>
          </a:p>
        </p:txBody>
      </p:sp>
      <p:sp>
        <p:nvSpPr>
          <p:cNvPr id="5" name="step-dot-0">
            <a:extLst xmlns:a="http://schemas.openxmlformats.org/drawingml/2006/main">
              <a:ext uri="{FF2B5EF4-FFF2-40B4-BE49-F238E27FC236}">
                <a16:creationId xmlns:a16="http://schemas.microsoft.com/office/drawing/2014/main" id="{FD73E74A-661A-48F0-8993-195327F95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04975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6" name="step-line-0">
            <a:extLst xmlns:a="http://schemas.openxmlformats.org/drawingml/2006/main">
              <a:ext uri="{FF2B5EF4-FFF2-40B4-BE49-F238E27FC236}">
                <a16:creationId xmlns:a16="http://schemas.microsoft.com/office/drawing/2014/main" id="{E4F39A6E-95CA-4EEF-B5B5-C545146D8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05000"/>
            <a:ext cx="381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D5F8"/>
          </a:solidFill>
          <a:ln xmlns:a="http://schemas.openxmlformats.org/drawingml/2006/main" w="9525">
            <a:solidFill>
              <a:srgbClr val="C7D5F8"/>
            </a:solidFill>
            <a:prstDash val="solid"/>
          </a:ln>
        </p:spPr>
      </p:sp>
      <p:sp>
        <p:nvSpPr>
          <p:cNvPr id="7" name="step-text-0">
            <a:extLst xmlns:a="http://schemas.openxmlformats.org/drawingml/2006/main">
              <a:ext uri="{FF2B5EF4-FFF2-40B4-BE49-F238E27FC236}">
                <a16:creationId xmlns:a16="http://schemas.microsoft.com/office/drawing/2014/main" id="{BEC8D033-4948-457D-A582-55978AD8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57350"/>
            <a:ext cx="3381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讨论质量标准</a:t>
            </a:r>
          </a:p>
        </p:txBody>
      </p:sp>
      <p:sp>
        <p:nvSpPr>
          <p:cNvPr id="8" name="step-dot-1">
            <a:extLst xmlns:a="http://schemas.openxmlformats.org/drawingml/2006/main">
              <a:ext uri="{FF2B5EF4-FFF2-40B4-BE49-F238E27FC236}">
                <a16:creationId xmlns:a16="http://schemas.microsoft.com/office/drawing/2014/main" id="{59436CBE-7CA2-40C4-BB92-B5CAAA7E3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57425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9" name="step-line-1">
            <a:extLst xmlns:a="http://schemas.openxmlformats.org/drawingml/2006/main">
              <a:ext uri="{FF2B5EF4-FFF2-40B4-BE49-F238E27FC236}">
                <a16:creationId xmlns:a16="http://schemas.microsoft.com/office/drawing/2014/main" id="{11427E0F-6D75-4CBB-BF5B-B61F44CBB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381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D5F8"/>
          </a:solidFill>
          <a:ln xmlns:a="http://schemas.openxmlformats.org/drawingml/2006/main" w="9525">
            <a:solidFill>
              <a:srgbClr val="C7D5F8"/>
            </a:solidFill>
            <a:prstDash val="solid"/>
          </a:ln>
        </p:spPr>
      </p:sp>
      <p:sp>
        <p:nvSpPr>
          <p:cNvPr id="10" name="step-text-1">
            <a:extLst xmlns:a="http://schemas.openxmlformats.org/drawingml/2006/main">
              <a:ext uri="{FF2B5EF4-FFF2-40B4-BE49-F238E27FC236}">
                <a16:creationId xmlns:a16="http://schemas.microsoft.com/office/drawing/2014/main" id="{3BCC69FF-F2B1-450D-B614-659DA54D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09800"/>
            <a:ext cx="3381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编写规则／Prompt</a:t>
            </a:r>
          </a:p>
        </p:txBody>
      </p:sp>
      <p:sp>
        <p:nvSpPr>
          <p:cNvPr id="11" name="step-dot-2">
            <a:extLst xmlns:a="http://schemas.openxmlformats.org/drawingml/2006/main">
              <a:ext uri="{FF2B5EF4-FFF2-40B4-BE49-F238E27FC236}">
                <a16:creationId xmlns:a16="http://schemas.microsoft.com/office/drawing/2014/main" id="{FED07AAD-5B31-481E-9285-846F04772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9875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12" name="step-line-2">
            <a:extLst xmlns:a="http://schemas.openxmlformats.org/drawingml/2006/main">
              <a:ext uri="{FF2B5EF4-FFF2-40B4-BE49-F238E27FC236}">
                <a16:creationId xmlns:a16="http://schemas.microsoft.com/office/drawing/2014/main" id="{1457A00D-BF13-43B9-93D8-110A76F67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09900"/>
            <a:ext cx="381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D5F8"/>
          </a:solidFill>
          <a:ln xmlns:a="http://schemas.openxmlformats.org/drawingml/2006/main" w="9525">
            <a:solidFill>
              <a:srgbClr val="C7D5F8"/>
            </a:solidFill>
            <a:prstDash val="solid"/>
          </a:ln>
        </p:spPr>
      </p:sp>
      <p:sp>
        <p:nvSpPr>
          <p:cNvPr id="13" name="step-text-2">
            <a:extLst xmlns:a="http://schemas.openxmlformats.org/drawingml/2006/main">
              <a:ext uri="{FF2B5EF4-FFF2-40B4-BE49-F238E27FC236}">
                <a16:creationId xmlns:a16="http://schemas.microsoft.com/office/drawing/2014/main" id="{B1A4DE3B-20ED-4222-B235-93798BA84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62250"/>
            <a:ext cx="3381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人工抽检与调参</a:t>
            </a:r>
          </a:p>
        </p:txBody>
      </p:sp>
      <p:sp>
        <p:nvSpPr>
          <p:cNvPr id="14" name="step-dot-3">
            <a:extLst xmlns:a="http://schemas.openxmlformats.org/drawingml/2006/main">
              <a:ext uri="{FF2B5EF4-FFF2-40B4-BE49-F238E27FC236}">
                <a16:creationId xmlns:a16="http://schemas.microsoft.com/office/drawing/2014/main" id="{1D56F304-A2DC-4CF3-B4E2-EF1F62E72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62325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15" name="step-line-3">
            <a:extLst xmlns:a="http://schemas.openxmlformats.org/drawingml/2006/main">
              <a:ext uri="{FF2B5EF4-FFF2-40B4-BE49-F238E27FC236}">
                <a16:creationId xmlns:a16="http://schemas.microsoft.com/office/drawing/2014/main" id="{D5209A36-28D8-41AB-80DC-E292D1F6C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62350"/>
            <a:ext cx="381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D5F8"/>
          </a:solidFill>
          <a:ln xmlns:a="http://schemas.openxmlformats.org/drawingml/2006/main" w="9525">
            <a:solidFill>
              <a:srgbClr val="C7D5F8"/>
            </a:solidFill>
            <a:prstDash val="solid"/>
          </a:ln>
        </p:spPr>
      </p:sp>
      <p:sp>
        <p:nvSpPr>
          <p:cNvPr id="16" name="step-text-3">
            <a:extLst xmlns:a="http://schemas.openxmlformats.org/drawingml/2006/main">
              <a:ext uri="{FF2B5EF4-FFF2-40B4-BE49-F238E27FC236}">
                <a16:creationId xmlns:a16="http://schemas.microsoft.com/office/drawing/2014/main" id="{DB894428-D172-43EF-A317-683D17B7D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14700"/>
            <a:ext cx="3381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临时搭建管线</a:t>
            </a:r>
          </a:p>
        </p:txBody>
      </p:sp>
      <p:sp>
        <p:nvSpPr>
          <p:cNvPr id="17" name="step-dot-4">
            <a:extLst xmlns:a="http://schemas.openxmlformats.org/drawingml/2006/main">
              <a:ext uri="{FF2B5EF4-FFF2-40B4-BE49-F238E27FC236}">
                <a16:creationId xmlns:a16="http://schemas.microsoft.com/office/drawing/2014/main" id="{0A1D33ED-3CA7-43E5-A252-162D842D2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14775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5C55"/>
          </a:solidFill>
          <a:ln xmlns:a="http://schemas.openxmlformats.org/drawingml/2006/main" w="9525">
            <a:solidFill>
              <a:srgbClr val="E65C55"/>
            </a:solidFill>
            <a:prstDash val="solid"/>
          </a:ln>
        </p:spPr>
      </p:sp>
      <p:sp>
        <p:nvSpPr>
          <p:cNvPr id="18" name="step-text-4">
            <a:extLst xmlns:a="http://schemas.openxmlformats.org/drawingml/2006/main">
              <a:ext uri="{FF2B5EF4-FFF2-40B4-BE49-F238E27FC236}">
                <a16:creationId xmlns:a16="http://schemas.microsoft.com/office/drawing/2014/main" id="{A130CDDF-32EC-4517-ABE5-72DE7990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67150"/>
            <a:ext cx="3381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E65C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E65C55"/>
                </a:solidFill>
                <a:latin typeface="Microsoft YaHei"/>
                <a:ea typeface="Microsoft YaHei"/>
                <a:cs typeface="Microsoft YaHei"/>
              </a:rPr>
              <a:t>任务变化后重做</a:t>
            </a:r>
          </a:p>
        </p:txBody>
      </p:sp>
      <p:sp>
        <p:nvSpPr>
          <p:cNvPr id="19" name="pain-summary">
            <a:extLst xmlns:a="http://schemas.openxmlformats.org/drawingml/2006/main">
              <a:ext uri="{FF2B5EF4-FFF2-40B4-BE49-F238E27FC236}">
                <a16:creationId xmlns:a16="http://schemas.microsoft.com/office/drawing/2014/main" id="{8FADFE4B-501E-4B0E-81ED-23F07DB78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591050"/>
            <a:ext cx="44767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F4F7FA"/>
            </a:solidFill>
            <a:prstDash val="solid"/>
          </a:ln>
        </p:spPr>
      </p:sp>
      <p:sp>
        <p:nvSpPr>
          <p:cNvPr id="20" name="auto-text-11">
            <a:extLst xmlns:a="http://schemas.openxmlformats.org/drawingml/2006/main">
              <a:ext uri="{FF2B5EF4-FFF2-40B4-BE49-F238E27FC236}">
                <a16:creationId xmlns:a16="http://schemas.microsoft.com/office/drawing/2014/main" id="{9C4D364E-4353-4E79-86A4-04A1C5BCE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共性痛点</a:t>
            </a:r>
          </a:p>
        </p:txBody>
      </p:sp>
      <p:sp>
        <p:nvSpPr>
          <p:cNvPr id="21" name="auto-text-12">
            <a:extLst xmlns:a="http://schemas.openxmlformats.org/drawingml/2006/main">
              <a:ext uri="{FF2B5EF4-FFF2-40B4-BE49-F238E27FC236}">
                <a16:creationId xmlns:a16="http://schemas.microsoft.com/office/drawing/2014/main" id="{EDC41233-64B2-4AFF-8953-922956CD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86350"/>
            <a:ext cx="4000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• 标准需要什么加什么，维度不全面</a:t>
            </a:r>
          </a:p>
          <a:p xmlns:a="http://schemas.openxmlformats.org/drawingml/2006/main">
            <a:pPr algn="l">
              <a:defRPr sz="120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• Prompt效果依赖个人经验，难以对照实验</a:t>
            </a:r>
          </a:p>
          <a:p xmlns:a="http://schemas.openxmlformats.org/drawingml/2006/main">
            <a:pPr algn="l">
              <a:defRPr sz="120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• 标注、筛选和复查成本高</a:t>
            </a:r>
          </a:p>
          <a:p xmlns:a="http://schemas.openxmlformats.org/drawingml/2006/main">
            <a:pPr algn="l">
              <a:defRPr sz="120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• Pipeline难复用，任务变化后修改成本高</a:t>
            </a:r>
          </a:p>
        </p:txBody>
      </p:sp>
      <p:sp>
        <p:nvSpPr>
          <p:cNvPr id="22" name="auto-text-13">
            <a:extLst xmlns:a="http://schemas.openxmlformats.org/drawingml/2006/main">
              <a:ext uri="{FF2B5EF4-FFF2-40B4-BE49-F238E27FC236}">
                <a16:creationId xmlns:a16="http://schemas.microsoft.com/office/drawing/2014/main" id="{9407AC3B-B053-40F1-8CC8-5D57A067A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001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rPr>
              <a:t>内部证据占位</a:t>
            </a:r>
          </a:p>
        </p:txBody>
      </p:sp>
      <p:sp>
        <p:nvSpPr>
          <p:cNvPr id="23" name="prompt-shot-frame">
            <a:extLst xmlns:a="http://schemas.openxmlformats.org/drawingml/2006/main">
              <a:ext uri="{FF2B5EF4-FFF2-40B4-BE49-F238E27FC236}">
                <a16:creationId xmlns:a16="http://schemas.microsoft.com/office/drawing/2014/main" id="{271E73EA-5396-4FFE-BD95-3CECB93D6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619250"/>
            <a:ext cx="6191250" cy="184785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AAB5C0"/>
            </a:solidFill>
            <a:prstDash val="solid"/>
          </a:ln>
        </p:spPr>
      </p:sp>
      <p:sp>
        <p:nvSpPr>
          <p:cNvPr id="24" name="prompt-shot-label">
            <a:extLst xmlns:a="http://schemas.openxmlformats.org/drawingml/2006/main">
              <a:ext uri="{FF2B5EF4-FFF2-40B4-BE49-F238E27FC236}">
                <a16:creationId xmlns:a16="http://schemas.microsoft.com/office/drawing/2014/main" id="{AD36AA83-9C3A-417C-9AB7-8D13C890A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314575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rPr>
              <a:t>当前质检Prompt截图</a:t>
            </a:r>
          </a:p>
        </p:txBody>
      </p:sp>
      <p:sp>
        <p:nvSpPr>
          <p:cNvPr id="25" name="prompt-shot-sub">
            <a:extLst xmlns:a="http://schemas.openxmlformats.org/drawingml/2006/main">
              <a:ext uri="{FF2B5EF4-FFF2-40B4-BE49-F238E27FC236}">
                <a16:creationId xmlns:a16="http://schemas.microsoft.com/office/drawing/2014/main" id="{1D9CBCB8-AEEE-4452-ABF1-304C22D0C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619375"/>
            <a:ext cx="588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建议包含：质量维度、评分规则、输出格式</a:t>
            </a:r>
          </a:p>
        </p:txBody>
      </p:sp>
      <p:sp>
        <p:nvSpPr>
          <p:cNvPr id="26" name="misjudge-case-frame">
            <a:extLst xmlns:a="http://schemas.openxmlformats.org/drawingml/2006/main">
              <a:ext uri="{FF2B5EF4-FFF2-40B4-BE49-F238E27FC236}">
                <a16:creationId xmlns:a16="http://schemas.microsoft.com/office/drawing/2014/main" id="{D81DFDC3-B8DA-4126-993B-D2437D97E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714750"/>
            <a:ext cx="6191250" cy="184785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AAB5C0"/>
            </a:solidFill>
            <a:prstDash val="solid"/>
          </a:ln>
        </p:spPr>
      </p:sp>
      <p:sp>
        <p:nvSpPr>
          <p:cNvPr id="27" name="misjudge-case-label">
            <a:extLst xmlns:a="http://schemas.openxmlformats.org/drawingml/2006/main">
              <a:ext uri="{FF2B5EF4-FFF2-40B4-BE49-F238E27FC236}">
                <a16:creationId xmlns:a16="http://schemas.microsoft.com/office/drawing/2014/main" id="{223F6C7B-F728-4C57-8EEC-B70908642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410075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rPr>
              <a:t>VLM误判／人工分歧案例</a:t>
            </a:r>
          </a:p>
        </p:txBody>
      </p:sp>
      <p:sp>
        <p:nvSpPr>
          <p:cNvPr id="28" name="misjudge-case-sub">
            <a:extLst xmlns:a="http://schemas.openxmlformats.org/drawingml/2006/main">
              <a:ext uri="{FF2B5EF4-FFF2-40B4-BE49-F238E27FC236}">
                <a16:creationId xmlns:a16="http://schemas.microsoft.com/office/drawing/2014/main" id="{524DAB5A-E968-45E1-972E-05D016084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714875"/>
            <a:ext cx="588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建议包含：输入图片、VLM结论、人工结论、分歧原因</a:t>
            </a:r>
          </a:p>
        </p:txBody>
      </p:sp>
      <p:sp>
        <p:nvSpPr>
          <p:cNvPr id="29" name="auto-text-14">
            <a:extLst xmlns:a="http://schemas.openxmlformats.org/drawingml/2006/main">
              <a:ext uri="{FF2B5EF4-FFF2-40B4-BE49-F238E27FC236}">
                <a16:creationId xmlns:a16="http://schemas.microsoft.com/office/drawing/2014/main" id="{09A1FA64-C6B0-49C7-ADAE-7BB6FAC25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73405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现状本质：我们并非没有质检能力，而是能力分散在个人经验、Prompt和临时脚本中，尚未形成可复用的方法资产。</a:t>
            </a:r>
          </a:p>
        </p:txBody>
      </p:sp>
    </p:spTree>
    <p:extLst>
      <p:ext uri="{BB962C8B-B14F-4D97-AF65-F5344CB8AC3E}">
        <p14:creationId xmlns:p14="http://schemas.microsoft.com/office/powerpoint/2010/main" val="21385847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accent-3">
            <a:extLst xmlns:a="http://schemas.openxmlformats.org/drawingml/2006/main">
              <a:ext uri="{FF2B5EF4-FFF2-40B4-BE49-F238E27FC236}">
                <a16:creationId xmlns:a16="http://schemas.microsoft.com/office/drawing/2014/main" id="{9E64398B-93BC-4D55-8EB7-92CC502D6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762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2D6C0DF1-3F08-47D8-8CB1-6C0D75A3C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学术界正从“单一Judge打分”转向任务自适应的组合评估</a:t>
            </a:r>
          </a:p>
        </p:txBody>
      </p:sp>
      <p:sp>
        <p:nvSpPr>
          <p:cNvPr id="3" name="page-3">
            <a:extLst xmlns:a="http://schemas.openxmlformats.org/drawingml/2006/main">
              <a:ext uri="{FF2B5EF4-FFF2-40B4-BE49-F238E27FC236}">
                <a16:creationId xmlns:a16="http://schemas.microsoft.com/office/drawing/2014/main" id="{5087BCBD-EB8C-47DC-8EB5-CCC5CDF57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0080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4" name="auto-text-15">
            <a:extLst xmlns:a="http://schemas.openxmlformats.org/drawingml/2006/main">
              <a:ext uri="{FF2B5EF4-FFF2-40B4-BE49-F238E27FC236}">
                <a16:creationId xmlns:a16="http://schemas.microsoft.com/office/drawing/2014/main" id="{EBABA679-4DCF-4247-8BA2-BAE59EA4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906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2025–2026年的关键进展分布在三条路线，VLM Judge只是可被校准和组合的基础评估器之一。</a:t>
            </a:r>
          </a:p>
        </p:txBody>
      </p:sp>
      <p:sp>
        <p:nvSpPr>
          <p:cNvPr id="5" name="track-0">
            <a:extLst xmlns:a="http://schemas.openxmlformats.org/drawingml/2006/main">
              <a:ext uri="{FF2B5EF4-FFF2-40B4-BE49-F238E27FC236}">
                <a16:creationId xmlns:a16="http://schemas.microsoft.com/office/drawing/2014/main" id="{C09E18B6-5C42-49AE-B778-2C091C038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3390900" cy="371475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EAF0FF"/>
            </a:solidFill>
            <a:prstDash val="solid"/>
          </a:ln>
        </p:spPr>
      </p:sp>
      <p:sp>
        <p:nvSpPr>
          <p:cNvPr id="6" name="track-no-0">
            <a:extLst xmlns:a="http://schemas.openxmlformats.org/drawingml/2006/main">
              <a:ext uri="{FF2B5EF4-FFF2-40B4-BE49-F238E27FC236}">
                <a16:creationId xmlns:a16="http://schemas.microsoft.com/office/drawing/2014/main" id="{D1C9D96C-1890-4617-AB70-583048ED2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552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track-title-0">
            <a:extLst xmlns:a="http://schemas.openxmlformats.org/drawingml/2006/main">
              <a:ext uri="{FF2B5EF4-FFF2-40B4-BE49-F238E27FC236}">
                <a16:creationId xmlns:a16="http://schemas.microsoft.com/office/drawing/2014/main" id="{DC58A933-E929-41F9-837C-FF618C19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09750"/>
            <a:ext cx="2343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后验校准与偏移鲁棒</a:t>
            </a:r>
          </a:p>
        </p:txBody>
      </p:sp>
      <p:sp>
        <p:nvSpPr>
          <p:cNvPr id="8" name="track-lead-0">
            <a:extLst xmlns:a="http://schemas.openxmlformats.org/drawingml/2006/main">
              <a:ext uri="{FF2B5EF4-FFF2-40B4-BE49-F238E27FC236}">
                <a16:creationId xmlns:a16="http://schemas.microsoft.com/office/drawing/2014/main" id="{D41BE652-C262-45F1-811E-F10A5BD8C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00300"/>
            <a:ext cx="29337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用少量验证样本修正评分偏差，而不是为每个新任务重训模型。</a:t>
            </a:r>
          </a:p>
        </p:txBody>
      </p:sp>
      <p:sp>
        <p:nvSpPr>
          <p:cNvPr id="9" name="track-divider-0">
            <a:extLst xmlns:a="http://schemas.openxmlformats.org/drawingml/2006/main">
              <a:ext uri="{FF2B5EF4-FFF2-40B4-BE49-F238E27FC236}">
                <a16:creationId xmlns:a16="http://schemas.microsoft.com/office/drawing/2014/main" id="{A8F5B42F-4862-4DC6-A697-554B323D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67100"/>
            <a:ext cx="29337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10" name="track-evidence-label-0">
            <a:extLst xmlns:a="http://schemas.openxmlformats.org/drawingml/2006/main">
              <a:ext uri="{FF2B5EF4-FFF2-40B4-BE49-F238E27FC236}">
                <a16:creationId xmlns:a16="http://schemas.microsoft.com/office/drawing/2014/main" id="{004BAECE-C50E-4AA0-B11D-ACCC7FFE0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766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最新研究结论</a:t>
            </a:r>
          </a:p>
        </p:txBody>
      </p:sp>
      <p:sp>
        <p:nvSpPr>
          <p:cNvPr id="11" name="track-evidence-0">
            <a:extLst xmlns:a="http://schemas.openxmlformats.org/drawingml/2006/main">
              <a:ext uri="{FF2B5EF4-FFF2-40B4-BE49-F238E27FC236}">
                <a16:creationId xmlns:a16="http://schemas.microsoft.com/office/drawing/2014/main" id="{5EAC2908-456E-4ABB-BF4D-65972C68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19550"/>
            <a:ext cx="29337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可利用转移矩阵与Prompt加权，结合分数缩放和阈值校准纠正评分误差。</a:t>
            </a:r>
          </a:p>
        </p:txBody>
      </p:sp>
      <p:sp>
        <p:nvSpPr>
          <p:cNvPr id="12" name="track-signal-0">
            <a:extLst xmlns:a="http://schemas.openxmlformats.org/drawingml/2006/main">
              <a:ext uri="{FF2B5EF4-FFF2-40B4-BE49-F238E27FC236}">
                <a16:creationId xmlns:a16="http://schemas.microsoft.com/office/drawing/2014/main" id="{4AC3C7FF-90A8-4D7F-81E9-C8F69C91C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14900"/>
            <a:ext cx="2933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对应：任务偏好／分数／权重／阈值校准</a:t>
            </a:r>
          </a:p>
        </p:txBody>
      </p:sp>
      <p:sp>
        <p:nvSpPr>
          <p:cNvPr id="13" name="track-1">
            <a:extLst xmlns:a="http://schemas.openxmlformats.org/drawingml/2006/main">
              <a:ext uri="{FF2B5EF4-FFF2-40B4-BE49-F238E27FC236}">
                <a16:creationId xmlns:a16="http://schemas.microsoft.com/office/drawing/2014/main" id="{F3881286-DFF2-4ED8-B70B-4BA276DB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581150"/>
            <a:ext cx="3390900" cy="371475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9525">
            <a:solidFill>
              <a:srgbClr val="F1EDFF"/>
            </a:solidFill>
            <a:prstDash val="solid"/>
          </a:ln>
        </p:spPr>
      </p:sp>
      <p:sp>
        <p:nvSpPr>
          <p:cNvPr id="14" name="track-no-1">
            <a:extLst xmlns:a="http://schemas.openxmlformats.org/drawingml/2006/main">
              <a:ext uri="{FF2B5EF4-FFF2-40B4-BE49-F238E27FC236}">
                <a16:creationId xmlns:a16="http://schemas.microsoft.com/office/drawing/2014/main" id="{0B631EFD-3AAD-45B2-8A81-3527FF249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09750"/>
            <a:ext cx="552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7B61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7B61D1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5" name="track-title-1">
            <a:extLst xmlns:a="http://schemas.openxmlformats.org/drawingml/2006/main">
              <a:ext uri="{FF2B5EF4-FFF2-40B4-BE49-F238E27FC236}">
                <a16:creationId xmlns:a16="http://schemas.microsoft.com/office/drawing/2014/main" id="{0005F5DE-9601-46D6-9DFE-EBD193169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09750"/>
            <a:ext cx="2343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7B61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7B61D1"/>
                </a:solidFill>
                <a:latin typeface="Microsoft YaHei"/>
                <a:ea typeface="Microsoft YaHei"/>
                <a:cs typeface="Microsoft YaHei"/>
              </a:rPr>
              <a:t>邻域共识与鲁棒选择</a:t>
            </a:r>
          </a:p>
        </p:txBody>
      </p:sp>
      <p:sp>
        <p:nvSpPr>
          <p:cNvPr id="16" name="track-lead-1">
            <a:extLst xmlns:a="http://schemas.openxmlformats.org/drawingml/2006/main">
              <a:ext uri="{FF2B5EF4-FFF2-40B4-BE49-F238E27FC236}">
                <a16:creationId xmlns:a16="http://schemas.microsoft.com/office/drawing/2014/main" id="{383FA7A2-5307-4496-B6E7-1B4FD7F1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00300"/>
            <a:ext cx="29337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不把一次Prompt或单一权重配置当作最终结论，而是在相邻偏好上形成候选池。</a:t>
            </a:r>
          </a:p>
        </p:txBody>
      </p:sp>
      <p:sp>
        <p:nvSpPr>
          <p:cNvPr id="17" name="track-divider-1">
            <a:extLst xmlns:a="http://schemas.openxmlformats.org/drawingml/2006/main">
              <a:ext uri="{FF2B5EF4-FFF2-40B4-BE49-F238E27FC236}">
                <a16:creationId xmlns:a16="http://schemas.microsoft.com/office/drawing/2014/main" id="{F06D91C3-E794-4894-9C76-8BF649F63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467100"/>
            <a:ext cx="29337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B61D1"/>
          </a:solidFill>
          <a:ln xmlns:a="http://schemas.openxmlformats.org/drawingml/2006/main" w="9525">
            <a:solidFill>
              <a:srgbClr val="7B61D1"/>
            </a:solidFill>
            <a:prstDash val="solid"/>
          </a:ln>
        </p:spPr>
      </p:sp>
      <p:sp>
        <p:nvSpPr>
          <p:cNvPr id="18" name="track-evidence-label-1">
            <a:extLst xmlns:a="http://schemas.openxmlformats.org/drawingml/2006/main">
              <a:ext uri="{FF2B5EF4-FFF2-40B4-BE49-F238E27FC236}">
                <a16:creationId xmlns:a16="http://schemas.microsoft.com/office/drawing/2014/main" id="{ABABC629-FF21-43CB-B3A8-C856D5F43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6766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7B61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7B61D1"/>
                </a:solidFill>
                <a:latin typeface="Microsoft YaHei"/>
                <a:ea typeface="Microsoft YaHei"/>
                <a:cs typeface="Microsoft YaHei"/>
              </a:rPr>
              <a:t>最新研究结论</a:t>
            </a:r>
          </a:p>
        </p:txBody>
      </p:sp>
      <p:sp>
        <p:nvSpPr>
          <p:cNvPr id="19" name="track-evidence-1">
            <a:extLst xmlns:a="http://schemas.openxmlformats.org/drawingml/2006/main">
              <a:ext uri="{FF2B5EF4-FFF2-40B4-BE49-F238E27FC236}">
                <a16:creationId xmlns:a16="http://schemas.microsoft.com/office/drawing/2014/main" id="{C9DDE856-12BD-42B0-A330-501711587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019550"/>
            <a:ext cx="29337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2026年研究显示：无需重训练，邻域共识在长尾偏好上取得最高69%的胜率。</a:t>
            </a:r>
          </a:p>
        </p:txBody>
      </p:sp>
      <p:sp>
        <p:nvSpPr>
          <p:cNvPr id="20" name="track-signal-1">
            <a:extLst xmlns:a="http://schemas.openxmlformats.org/drawingml/2006/main">
              <a:ext uri="{FF2B5EF4-FFF2-40B4-BE49-F238E27FC236}">
                <a16:creationId xmlns:a16="http://schemas.microsoft.com/office/drawing/2014/main" id="{626828E2-BD6C-4A28-A722-C5B3FCF13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914900"/>
            <a:ext cx="2933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7B61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7B61D1"/>
                </a:solidFill>
                <a:latin typeface="Microsoft YaHei"/>
                <a:ea typeface="Microsoft YaHei"/>
                <a:cs typeface="Microsoft YaHei"/>
              </a:rPr>
              <a:t>对应：多视角／分歧检测／保守选择</a:t>
            </a:r>
          </a:p>
        </p:txBody>
      </p:sp>
      <p:sp>
        <p:nvSpPr>
          <p:cNvPr id="21" name="track-2">
            <a:extLst xmlns:a="http://schemas.openxmlformats.org/drawingml/2006/main">
              <a:ext uri="{FF2B5EF4-FFF2-40B4-BE49-F238E27FC236}">
                <a16:creationId xmlns:a16="http://schemas.microsoft.com/office/drawing/2014/main" id="{B6F85723-20BD-4626-8A10-07FBAEC9E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581150"/>
            <a:ext cx="3390900" cy="371475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E7F6F3"/>
          </a:solidFill>
          <a:ln xmlns:a="http://schemas.openxmlformats.org/drawingml/2006/main" w="9525">
            <a:solidFill>
              <a:srgbClr val="E7F6F3"/>
            </a:solidFill>
            <a:prstDash val="solid"/>
          </a:ln>
        </p:spPr>
      </p:sp>
      <p:sp>
        <p:nvSpPr>
          <p:cNvPr id="22" name="track-no-2">
            <a:extLst xmlns:a="http://schemas.openxmlformats.org/drawingml/2006/main">
              <a:ext uri="{FF2B5EF4-FFF2-40B4-BE49-F238E27FC236}">
                <a16:creationId xmlns:a16="http://schemas.microsoft.com/office/drawing/2014/main" id="{C77E9B07-E11F-4A3B-A418-F50083C3D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809750"/>
            <a:ext cx="552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3" name="track-title-2">
            <a:extLst xmlns:a="http://schemas.openxmlformats.org/drawingml/2006/main">
              <a:ext uri="{FF2B5EF4-FFF2-40B4-BE49-F238E27FC236}">
                <a16:creationId xmlns:a16="http://schemas.microsoft.com/office/drawing/2014/main" id="{65674DED-ED1C-4F75-977A-70F5F01A9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809750"/>
            <a:ext cx="2343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rPr>
              <a:t>证据核验与人机协同</a:t>
            </a:r>
          </a:p>
        </p:txBody>
      </p:sp>
      <p:sp>
        <p:nvSpPr>
          <p:cNvPr id="24" name="track-lead-2">
            <a:extLst xmlns:a="http://schemas.openxmlformats.org/drawingml/2006/main">
              <a:ext uri="{FF2B5EF4-FFF2-40B4-BE49-F238E27FC236}">
                <a16:creationId xmlns:a16="http://schemas.microsoft.com/office/drawing/2014/main" id="{F827189C-2EA4-425F-96C1-BCA720CBE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00300"/>
            <a:ext cx="29337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模型分数必须能回到对象、属性、区域、OCR或结构化视觉证据上核验。</a:t>
            </a:r>
          </a:p>
        </p:txBody>
      </p:sp>
      <p:sp>
        <p:nvSpPr>
          <p:cNvPr id="25" name="track-divider-2">
            <a:extLst xmlns:a="http://schemas.openxmlformats.org/drawingml/2006/main">
              <a:ext uri="{FF2B5EF4-FFF2-40B4-BE49-F238E27FC236}">
                <a16:creationId xmlns:a16="http://schemas.microsoft.com/office/drawing/2014/main" id="{772797F2-E611-4DAE-BFCB-0257AE161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67100"/>
            <a:ext cx="29337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91"/>
          </a:solidFill>
          <a:ln xmlns:a="http://schemas.openxmlformats.org/drawingml/2006/main" w="9525">
            <a:solidFill>
              <a:srgbClr val="159A91"/>
            </a:solidFill>
            <a:prstDash val="solid"/>
          </a:ln>
        </p:spPr>
      </p:sp>
      <p:sp>
        <p:nvSpPr>
          <p:cNvPr id="26" name="track-evidence-label-2">
            <a:extLst xmlns:a="http://schemas.openxmlformats.org/drawingml/2006/main">
              <a:ext uri="{FF2B5EF4-FFF2-40B4-BE49-F238E27FC236}">
                <a16:creationId xmlns:a16="http://schemas.microsoft.com/office/drawing/2014/main" id="{A0C4B789-D667-4411-AA03-F3FE09335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6766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rPr>
              <a:t>最新研究结论</a:t>
            </a:r>
          </a:p>
        </p:txBody>
      </p:sp>
      <p:sp>
        <p:nvSpPr>
          <p:cNvPr id="27" name="track-evidence-2">
            <a:extLst xmlns:a="http://schemas.openxmlformats.org/drawingml/2006/main">
              <a:ext uri="{FF2B5EF4-FFF2-40B4-BE49-F238E27FC236}">
                <a16:creationId xmlns:a16="http://schemas.microsoft.com/office/drawing/2014/main" id="{D3C433BB-264E-4448-BB12-158FE4B32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19550"/>
            <a:ext cx="29337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研究以场景图和可执行程序核验1.06万条视觉问答，减少对主观Judge的依赖。</a:t>
            </a:r>
          </a:p>
        </p:txBody>
      </p:sp>
      <p:sp>
        <p:nvSpPr>
          <p:cNvPr id="28" name="track-signal-2">
            <a:extLst xmlns:a="http://schemas.openxmlformats.org/drawingml/2006/main">
              <a:ext uri="{FF2B5EF4-FFF2-40B4-BE49-F238E27FC236}">
                <a16:creationId xmlns:a16="http://schemas.microsoft.com/office/drawing/2014/main" id="{8D4CB693-7DE0-410F-8973-8A119F98C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14900"/>
            <a:ext cx="2933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rPr>
              <a:t>对应：证据仲裁／人工复核／闭环验证</a:t>
            </a:r>
          </a:p>
        </p:txBody>
      </p:sp>
      <p:sp>
        <p:nvSpPr>
          <p:cNvPr id="29" name="research-conclusion">
            <a:extLst xmlns:a="http://schemas.openxmlformats.org/drawingml/2006/main">
              <a:ext uri="{FF2B5EF4-FFF2-40B4-BE49-F238E27FC236}">
                <a16:creationId xmlns:a16="http://schemas.microsoft.com/office/drawing/2014/main" id="{C9F75DEF-64F4-4B59-8325-514EF012F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62600"/>
            <a:ext cx="111633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2263A"/>
          </a:solidFill>
          <a:ln xmlns:a="http://schemas.openxmlformats.org/drawingml/2006/main" w="9525">
            <a:solidFill>
              <a:srgbClr val="12263A"/>
            </a:solidFill>
            <a:prstDash val="solid"/>
          </a:ln>
        </p:spPr>
      </p:sp>
      <p:sp>
        <p:nvSpPr>
          <p:cNvPr id="30" name="auto-text-16">
            <a:extLst xmlns:a="http://schemas.openxmlformats.org/drawingml/2006/main">
              <a:ext uri="{FF2B5EF4-FFF2-40B4-BE49-F238E27FC236}">
                <a16:creationId xmlns:a16="http://schemas.microsoft.com/office/drawing/2014/main" id="{9F1E2C7A-BD7F-48DF-A8A6-23DD41CC1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150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8EB0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8EB0FF"/>
                </a:solidFill>
                <a:latin typeface="Microsoft YaHei"/>
                <a:ea typeface="Microsoft YaHei"/>
                <a:cs typeface="Microsoft YaHei"/>
              </a:rPr>
              <a:t>研究共识</a:t>
            </a:r>
          </a:p>
        </p:txBody>
      </p:sp>
      <p:sp>
        <p:nvSpPr>
          <p:cNvPr id="31" name="auto-text-17">
            <a:extLst xmlns:a="http://schemas.openxmlformats.org/drawingml/2006/main">
              <a:ext uri="{FF2B5EF4-FFF2-40B4-BE49-F238E27FC236}">
                <a16:creationId xmlns:a16="http://schemas.microsoft.com/office/drawing/2014/main" id="{B809FDEE-B03B-4549-BB9D-C30070D0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695950"/>
            <a:ext cx="952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评估能力的增量来自校准、组合与核验，而不仅是更换一个更大的VLM。</a:t>
            </a:r>
          </a:p>
        </p:txBody>
      </p:sp>
      <p:sp>
        <p:nvSpPr>
          <p:cNvPr id="32" name="source-650-0.10995500117001122">
            <a:extLst xmlns:a="http://schemas.openxmlformats.org/drawingml/2006/main">
              <a:ext uri="{FF2B5EF4-FFF2-40B4-BE49-F238E27FC236}">
                <a16:creationId xmlns:a16="http://schemas.microsoft.com/office/drawing/2014/main" id="{10D95A6F-D905-42DD-8EE2-9CB626938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191250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 i="1">
                <a:solidFill>
                  <a:srgbClr val="7B8794"/>
                </a:solidFill>
                <a:latin typeface="Cambria"/>
                <a:ea typeface="Cambria"/>
                <a:cs typeface="Cambria"/>
              </a:defRPr>
            </a:pPr>
            <a:r>
              <a:rPr sz="825" b="0" i="1">
                <a:solidFill>
                  <a:srgbClr val="7B8794"/>
                </a:solidFill>
                <a:latin typeface="Cambria"/>
                <a:ea typeface="Cambria"/>
                <a:cs typeface="Cambria"/>
              </a:rPr>
              <a:t>依据：ICLR 2025／2026；ICCV 2025；AAAI 2025相关研究结论</a:t>
            </a:r>
          </a:p>
        </p:txBody>
      </p:sp>
    </p:spTree>
    <p:extLst>
      <p:ext uri="{BB962C8B-B14F-4D97-AF65-F5344CB8AC3E}">
        <p14:creationId xmlns:p14="http://schemas.microsoft.com/office/powerpoint/2010/main" val="11225360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accent-4">
            <a:extLst xmlns:a="http://schemas.openxmlformats.org/drawingml/2006/main">
              <a:ext uri="{FF2B5EF4-FFF2-40B4-BE49-F238E27FC236}">
                <a16:creationId xmlns:a16="http://schemas.microsoft.com/office/drawing/2014/main" id="{853DA1DD-5DB3-4175-B460-35D1933EF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762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F96CD90E-690C-413A-99AE-773F44EDE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头部公司已形成“任务标准＋自动Judge＋人工校准”闭环</a:t>
            </a:r>
          </a:p>
        </p:txBody>
      </p:sp>
      <p:sp>
        <p:nvSpPr>
          <p:cNvPr id="3" name="page-4">
            <a:extLst xmlns:a="http://schemas.openxmlformats.org/drawingml/2006/main">
              <a:ext uri="{FF2B5EF4-FFF2-40B4-BE49-F238E27FC236}">
                <a16:creationId xmlns:a16="http://schemas.microsoft.com/office/drawing/2014/main" id="{FACCE44B-02C1-46AF-9274-647766354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0080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" name="auto-text-18">
            <a:extLst xmlns:a="http://schemas.openxmlformats.org/drawingml/2006/main">
              <a:ext uri="{FF2B5EF4-FFF2-40B4-BE49-F238E27FC236}">
                <a16:creationId xmlns:a16="http://schemas.microsoft.com/office/drawing/2014/main" id="{035C6D54-C2BC-4FF5-8649-CC7FC1DA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906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公开做法虽不完全相同，但都先拆解任务标准，再组合自动评估、人工验证和训练回流。</a:t>
            </a:r>
          </a:p>
        </p:txBody>
      </p:sp>
      <p:sp>
        <p:nvSpPr>
          <p:cNvPr id="5" name="auto-text-19">
            <a:extLst xmlns:a="http://schemas.openxmlformats.org/drawingml/2006/main">
              <a:ext uri="{FF2B5EF4-FFF2-40B4-BE49-F238E27FC236}">
                <a16:creationId xmlns:a16="http://schemas.microsoft.com/office/drawing/2014/main" id="{4AF55766-16A0-47DB-B0D6-7B3A9E943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287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公司／团队</a:t>
            </a:r>
          </a:p>
        </p:txBody>
      </p:sp>
      <p:sp>
        <p:nvSpPr>
          <p:cNvPr id="6" name="auto-text-20">
            <a:extLst xmlns:a="http://schemas.openxmlformats.org/drawingml/2006/main">
              <a:ext uri="{FF2B5EF4-FFF2-40B4-BE49-F238E27FC236}">
                <a16:creationId xmlns:a16="http://schemas.microsoft.com/office/drawing/2014/main" id="{8AA96BB6-E416-44DE-94BE-031ED5567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4287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公开实践</a:t>
            </a:r>
          </a:p>
        </p:txBody>
      </p:sp>
      <p:sp>
        <p:nvSpPr>
          <p:cNvPr id="7" name="auto-text-21">
            <a:extLst xmlns:a="http://schemas.openxmlformats.org/drawingml/2006/main">
              <a:ext uri="{FF2B5EF4-FFF2-40B4-BE49-F238E27FC236}">
                <a16:creationId xmlns:a16="http://schemas.microsoft.com/office/drawing/2014/main" id="{4EA72525-C8AE-4C28-B8EF-2E055DC15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4287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方法特征</a:t>
            </a:r>
          </a:p>
        </p:txBody>
      </p:sp>
      <p:sp>
        <p:nvSpPr>
          <p:cNvPr id="8" name="company-row-0">
            <a:extLst xmlns:a="http://schemas.openxmlformats.org/drawingml/2006/main">
              <a:ext uri="{FF2B5EF4-FFF2-40B4-BE49-F238E27FC236}">
                <a16:creationId xmlns:a16="http://schemas.microsoft.com/office/drawing/2014/main" id="{0971BFF8-0BC4-4DB5-9F8E-B2826426A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633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5F8FF"/>
          </a:solidFill>
          <a:ln xmlns:a="http://schemas.openxmlformats.org/drawingml/2006/main" w="9525">
            <a:solidFill>
              <a:srgbClr val="F5F8FF"/>
            </a:solidFill>
            <a:prstDash val="solid"/>
          </a:ln>
        </p:spPr>
      </p:sp>
      <p:sp>
        <p:nvSpPr>
          <p:cNvPr id="9" name="company-name-0">
            <a:extLst xmlns:a="http://schemas.openxmlformats.org/drawingml/2006/main">
              <a:ext uri="{FF2B5EF4-FFF2-40B4-BE49-F238E27FC236}">
                <a16:creationId xmlns:a16="http://schemas.microsoft.com/office/drawing/2014/main" id="{E85E1298-A05B-4F5D-BF2D-C44BC25EE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716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OpenAI</a:t>
            </a:r>
          </a:p>
        </p:txBody>
      </p:sp>
      <p:sp>
        <p:nvSpPr>
          <p:cNvPr id="10" name="company-body-0">
            <a:extLst xmlns:a="http://schemas.openxmlformats.org/drawingml/2006/main">
              <a:ext uri="{FF2B5EF4-FFF2-40B4-BE49-F238E27FC236}">
                <a16:creationId xmlns:a16="http://schemas.microsoft.com/office/drawing/2014/main" id="{2F23FF16-FB34-4A51-AD83-2DE93AB1A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895475"/>
            <a:ext cx="657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按能力与安全风险切分评测集；用自动分类器／推理模型做离线评估，并结合对抗测试与人工规范校验。</a:t>
            </a:r>
          </a:p>
        </p:txBody>
      </p:sp>
      <p:sp>
        <p:nvSpPr>
          <p:cNvPr id="11" name="company-tag-0">
            <a:extLst xmlns:a="http://schemas.openxmlformats.org/drawingml/2006/main">
              <a:ext uri="{FF2B5EF4-FFF2-40B4-BE49-F238E27FC236}">
                <a16:creationId xmlns:a16="http://schemas.microsoft.com/office/drawing/2014/main" id="{3C5055C7-1698-40AD-879D-2A82AC194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9812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持续评测</a:t>
            </a:r>
          </a:p>
        </p:txBody>
      </p:sp>
      <p:sp>
        <p:nvSpPr>
          <p:cNvPr id="12" name="company-row-1">
            <a:extLst xmlns:a="http://schemas.openxmlformats.org/drawingml/2006/main">
              <a:ext uri="{FF2B5EF4-FFF2-40B4-BE49-F238E27FC236}">
                <a16:creationId xmlns:a16="http://schemas.microsoft.com/office/drawing/2014/main" id="{4FAA1C3A-F2C6-47A9-98AD-07F4E8CB5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0"/>
            <a:ext cx="111633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8F6FF"/>
          </a:solidFill>
          <a:ln xmlns:a="http://schemas.openxmlformats.org/drawingml/2006/main" w="9525">
            <a:solidFill>
              <a:srgbClr val="F8F6FF"/>
            </a:solidFill>
            <a:prstDash val="solid"/>
          </a:ln>
        </p:spPr>
      </p:sp>
      <p:sp>
        <p:nvSpPr>
          <p:cNvPr id="13" name="company-name-1">
            <a:extLst xmlns:a="http://schemas.openxmlformats.org/drawingml/2006/main">
              <a:ext uri="{FF2B5EF4-FFF2-40B4-BE49-F238E27FC236}">
                <a16:creationId xmlns:a16="http://schemas.microsoft.com/office/drawing/2014/main" id="{1CB6402E-90D5-4537-8279-B1F166D1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860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7B61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7B61D1"/>
                </a:solidFill>
                <a:latin typeface="Microsoft YaHei"/>
                <a:ea typeface="Microsoft YaHei"/>
                <a:cs typeface="Microsoft YaHei"/>
              </a:rPr>
              <a:t>阿里 Qwen</a:t>
            </a:r>
          </a:p>
        </p:txBody>
      </p:sp>
      <p:sp>
        <p:nvSpPr>
          <p:cNvPr id="14" name="company-body-1">
            <a:extLst xmlns:a="http://schemas.openxmlformats.org/drawingml/2006/main">
              <a:ext uri="{FF2B5EF4-FFF2-40B4-BE49-F238E27FC236}">
                <a16:creationId xmlns:a16="http://schemas.microsoft.com/office/drawing/2014/main" id="{72BF7FE3-9189-429F-8885-D83EFEA61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809875"/>
            <a:ext cx="657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建设多级图像评测体系；专用 Q-Judger 按5个一级维度、56个细粒度因素评分，并结合公开基准与盲测。</a:t>
            </a:r>
          </a:p>
        </p:txBody>
      </p:sp>
      <p:sp>
        <p:nvSpPr>
          <p:cNvPr id="15" name="company-tag-1">
            <a:extLst xmlns:a="http://schemas.openxmlformats.org/drawingml/2006/main">
              <a:ext uri="{FF2B5EF4-FFF2-40B4-BE49-F238E27FC236}">
                <a16:creationId xmlns:a16="http://schemas.microsoft.com/office/drawing/2014/main" id="{2972AB90-FB19-4FFB-841C-731D33E02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8956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7B61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7B61D1"/>
                </a:solidFill>
                <a:latin typeface="Microsoft YaHei"/>
                <a:ea typeface="Microsoft YaHei"/>
                <a:cs typeface="Microsoft YaHei"/>
              </a:rPr>
              <a:t>专用 Judge</a:t>
            </a:r>
          </a:p>
        </p:txBody>
      </p:sp>
      <p:sp>
        <p:nvSpPr>
          <p:cNvPr id="16" name="company-row-2">
            <a:extLst xmlns:a="http://schemas.openxmlformats.org/drawingml/2006/main">
              <a:ext uri="{FF2B5EF4-FFF2-40B4-BE49-F238E27FC236}">
                <a16:creationId xmlns:a16="http://schemas.microsoft.com/office/drawing/2014/main" id="{D97403A7-6D60-4C3E-A16B-82079FC4A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81400"/>
            <a:ext cx="111633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7F5"/>
          </a:solidFill>
          <a:ln xmlns:a="http://schemas.openxmlformats.org/drawingml/2006/main" w="9525">
            <a:solidFill>
              <a:srgbClr val="FFF7F5"/>
            </a:solidFill>
            <a:prstDash val="solid"/>
          </a:ln>
        </p:spPr>
      </p:sp>
      <p:sp>
        <p:nvSpPr>
          <p:cNvPr id="17" name="company-name-2">
            <a:extLst xmlns:a="http://schemas.openxmlformats.org/drawingml/2006/main">
              <a:ext uri="{FF2B5EF4-FFF2-40B4-BE49-F238E27FC236}">
                <a16:creationId xmlns:a16="http://schemas.microsoft.com/office/drawing/2014/main" id="{98915046-A431-4A8C-9172-E35B4FE09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00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E65C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E65C55"/>
                </a:solidFill>
                <a:latin typeface="Microsoft YaHei"/>
                <a:ea typeface="Microsoft YaHei"/>
                <a:cs typeface="Microsoft YaHei"/>
              </a:rPr>
              <a:t>字节 Seed</a:t>
            </a:r>
          </a:p>
        </p:txBody>
      </p:sp>
      <p:sp>
        <p:nvSpPr>
          <p:cNvPr id="18" name="company-body-2">
            <a:extLst xmlns:a="http://schemas.openxmlformats.org/drawingml/2006/main">
              <a:ext uri="{FF2B5EF4-FFF2-40B4-BE49-F238E27FC236}">
                <a16:creationId xmlns:a16="http://schemas.microsoft.com/office/drawing/2014/main" id="{1016E8CE-1CAF-4498-8280-4844F102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724275"/>
            <a:ext cx="657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覆盖23类图像编辑子任务；CLIP评一致性、第三方VLM评指令响应，再以人工可用率验证最终效果。</a:t>
            </a:r>
          </a:p>
        </p:txBody>
      </p:sp>
      <p:sp>
        <p:nvSpPr>
          <p:cNvPr id="19" name="company-tag-2">
            <a:extLst xmlns:a="http://schemas.openxmlformats.org/drawingml/2006/main">
              <a:ext uri="{FF2B5EF4-FFF2-40B4-BE49-F238E27FC236}">
                <a16:creationId xmlns:a16="http://schemas.microsoft.com/office/drawing/2014/main" id="{0FEE3420-36D2-4C07-847A-B3A7A4D8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100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E65C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E65C55"/>
                </a:solidFill>
                <a:latin typeface="Microsoft YaHei"/>
                <a:ea typeface="Microsoft YaHei"/>
                <a:cs typeface="Microsoft YaHei"/>
              </a:rPr>
              <a:t>混合指标</a:t>
            </a:r>
          </a:p>
        </p:txBody>
      </p:sp>
      <p:sp>
        <p:nvSpPr>
          <p:cNvPr id="20" name="company-row-3">
            <a:extLst xmlns:a="http://schemas.openxmlformats.org/drawingml/2006/main">
              <a:ext uri="{FF2B5EF4-FFF2-40B4-BE49-F238E27FC236}">
                <a16:creationId xmlns:a16="http://schemas.microsoft.com/office/drawing/2014/main" id="{D1DB1A1D-A138-4605-BB33-0F70ADFD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95800"/>
            <a:ext cx="111633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3FBFA"/>
          </a:solidFill>
          <a:ln xmlns:a="http://schemas.openxmlformats.org/drawingml/2006/main" w="9525">
            <a:solidFill>
              <a:srgbClr val="F3FBFA"/>
            </a:solidFill>
            <a:prstDash val="solid"/>
          </a:ln>
        </p:spPr>
      </p:sp>
      <p:sp>
        <p:nvSpPr>
          <p:cNvPr id="21" name="company-name-3">
            <a:extLst xmlns:a="http://schemas.openxmlformats.org/drawingml/2006/main">
              <a:ext uri="{FF2B5EF4-FFF2-40B4-BE49-F238E27FC236}">
                <a16:creationId xmlns:a16="http://schemas.microsoft.com/office/drawing/2014/main" id="{BB3960C6-EF42-4DED-B85B-DCD64A3A4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rPr>
              <a:t>腾讯混元</a:t>
            </a:r>
          </a:p>
        </p:txBody>
      </p:sp>
      <p:sp>
        <p:nvSpPr>
          <p:cNvPr id="22" name="company-body-3">
            <a:extLst xmlns:a="http://schemas.openxmlformats.org/drawingml/2006/main">
              <a:ext uri="{FF2B5EF4-FFF2-40B4-BE49-F238E27FC236}">
                <a16:creationId xmlns:a16="http://schemas.microsoft.com/office/drawing/2014/main" id="{65A33F45-CD9D-4093-BECC-C28C654D8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638675"/>
            <a:ext cx="657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SSAE将提示词拆成3500个关键点／12类，由MLLM逐点评分；同时以100+专业评估员开展GSB对比。</a:t>
            </a:r>
          </a:p>
        </p:txBody>
      </p:sp>
      <p:sp>
        <p:nvSpPr>
          <p:cNvPr id="23" name="company-tag-3">
            <a:extLst xmlns:a="http://schemas.openxmlformats.org/drawingml/2006/main">
              <a:ext uri="{FF2B5EF4-FFF2-40B4-BE49-F238E27FC236}">
                <a16:creationId xmlns:a16="http://schemas.microsoft.com/office/drawing/2014/main" id="{F852DDAB-1987-40FB-B870-CD43BC231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724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rPr>
              <a:t>检查点＋人工</a:t>
            </a:r>
          </a:p>
        </p:txBody>
      </p:sp>
      <p:sp>
        <p:nvSpPr>
          <p:cNvPr id="24" name="company-conclusion">
            <a:extLst xmlns:a="http://schemas.openxmlformats.org/drawingml/2006/main">
              <a:ext uri="{FF2B5EF4-FFF2-40B4-BE49-F238E27FC236}">
                <a16:creationId xmlns:a16="http://schemas.microsoft.com/office/drawing/2014/main" id="{17459817-4AE6-4E9C-AFCB-D687C6278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05450"/>
            <a:ext cx="111633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2263A"/>
          </a:solidFill>
          <a:ln xmlns:a="http://schemas.openxmlformats.org/drawingml/2006/main" w="9525">
            <a:solidFill>
              <a:srgbClr val="12263A"/>
            </a:solidFill>
            <a:prstDash val="solid"/>
          </a:ln>
        </p:spPr>
      </p:sp>
      <p:sp>
        <p:nvSpPr>
          <p:cNvPr id="25" name="auto-text-22">
            <a:extLst xmlns:a="http://schemas.openxmlformats.org/drawingml/2006/main">
              <a:ext uri="{FF2B5EF4-FFF2-40B4-BE49-F238E27FC236}">
                <a16:creationId xmlns:a16="http://schemas.microsoft.com/office/drawing/2014/main" id="{2965CD7A-87F5-4C6D-A6C0-21E272FF4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8EB0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8EB0FF"/>
                </a:solidFill>
                <a:latin typeface="Microsoft YaHei"/>
                <a:ea typeface="Microsoft YaHei"/>
                <a:cs typeface="Microsoft YaHei"/>
              </a:rPr>
              <a:t>行业共识</a:t>
            </a:r>
          </a:p>
        </p:txBody>
      </p:sp>
      <p:sp>
        <p:nvSpPr>
          <p:cNvPr id="26" name="auto-text-23">
            <a:extLst xmlns:a="http://schemas.openxmlformats.org/drawingml/2006/main">
              <a:ext uri="{FF2B5EF4-FFF2-40B4-BE49-F238E27FC236}">
                <a16:creationId xmlns:a16="http://schemas.microsoft.com/office/drawing/2014/main" id="{0DD1F947-DF0E-4210-953E-E39B4DD6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6388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通用模型只是底座；真正拉开效果的是任务Rubric、评价器组合、人工校准与持续回流。</a:t>
            </a:r>
          </a:p>
        </p:txBody>
      </p:sp>
      <p:sp>
        <p:nvSpPr>
          <p:cNvPr id="27" name="source-650-0.8494237009190406">
            <a:extLst xmlns:a="http://schemas.openxmlformats.org/drawingml/2006/main">
              <a:ext uri="{FF2B5EF4-FFF2-40B4-BE49-F238E27FC236}">
                <a16:creationId xmlns:a16="http://schemas.microsoft.com/office/drawing/2014/main" id="{CC4E280C-39ED-4409-8888-EA3788FC8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191250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 i="1">
                <a:solidFill>
                  <a:srgbClr val="7B8794"/>
                </a:solidFill>
                <a:latin typeface="Cambria"/>
                <a:ea typeface="Cambria"/>
                <a:cs typeface="Cambria"/>
              </a:defRPr>
            </a:pPr>
            <a:r>
              <a:rPr sz="825" b="0" i="1">
                <a:solidFill>
                  <a:srgbClr val="7B8794"/>
                </a:solidFill>
                <a:latin typeface="Cambria"/>
                <a:ea typeface="Cambria"/>
                <a:cs typeface="Cambria"/>
              </a:rPr>
              <a:t>公开资料：OpenAI Images 2.0；Qwen-Image-Bench；SeedEdit 3.0；HunyuanImage 3.0</a:t>
            </a:r>
          </a:p>
        </p:txBody>
      </p:sp>
    </p:spTree>
    <p:extLst>
      <p:ext uri="{BB962C8B-B14F-4D97-AF65-F5344CB8AC3E}">
        <p14:creationId xmlns:p14="http://schemas.microsoft.com/office/powerpoint/2010/main" val="153219921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accent-5">
            <a:extLst xmlns:a="http://schemas.openxmlformats.org/drawingml/2006/main">
              <a:ext uri="{FF2B5EF4-FFF2-40B4-BE49-F238E27FC236}">
                <a16:creationId xmlns:a16="http://schemas.microsoft.com/office/drawing/2014/main" id="{78F62BA9-BF29-45F4-A9D3-506E197D3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762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581499D9-284A-4C04-AA38-461332EDC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合作项目研究的是上层评估机制，而非单一VLM Judge</a:t>
            </a:r>
          </a:p>
        </p:txBody>
      </p:sp>
      <p:sp>
        <p:nvSpPr>
          <p:cNvPr id="3" name="page-5">
            <a:extLst xmlns:a="http://schemas.openxmlformats.org/drawingml/2006/main">
              <a:ext uri="{FF2B5EF4-FFF2-40B4-BE49-F238E27FC236}">
                <a16:creationId xmlns:a16="http://schemas.microsoft.com/office/drawing/2014/main" id="{7D11C190-2933-4FAD-866D-4E1ED9C44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0080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4" name="auto-text-24">
            <a:extLst xmlns:a="http://schemas.openxmlformats.org/drawingml/2006/main">
              <a:ext uri="{FF2B5EF4-FFF2-40B4-BE49-F238E27FC236}">
                <a16:creationId xmlns:a16="http://schemas.microsoft.com/office/drawing/2014/main" id="{DF32CBD4-E653-49DD-AFA3-623298E11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906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SOW的三个核心模块作用于多种既有评估器之上，负责适配任务、稳定结论并提供证据。</a:t>
            </a:r>
          </a:p>
        </p:txBody>
      </p:sp>
      <p:sp>
        <p:nvSpPr>
          <p:cNvPr id="5" name="sow-module-0">
            <a:extLst xmlns:a="http://schemas.openxmlformats.org/drawingml/2006/main">
              <a:ext uri="{FF2B5EF4-FFF2-40B4-BE49-F238E27FC236}">
                <a16:creationId xmlns:a16="http://schemas.microsoft.com/office/drawing/2014/main" id="{F119F5FA-A9BC-4792-B14B-1CA42A4D8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3390900" cy="268605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EAF0FF"/>
            </a:solidFill>
            <a:prstDash val="solid"/>
          </a:ln>
        </p:spPr>
      </p:sp>
      <p:sp>
        <p:nvSpPr>
          <p:cNvPr id="6" name="sow-no-0">
            <a:extLst xmlns:a="http://schemas.openxmlformats.org/drawingml/2006/main">
              <a:ext uri="{FF2B5EF4-FFF2-40B4-BE49-F238E27FC236}">
                <a16:creationId xmlns:a16="http://schemas.microsoft.com/office/drawing/2014/main" id="{874AB140-60E7-44CC-848E-7BB9D9E16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模块一</a:t>
            </a:r>
          </a:p>
        </p:txBody>
      </p:sp>
      <p:sp>
        <p:nvSpPr>
          <p:cNvPr id="7" name="sow-title-0">
            <a:extLst xmlns:a="http://schemas.openxmlformats.org/drawingml/2006/main">
              <a:ext uri="{FF2B5EF4-FFF2-40B4-BE49-F238E27FC236}">
                <a16:creationId xmlns:a16="http://schemas.microsoft.com/office/drawing/2014/main" id="{CDF95CB7-7474-4958-837E-DF153331A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71700"/>
            <a:ext cx="2933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任务偏好建模与后验校准</a:t>
            </a:r>
          </a:p>
        </p:txBody>
      </p:sp>
      <p:sp>
        <p:nvSpPr>
          <p:cNvPr id="8" name="sow-body-0">
            <a:extLst xmlns:a="http://schemas.openxmlformats.org/drawingml/2006/main">
              <a:ext uri="{FF2B5EF4-FFF2-40B4-BE49-F238E27FC236}">
                <a16:creationId xmlns:a16="http://schemas.microsoft.com/office/drawing/2014/main" id="{63FF5F86-EFA5-4E1E-9430-9831D3660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14650"/>
            <a:ext cx="293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把任务描述、少量验证样本和专家偏好转成质量方向；校准分数、维度权重、阈值与置信度。</a:t>
            </a:r>
          </a:p>
        </p:txBody>
      </p:sp>
      <p:sp>
        <p:nvSpPr>
          <p:cNvPr id="9" name="sow-output-0">
            <a:extLst xmlns:a="http://schemas.openxmlformats.org/drawingml/2006/main">
              <a:ext uri="{FF2B5EF4-FFF2-40B4-BE49-F238E27FC236}">
                <a16:creationId xmlns:a16="http://schemas.microsoft.com/office/drawing/2014/main" id="{40BCB133-5DB1-4B42-83A1-3ED5718C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10000"/>
            <a:ext cx="2933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输出：任务适配后的评分标准</a:t>
            </a:r>
          </a:p>
        </p:txBody>
      </p:sp>
      <p:sp>
        <p:nvSpPr>
          <p:cNvPr id="10" name="sow-module-1">
            <a:extLst xmlns:a="http://schemas.openxmlformats.org/drawingml/2006/main">
              <a:ext uri="{FF2B5EF4-FFF2-40B4-BE49-F238E27FC236}">
                <a16:creationId xmlns:a16="http://schemas.microsoft.com/office/drawing/2014/main" id="{43A8845D-4B5F-44A9-9B38-4EF9A080A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562100"/>
            <a:ext cx="3390900" cy="268605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9525">
            <a:solidFill>
              <a:srgbClr val="F1EDFF"/>
            </a:solidFill>
            <a:prstDash val="solid"/>
          </a:ln>
        </p:spPr>
      </p:sp>
      <p:sp>
        <p:nvSpPr>
          <p:cNvPr id="11" name="sow-no-1">
            <a:extLst xmlns:a="http://schemas.openxmlformats.org/drawingml/2006/main">
              <a:ext uri="{FF2B5EF4-FFF2-40B4-BE49-F238E27FC236}">
                <a16:creationId xmlns:a16="http://schemas.microsoft.com/office/drawing/2014/main" id="{8B1E7847-833F-4306-A164-40EB5EBA6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907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7B61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7B61D1"/>
                </a:solidFill>
                <a:latin typeface="Microsoft YaHei"/>
                <a:ea typeface="Microsoft YaHei"/>
                <a:cs typeface="Microsoft YaHei"/>
              </a:rPr>
              <a:t>模块二</a:t>
            </a:r>
          </a:p>
        </p:txBody>
      </p:sp>
      <p:sp>
        <p:nvSpPr>
          <p:cNvPr id="12" name="sow-title-1">
            <a:extLst xmlns:a="http://schemas.openxmlformats.org/drawingml/2006/main">
              <a:ext uri="{FF2B5EF4-FFF2-40B4-BE49-F238E27FC236}">
                <a16:creationId xmlns:a16="http://schemas.microsoft.com/office/drawing/2014/main" id="{E1AA028C-A2D3-4D0E-8986-DFC207109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71700"/>
            <a:ext cx="2933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邻域共识与分歧鲁棒选择</a:t>
            </a:r>
          </a:p>
        </p:txBody>
      </p:sp>
      <p:sp>
        <p:nvSpPr>
          <p:cNvPr id="13" name="sow-body-1">
            <a:extLst xmlns:a="http://schemas.openxmlformats.org/drawingml/2006/main">
              <a:ext uri="{FF2B5EF4-FFF2-40B4-BE49-F238E27FC236}">
                <a16:creationId xmlns:a16="http://schemas.microsoft.com/office/drawing/2014/main" id="{8ECC6A32-7811-4678-B609-6FA68A876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914650"/>
            <a:ext cx="293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生成相邻Rubric、Prompt和权重配置；聚合多视角结论，对分歧样本进行保守判定或转人工。</a:t>
            </a:r>
          </a:p>
        </p:txBody>
      </p:sp>
      <p:sp>
        <p:nvSpPr>
          <p:cNvPr id="14" name="sow-output-1">
            <a:extLst xmlns:a="http://schemas.openxmlformats.org/drawingml/2006/main">
              <a:ext uri="{FF2B5EF4-FFF2-40B4-BE49-F238E27FC236}">
                <a16:creationId xmlns:a16="http://schemas.microsoft.com/office/drawing/2014/main" id="{ACB15CEE-52C9-43AD-85AF-4B9A3D6F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10000"/>
            <a:ext cx="2933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7B61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7B61D1"/>
                </a:solidFill>
                <a:latin typeface="Microsoft YaHei"/>
                <a:ea typeface="Microsoft YaHei"/>
                <a:cs typeface="Microsoft YaHei"/>
              </a:rPr>
              <a:t>输出：更稳定的筛选结论</a:t>
            </a:r>
          </a:p>
        </p:txBody>
      </p:sp>
      <p:sp>
        <p:nvSpPr>
          <p:cNvPr id="15" name="sow-module-2">
            <a:extLst xmlns:a="http://schemas.openxmlformats.org/drawingml/2006/main">
              <a:ext uri="{FF2B5EF4-FFF2-40B4-BE49-F238E27FC236}">
                <a16:creationId xmlns:a16="http://schemas.microsoft.com/office/drawing/2014/main" id="{FE84DDC3-9C3F-4BB7-82AC-2E4893C3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562100"/>
            <a:ext cx="3390900" cy="268605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7F6F3"/>
          </a:solidFill>
          <a:ln xmlns:a="http://schemas.openxmlformats.org/drawingml/2006/main" w="9525">
            <a:solidFill>
              <a:srgbClr val="E7F6F3"/>
            </a:solidFill>
            <a:prstDash val="solid"/>
          </a:ln>
        </p:spPr>
      </p:sp>
      <p:sp>
        <p:nvSpPr>
          <p:cNvPr id="16" name="sow-no-2">
            <a:extLst xmlns:a="http://schemas.openxmlformats.org/drawingml/2006/main">
              <a:ext uri="{FF2B5EF4-FFF2-40B4-BE49-F238E27FC236}">
                <a16:creationId xmlns:a16="http://schemas.microsoft.com/office/drawing/2014/main" id="{8F4C0E1C-EDAE-4D4C-A397-1AABF0AF5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7907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rPr>
              <a:t>模块三</a:t>
            </a:r>
          </a:p>
        </p:txBody>
      </p:sp>
      <p:sp>
        <p:nvSpPr>
          <p:cNvPr id="17" name="sow-title-2">
            <a:extLst xmlns:a="http://schemas.openxmlformats.org/drawingml/2006/main">
              <a:ext uri="{FF2B5EF4-FFF2-40B4-BE49-F238E27FC236}">
                <a16:creationId xmlns:a16="http://schemas.microsoft.com/office/drawing/2014/main" id="{012A2538-91B2-4FBF-8D5C-E25684FB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171700"/>
            <a:ext cx="2933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图文证据核验与闭环验证</a:t>
            </a:r>
          </a:p>
        </p:txBody>
      </p:sp>
      <p:sp>
        <p:nvSpPr>
          <p:cNvPr id="18" name="sow-body-2">
            <a:extLst xmlns:a="http://schemas.openxmlformats.org/drawingml/2006/main">
              <a:ext uri="{FF2B5EF4-FFF2-40B4-BE49-F238E27FC236}">
                <a16:creationId xmlns:a16="http://schemas.microsoft.com/office/drawing/2014/main" id="{E67B4F78-128B-451F-BC86-63AD9761A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14650"/>
            <a:ext cx="293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核验对象、属性、数量、空间关系和局部瑕疵；比较筛选前后的训练或评测指标变化。</a:t>
            </a:r>
          </a:p>
        </p:txBody>
      </p:sp>
      <p:sp>
        <p:nvSpPr>
          <p:cNvPr id="19" name="sow-output-2">
            <a:extLst xmlns:a="http://schemas.openxmlformats.org/drawingml/2006/main">
              <a:ext uri="{FF2B5EF4-FFF2-40B4-BE49-F238E27FC236}">
                <a16:creationId xmlns:a16="http://schemas.microsoft.com/office/drawing/2014/main" id="{19D947F7-4725-474B-861D-DFBC1857E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810000"/>
            <a:ext cx="2933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rPr>
              <a:t>输出：证据、标签与适用边界</a:t>
            </a:r>
          </a:p>
        </p:txBody>
      </p:sp>
      <p:sp>
        <p:nvSpPr>
          <p:cNvPr id="20" name="auto-text-25">
            <a:extLst xmlns:a="http://schemas.openxmlformats.org/drawingml/2006/main">
              <a:ext uri="{FF2B5EF4-FFF2-40B4-BE49-F238E27FC236}">
                <a16:creationId xmlns:a16="http://schemas.microsoft.com/office/drawing/2014/main" id="{1ECBD117-1DF2-490A-9E5A-BA8EF0539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767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可调用的底层评估器与证据工具</a:t>
            </a:r>
          </a:p>
        </p:txBody>
      </p:sp>
      <p:sp>
        <p:nvSpPr>
          <p:cNvPr id="21" name="evaluator-pool">
            <a:extLst xmlns:a="http://schemas.openxmlformats.org/drawingml/2006/main">
              <a:ext uri="{FF2B5EF4-FFF2-40B4-BE49-F238E27FC236}">
                <a16:creationId xmlns:a16="http://schemas.microsoft.com/office/drawing/2014/main" id="{5E06837C-9AF9-4D71-A8C7-D14EE09BB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11633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F4F7FA"/>
            </a:solidFill>
            <a:prstDash val="solid"/>
          </a:ln>
        </p:spPr>
      </p:sp>
      <p:sp>
        <p:nvSpPr>
          <p:cNvPr id="22" name="tool-0">
            <a:extLst xmlns:a="http://schemas.openxmlformats.org/drawingml/2006/main">
              <a:ext uri="{FF2B5EF4-FFF2-40B4-BE49-F238E27FC236}">
                <a16:creationId xmlns:a16="http://schemas.microsoft.com/office/drawing/2014/main" id="{DDDC929E-1AAD-4E98-B3FF-C28FDB03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7682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VLM／MLLM Judge</a:t>
            </a:r>
          </a:p>
        </p:txBody>
      </p:sp>
      <p:sp>
        <p:nvSpPr>
          <p:cNvPr id="23" name="tool-1">
            <a:extLst xmlns:a="http://schemas.openxmlformats.org/drawingml/2006/main">
              <a:ext uri="{FF2B5EF4-FFF2-40B4-BE49-F238E27FC236}">
                <a16:creationId xmlns:a16="http://schemas.microsoft.com/office/drawing/2014/main" id="{EB363679-E0E9-485B-A470-8A011F17A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507682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7B61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7B61D1"/>
                </a:solidFill>
                <a:latin typeface="Microsoft YaHei"/>
                <a:ea typeface="Microsoft YaHei"/>
                <a:cs typeface="Microsoft YaHei"/>
              </a:rPr>
              <a:t>CLIP／SigLIP相似度</a:t>
            </a:r>
          </a:p>
        </p:txBody>
      </p:sp>
      <p:sp>
        <p:nvSpPr>
          <p:cNvPr id="24" name="tool-2">
            <a:extLst xmlns:a="http://schemas.openxmlformats.org/drawingml/2006/main">
              <a:ext uri="{FF2B5EF4-FFF2-40B4-BE49-F238E27FC236}">
                <a16:creationId xmlns:a16="http://schemas.microsoft.com/office/drawing/2014/main" id="{38DB3BF3-19B0-4702-9BD5-99A991D11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507682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E65C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E65C55"/>
                </a:solidFill>
                <a:latin typeface="Microsoft YaHei"/>
                <a:ea typeface="Microsoft YaHei"/>
                <a:cs typeface="Microsoft YaHei"/>
              </a:rPr>
              <a:t>DINO／LPIPS视觉指标</a:t>
            </a:r>
          </a:p>
        </p:txBody>
      </p:sp>
      <p:sp>
        <p:nvSpPr>
          <p:cNvPr id="25" name="tool-3">
            <a:extLst xmlns:a="http://schemas.openxmlformats.org/drawingml/2006/main">
              <a:ext uri="{FF2B5EF4-FFF2-40B4-BE49-F238E27FC236}">
                <a16:creationId xmlns:a16="http://schemas.microsoft.com/office/drawing/2014/main" id="{1B3409C8-0F07-49C5-B04A-69F51F2C5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507682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rPr>
              <a:t>OCR／检测／视觉定位</a:t>
            </a:r>
          </a:p>
        </p:txBody>
      </p:sp>
      <p:sp>
        <p:nvSpPr>
          <p:cNvPr id="26" name="tool-4">
            <a:extLst xmlns:a="http://schemas.openxmlformats.org/drawingml/2006/main">
              <a:ext uri="{FF2B5EF4-FFF2-40B4-BE49-F238E27FC236}">
                <a16:creationId xmlns:a16="http://schemas.microsoft.com/office/drawing/2014/main" id="{97719324-517A-48CC-B1DD-13A72FEEC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07682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C78B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C78B17"/>
                </a:solidFill>
                <a:latin typeface="Microsoft YaHei"/>
                <a:ea typeface="Microsoft YaHei"/>
                <a:cs typeface="Microsoft YaHei"/>
              </a:rPr>
              <a:t>业务规则／人工反馈</a:t>
            </a:r>
          </a:p>
        </p:txBody>
      </p:sp>
      <p:sp>
        <p:nvSpPr>
          <p:cNvPr id="27" name="scope-conclusion">
            <a:extLst xmlns:a="http://schemas.openxmlformats.org/drawingml/2006/main">
              <a:ext uri="{FF2B5EF4-FFF2-40B4-BE49-F238E27FC236}">
                <a16:creationId xmlns:a16="http://schemas.microsoft.com/office/drawing/2014/main" id="{FD7DEF1C-8696-4745-9C58-D81EF4D4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72150"/>
            <a:ext cx="111633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2263A"/>
          </a:solidFill>
          <a:ln xmlns:a="http://schemas.openxmlformats.org/drawingml/2006/main" w="9525">
            <a:solidFill>
              <a:srgbClr val="12263A"/>
            </a:solidFill>
            <a:prstDash val="solid"/>
          </a:ln>
        </p:spPr>
      </p:sp>
      <p:sp>
        <p:nvSpPr>
          <p:cNvPr id="28" name="auto-text-26">
            <a:extLst xmlns:a="http://schemas.openxmlformats.org/drawingml/2006/main">
              <a:ext uri="{FF2B5EF4-FFF2-40B4-BE49-F238E27FC236}">
                <a16:creationId xmlns:a16="http://schemas.microsoft.com/office/drawing/2014/main" id="{266345E3-B253-4D35-AB5C-4BF3334A8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67400"/>
            <a:ext cx="10744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VLM Judge是输入之一；项目核心增量是对多源评估结果进行校准、共识、仲裁与验证。</a:t>
            </a:r>
          </a:p>
        </p:txBody>
      </p:sp>
      <p:sp>
        <p:nvSpPr>
          <p:cNvPr id="29" name="source-654-0.059264807216863113">
            <a:extLst xmlns:a="http://schemas.openxmlformats.org/drawingml/2006/main">
              <a:ext uri="{FF2B5EF4-FFF2-40B4-BE49-F238E27FC236}">
                <a16:creationId xmlns:a16="http://schemas.microsoft.com/office/drawing/2014/main" id="{8AB48763-80FD-4A2D-A2AD-67B09A8B6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229350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 i="1">
                <a:solidFill>
                  <a:srgbClr val="7B8794"/>
                </a:solidFill>
                <a:latin typeface="Cambria"/>
                <a:ea typeface="Cambria"/>
                <a:cs typeface="Cambria"/>
              </a:defRPr>
            </a:pPr>
            <a:r>
              <a:rPr sz="825" b="0" i="1">
                <a:solidFill>
                  <a:srgbClr val="7B8794"/>
                </a:solidFill>
                <a:latin typeface="Cambria"/>
                <a:ea typeface="Cambria"/>
                <a:cs typeface="Cambria"/>
              </a:rPr>
              <a:t>依据：项目SOW 1.1.2 开发内容、1.2.1 技术方法及技术交付目标</a:t>
            </a:r>
          </a:p>
        </p:txBody>
      </p:sp>
    </p:spTree>
    <p:extLst>
      <p:ext uri="{BB962C8B-B14F-4D97-AF65-F5344CB8AC3E}">
        <p14:creationId xmlns:p14="http://schemas.microsoft.com/office/powerpoint/2010/main" val="19649775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cent-6">
            <a:extLst xmlns:a="http://schemas.openxmlformats.org/drawingml/2006/main">
              <a:ext uri="{FF2B5EF4-FFF2-40B4-BE49-F238E27FC236}">
                <a16:creationId xmlns:a16="http://schemas.microsoft.com/office/drawing/2014/main" id="{341FF358-595C-4AF3-949E-3CB757F4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762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3BC1205B-C14D-4526-B1F4-F66C06661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项目将在现有质检能力之上增加可复用的任务自适应评估层</a:t>
            </a:r>
          </a:p>
        </p:txBody>
      </p:sp>
      <p:sp>
        <p:nvSpPr>
          <p:cNvPr id="3" name="page-6">
            <a:extLst xmlns:a="http://schemas.openxmlformats.org/drawingml/2006/main">
              <a:ext uri="{FF2B5EF4-FFF2-40B4-BE49-F238E27FC236}">
                <a16:creationId xmlns:a16="http://schemas.microsoft.com/office/drawing/2014/main" id="{79DD9253-AD45-483A-8D9D-450FEAE79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0080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4" name="auto-text-27">
            <a:extLst xmlns:a="http://schemas.openxmlformats.org/drawingml/2006/main">
              <a:ext uri="{FF2B5EF4-FFF2-40B4-BE49-F238E27FC236}">
                <a16:creationId xmlns:a16="http://schemas.microsoft.com/office/drawing/2014/main" id="{94A79717-BDDD-464F-8F55-BD79DE096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906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不重建生产平台，而是利用少量专家样本，对已有规则、Prompt和VLM Judge进行后验校准。</a:t>
            </a:r>
          </a:p>
        </p:txBody>
      </p:sp>
      <p:sp>
        <p:nvSpPr>
          <p:cNvPr id="5" name="input-node">
            <a:extLst xmlns:a="http://schemas.openxmlformats.org/drawingml/2006/main">
              <a:ext uri="{FF2B5EF4-FFF2-40B4-BE49-F238E27FC236}">
                <a16:creationId xmlns:a16="http://schemas.microsoft.com/office/drawing/2014/main" id="{6DFFA87D-3932-4ACF-9F59-6A63B3F4A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2952750" cy="327660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" name="auto-text-28">
            <a:extLst xmlns:a="http://schemas.openxmlformats.org/drawingml/2006/main">
              <a:ext uri="{FF2B5EF4-FFF2-40B4-BE49-F238E27FC236}">
                <a16:creationId xmlns:a16="http://schemas.microsoft.com/office/drawing/2014/main" id="{3BD8D974-BC37-4BA2-8828-FCE49726A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2405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7" name="auto-text-29">
            <a:extLst xmlns:a="http://schemas.openxmlformats.org/drawingml/2006/main">
              <a:ext uri="{FF2B5EF4-FFF2-40B4-BE49-F238E27FC236}">
                <a16:creationId xmlns:a16="http://schemas.microsoft.com/office/drawing/2014/main" id="{D9E610F2-5A51-41DB-A449-3E7240DE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19350"/>
            <a:ext cx="2381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任务描述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少量人工标注／专家偏好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已有规则、Prompt和评估器输出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业务关注的质量维度</a:t>
            </a:r>
          </a:p>
        </p:txBody>
      </p:sp>
      <p:sp>
        <p:nvSpPr>
          <p:cNvPr id="8" name="auto-text-30">
            <a:extLst xmlns:a="http://schemas.openxmlformats.org/drawingml/2006/main">
              <a:ext uri="{FF2B5EF4-FFF2-40B4-BE49-F238E27FC236}">
                <a16:creationId xmlns:a16="http://schemas.microsoft.com/office/drawing/2014/main" id="{C88BF042-9FE8-4F61-B249-FB598954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9718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900" b="1" i="0">
                <a:solidFill>
                  <a:srgbClr val="9BB3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 i="0">
                <a:solidFill>
                  <a:srgbClr val="9BB3E9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calibration-node">
            <a:extLst xmlns:a="http://schemas.openxmlformats.org/drawingml/2006/main">
              <a:ext uri="{FF2B5EF4-FFF2-40B4-BE49-F238E27FC236}">
                <a16:creationId xmlns:a16="http://schemas.microsoft.com/office/drawing/2014/main" id="{CB76C14B-A2C8-45F1-9EC6-37B3467D5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810000" cy="3657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B7C8F5"/>
            </a:solidFill>
            <a:prstDash val="solid"/>
          </a:ln>
        </p:spPr>
      </p:sp>
      <p:sp>
        <p:nvSpPr>
          <p:cNvPr id="10" name="auto-text-31">
            <a:extLst xmlns:a="http://schemas.openxmlformats.org/drawingml/2006/main">
              <a:ext uri="{FF2B5EF4-FFF2-40B4-BE49-F238E27FC236}">
                <a16:creationId xmlns:a16="http://schemas.microsoft.com/office/drawing/2014/main" id="{45158B01-31E5-4370-BD0D-1488EE9F5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809750"/>
            <a:ext cx="3219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任务自适应质量评估层</a:t>
            </a:r>
          </a:p>
        </p:txBody>
      </p:sp>
      <p:sp>
        <p:nvSpPr>
          <p:cNvPr id="11" name="auto-text-32">
            <a:extLst xmlns:a="http://schemas.openxmlformats.org/drawingml/2006/main">
              <a:ext uri="{FF2B5EF4-FFF2-40B4-BE49-F238E27FC236}">
                <a16:creationId xmlns:a16="http://schemas.microsoft.com/office/drawing/2014/main" id="{C8E61F95-CEA5-458B-A1AD-64AAF4C8F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38400"/>
            <a:ext cx="3143250" cy="215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01  任务偏好与质量维度建模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02  分数／权重／阈值与置信度校准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03  多视角邻域共识与分歧检测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04  对象、属性、数量、空间关系等证据核验</a:t>
            </a:r>
          </a:p>
        </p:txBody>
      </p:sp>
      <p:sp>
        <p:nvSpPr>
          <p:cNvPr id="12" name="auto-text-33">
            <a:extLst xmlns:a="http://schemas.openxmlformats.org/drawingml/2006/main">
              <a:ext uri="{FF2B5EF4-FFF2-40B4-BE49-F238E27FC236}">
                <a16:creationId xmlns:a16="http://schemas.microsoft.com/office/drawing/2014/main" id="{5BDDD454-8414-47E0-981A-223219A34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718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900" b="1" i="0">
                <a:solidFill>
                  <a:srgbClr val="86C9C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 i="0">
                <a:solidFill>
                  <a:srgbClr val="86C9C2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output-node">
            <a:extLst xmlns:a="http://schemas.openxmlformats.org/drawingml/2006/main">
              <a:ext uri="{FF2B5EF4-FFF2-40B4-BE49-F238E27FC236}">
                <a16:creationId xmlns:a16="http://schemas.microsoft.com/office/drawing/2014/main" id="{B8DA92E5-8621-42FC-926C-A64BFB900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695450"/>
            <a:ext cx="2952750" cy="327660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E7F6F3"/>
          </a:solidFill>
          <a:ln xmlns:a="http://schemas.openxmlformats.org/drawingml/2006/main" w="9525">
            <a:solidFill>
              <a:srgbClr val="B6DDD8"/>
            </a:solidFill>
            <a:prstDash val="solid"/>
          </a:ln>
        </p:spPr>
      </p:sp>
      <p:sp>
        <p:nvSpPr>
          <p:cNvPr id="14" name="auto-text-34">
            <a:extLst xmlns:a="http://schemas.openxmlformats.org/drawingml/2006/main">
              <a:ext uri="{FF2B5EF4-FFF2-40B4-BE49-F238E27FC236}">
                <a16:creationId xmlns:a16="http://schemas.microsoft.com/office/drawing/2014/main" id="{5D87EE9A-4695-44AB-BF8E-49D67364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92405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15" name="auto-text-35">
            <a:extLst xmlns:a="http://schemas.openxmlformats.org/drawingml/2006/main">
              <a:ext uri="{FF2B5EF4-FFF2-40B4-BE49-F238E27FC236}">
                <a16:creationId xmlns:a16="http://schemas.microsoft.com/office/drawing/2014/main" id="{7935F32B-2342-415A-8B8E-A7B660BEE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19350"/>
            <a:ext cx="2381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任务适配后的质量分数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高／低质量筛选结论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问题标签与证据摘要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置信度与人工复核建议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可复用接口与评测脚本</a:t>
            </a:r>
          </a:p>
        </p:txBody>
      </p:sp>
      <p:sp>
        <p:nvSpPr>
          <p:cNvPr id="16" name="scenario-band">
            <a:extLst xmlns:a="http://schemas.openxmlformats.org/drawingml/2006/main">
              <a:ext uri="{FF2B5EF4-FFF2-40B4-BE49-F238E27FC236}">
                <a16:creationId xmlns:a16="http://schemas.microsoft.com/office/drawing/2014/main" id="{293E335A-DA68-4ADD-B7A4-AADB84401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0"/>
            <a:ext cx="7810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F4F7FA"/>
            </a:solidFill>
            <a:prstDash val="solid"/>
          </a:ln>
        </p:spPr>
      </p:sp>
      <p:sp>
        <p:nvSpPr>
          <p:cNvPr id="17" name="auto-text-36">
            <a:extLst xmlns:a="http://schemas.openxmlformats.org/drawingml/2006/main">
              <a:ext uri="{FF2B5EF4-FFF2-40B4-BE49-F238E27FC236}">
                <a16:creationId xmlns:a16="http://schemas.microsoft.com/office/drawing/2014/main" id="{51B727C1-3E7B-4383-9F29-7C3D5487D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91175"/>
            <a:ext cx="7391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首批建议验证：多图编辑＋AIGC图库　｜　后续泛化：盲超分＋颜色标注</a:t>
            </a:r>
          </a:p>
        </p:txBody>
      </p:sp>
      <p:sp>
        <p:nvSpPr>
          <p:cNvPr id="18" name="current-pipeline-frame">
            <a:extLst xmlns:a="http://schemas.openxmlformats.org/drawingml/2006/main">
              <a:ext uri="{FF2B5EF4-FFF2-40B4-BE49-F238E27FC236}">
                <a16:creationId xmlns:a16="http://schemas.microsoft.com/office/drawing/2014/main" id="{8FAB0A9B-99C8-44DD-ABBB-23BA03F5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429250"/>
            <a:ext cx="31051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AAB5C0"/>
            </a:solidFill>
            <a:prstDash val="solid"/>
          </a:ln>
        </p:spPr>
      </p:sp>
      <p:sp>
        <p:nvSpPr>
          <p:cNvPr id="19" name="current-pipeline-label">
            <a:extLst xmlns:a="http://schemas.openxmlformats.org/drawingml/2006/main">
              <a:ext uri="{FF2B5EF4-FFF2-40B4-BE49-F238E27FC236}">
                <a16:creationId xmlns:a16="http://schemas.microsoft.com/office/drawing/2014/main" id="{141F58B7-2286-440E-A037-B0ECDE0D5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486400"/>
            <a:ext cx="2800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rPr>
              <a:t>可选｜现有质检Pipeline截图</a:t>
            </a:r>
          </a:p>
        </p:txBody>
      </p:sp>
      <p:sp>
        <p:nvSpPr>
          <p:cNvPr id="20" name="current-pipeline-sub">
            <a:extLst xmlns:a="http://schemas.openxmlformats.org/drawingml/2006/main">
              <a:ext uri="{FF2B5EF4-FFF2-40B4-BE49-F238E27FC236}">
                <a16:creationId xmlns:a16="http://schemas.microsoft.com/office/drawing/2014/main" id="{68840E42-63B1-4371-83FB-07A23B07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791200"/>
            <a:ext cx="2800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如无材料可删除此框</a:t>
            </a:r>
          </a:p>
        </p:txBody>
      </p:sp>
      <p:sp>
        <p:nvSpPr>
          <p:cNvPr id="21" name="auto-text-37">
            <a:extLst xmlns:a="http://schemas.openxmlformats.org/drawingml/2006/main">
              <a:ext uri="{FF2B5EF4-FFF2-40B4-BE49-F238E27FC236}">
                <a16:creationId xmlns:a16="http://schemas.microsoft.com/office/drawing/2014/main" id="{DCB8D66E-C2BA-4E52-96C3-9AB13A31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912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合作边界：高校交付核心算法原型与评测方法；公司提供业务数据、专家反馈，并负责后续平台集成。</a:t>
            </a:r>
          </a:p>
        </p:txBody>
      </p:sp>
    </p:spTree>
    <p:extLst>
      <p:ext uri="{BB962C8B-B14F-4D97-AF65-F5344CB8AC3E}">
        <p14:creationId xmlns:p14="http://schemas.microsoft.com/office/powerpoint/2010/main" val="17098266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accent-7">
            <a:extLst xmlns:a="http://schemas.openxmlformats.org/drawingml/2006/main">
              <a:ext uri="{FF2B5EF4-FFF2-40B4-BE49-F238E27FC236}">
                <a16:creationId xmlns:a16="http://schemas.microsoft.com/office/drawing/2014/main" id="{0C298FF0-E123-4239-A4D1-49E2AB29A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762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932F2301-6155-4D3E-8F85-69D9F8540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合作项目将把临时质检方案沉淀为可复用、可验证的质量能力</a:t>
            </a:r>
          </a:p>
        </p:txBody>
      </p:sp>
      <p:sp>
        <p:nvSpPr>
          <p:cNvPr id="3" name="page-7">
            <a:extLst xmlns:a="http://schemas.openxmlformats.org/drawingml/2006/main">
              <a:ext uri="{FF2B5EF4-FFF2-40B4-BE49-F238E27FC236}">
                <a16:creationId xmlns:a16="http://schemas.microsoft.com/office/drawing/2014/main" id="{5D10A000-A4D8-4FEA-AE74-63D4A5F6C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0080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4" name="auto-text-38">
            <a:extLst xmlns:a="http://schemas.openxmlformats.org/drawingml/2006/main">
              <a:ext uri="{FF2B5EF4-FFF2-40B4-BE49-F238E27FC236}">
                <a16:creationId xmlns:a16="http://schemas.microsoft.com/office/drawing/2014/main" id="{D87961CD-63A1-4885-B4C0-7377F4DCB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906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项目价值不仅是提高一次筛选准确率，更重要的是形成可服务多个图像项目的共同能力。</a:t>
            </a:r>
          </a:p>
        </p:txBody>
      </p:sp>
      <p:sp>
        <p:nvSpPr>
          <p:cNvPr id="5" name="value-0">
            <a:extLst xmlns:a="http://schemas.openxmlformats.org/drawingml/2006/main">
              <a:ext uri="{FF2B5EF4-FFF2-40B4-BE49-F238E27FC236}">
                <a16:creationId xmlns:a16="http://schemas.microsoft.com/office/drawing/2014/main" id="{468304E8-8787-4F4E-87BA-01131AE5E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3314700" cy="21336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EAF0FF"/>
            </a:solidFill>
            <a:prstDash val="solid"/>
          </a:ln>
        </p:spPr>
      </p:sp>
      <p:sp>
        <p:nvSpPr>
          <p:cNvPr id="6" name="value-title-0">
            <a:extLst xmlns:a="http://schemas.openxmlformats.org/drawingml/2006/main">
              <a:ext uri="{FF2B5EF4-FFF2-40B4-BE49-F238E27FC236}">
                <a16:creationId xmlns:a16="http://schemas.microsoft.com/office/drawing/2014/main" id="{A2891542-0723-4263-B416-76D71A8D9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业务价值</a:t>
            </a:r>
          </a:p>
        </p:txBody>
      </p:sp>
      <p:sp>
        <p:nvSpPr>
          <p:cNvPr id="7" name="value-body-0">
            <a:extLst xmlns:a="http://schemas.openxmlformats.org/drawingml/2006/main">
              <a:ext uri="{FF2B5EF4-FFF2-40B4-BE49-F238E27FC236}">
                <a16:creationId xmlns:a16="http://schemas.microsoft.com/office/drawing/2014/main" id="{1A926F64-22B1-4F56-9D0D-394F466CF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8600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• 减少重复设计和搭建质检流程</a:t>
            </a:r>
          </a:p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• 将人工集中到困难和高风险样本</a:t>
            </a:r>
          </a:p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• 缩短新任务质量标准落地周期</a:t>
            </a:r>
          </a:p>
        </p:txBody>
      </p:sp>
      <p:sp>
        <p:nvSpPr>
          <p:cNvPr id="8" name="value-1">
            <a:extLst xmlns:a="http://schemas.openxmlformats.org/drawingml/2006/main">
              <a:ext uri="{FF2B5EF4-FFF2-40B4-BE49-F238E27FC236}">
                <a16:creationId xmlns:a16="http://schemas.microsoft.com/office/drawing/2014/main" id="{17B0A95E-D646-4758-B4BA-8D626EEC4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81150"/>
            <a:ext cx="3314700" cy="21336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7F6F3"/>
          </a:solidFill>
          <a:ln xmlns:a="http://schemas.openxmlformats.org/drawingml/2006/main" w="9525">
            <a:solidFill>
              <a:srgbClr val="E7F6F3"/>
            </a:solidFill>
            <a:prstDash val="solid"/>
          </a:ln>
        </p:spPr>
      </p:sp>
      <p:sp>
        <p:nvSpPr>
          <p:cNvPr id="9" name="value-title-1">
            <a:extLst xmlns:a="http://schemas.openxmlformats.org/drawingml/2006/main">
              <a:ext uri="{FF2B5EF4-FFF2-40B4-BE49-F238E27FC236}">
                <a16:creationId xmlns:a16="http://schemas.microsoft.com/office/drawing/2014/main" id="{F93D6A48-EB3C-41C8-9769-A94E5B0E1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097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rPr>
              <a:t>技术价值</a:t>
            </a:r>
          </a:p>
        </p:txBody>
      </p:sp>
      <p:sp>
        <p:nvSpPr>
          <p:cNvPr id="10" name="value-body-1">
            <a:extLst xmlns:a="http://schemas.openxmlformats.org/drawingml/2006/main">
              <a:ext uri="{FF2B5EF4-FFF2-40B4-BE49-F238E27FC236}">
                <a16:creationId xmlns:a16="http://schemas.microsoft.com/office/drawing/2014/main" id="{19D15129-614B-47B3-84CB-D77D46F8D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8600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• 建立系统化Rubric和验证协议</a:t>
            </a:r>
          </a:p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• 让Prompt、权重和阈值可实验比较</a:t>
            </a:r>
          </a:p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• 输出分数、证据、置信度与复核建议</a:t>
            </a:r>
          </a:p>
        </p:txBody>
      </p:sp>
      <p:sp>
        <p:nvSpPr>
          <p:cNvPr id="11" name="value-2">
            <a:extLst xmlns:a="http://schemas.openxmlformats.org/drawingml/2006/main">
              <a:ext uri="{FF2B5EF4-FFF2-40B4-BE49-F238E27FC236}">
                <a16:creationId xmlns:a16="http://schemas.microsoft.com/office/drawing/2014/main" id="{EA300516-3542-4E99-BE01-9E17C9816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581150"/>
            <a:ext cx="3314700" cy="21336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FFF5DE"/>
          </a:solidFill>
          <a:ln xmlns:a="http://schemas.openxmlformats.org/drawingml/2006/main" w="9525">
            <a:solidFill>
              <a:srgbClr val="FFF5DE"/>
            </a:solidFill>
            <a:prstDash val="solid"/>
          </a:ln>
        </p:spPr>
      </p:sp>
      <p:sp>
        <p:nvSpPr>
          <p:cNvPr id="12" name="value-title-2">
            <a:extLst xmlns:a="http://schemas.openxmlformats.org/drawingml/2006/main">
              <a:ext uri="{FF2B5EF4-FFF2-40B4-BE49-F238E27FC236}">
                <a16:creationId xmlns:a16="http://schemas.microsoft.com/office/drawing/2014/main" id="{31C7CF46-CC8F-4FEB-9953-1EE437459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097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C88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C88919"/>
                </a:solidFill>
                <a:latin typeface="Microsoft YaHei"/>
                <a:ea typeface="Microsoft YaHei"/>
                <a:cs typeface="Microsoft YaHei"/>
              </a:rPr>
              <a:t>长期资产</a:t>
            </a:r>
          </a:p>
        </p:txBody>
      </p:sp>
      <p:sp>
        <p:nvSpPr>
          <p:cNvPr id="13" name="value-body-2">
            <a:extLst xmlns:a="http://schemas.openxmlformats.org/drawingml/2006/main">
              <a:ext uri="{FF2B5EF4-FFF2-40B4-BE49-F238E27FC236}">
                <a16:creationId xmlns:a16="http://schemas.microsoft.com/office/drawing/2014/main" id="{0F626BCF-4FEF-4D75-8572-F40F4C631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28600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• 沉淀跨项目可复用Pipeline</a:t>
            </a:r>
          </a:p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• 积累验证集、失败案例和专家偏好</a:t>
            </a:r>
          </a:p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• 形成接口、论文和专利成果</a:t>
            </a:r>
          </a:p>
        </p:txBody>
      </p:sp>
      <p:sp>
        <p:nvSpPr>
          <p:cNvPr id="14" name="auto-text-39">
            <a:extLst xmlns:a="http://schemas.openxmlformats.org/drawingml/2006/main">
              <a:ext uri="{FF2B5EF4-FFF2-40B4-BE49-F238E27FC236}">
                <a16:creationId xmlns:a16="http://schemas.microsoft.com/office/drawing/2014/main" id="{ECB5D677-CDEA-42C6-8A9A-8EE54D724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SOW项目目标（非现有成果）</a:t>
            </a:r>
          </a:p>
        </p:txBody>
      </p:sp>
      <p:sp>
        <p:nvSpPr>
          <p:cNvPr id="15" name="metric-0">
            <a:extLst xmlns:a="http://schemas.openxmlformats.org/drawingml/2006/main">
              <a:ext uri="{FF2B5EF4-FFF2-40B4-BE49-F238E27FC236}">
                <a16:creationId xmlns:a16="http://schemas.microsoft.com/office/drawing/2014/main" id="{011FCC5E-D3F5-41D2-B28D-A6B51A386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62450"/>
            <a:ext cx="20574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F4F7FA"/>
            </a:solidFill>
            <a:prstDash val="solid"/>
          </a:ln>
        </p:spPr>
      </p:sp>
      <p:sp>
        <p:nvSpPr>
          <p:cNvPr id="16" name="metric-stat-0">
            <a:extLst xmlns:a="http://schemas.openxmlformats.org/drawingml/2006/main">
              <a:ext uri="{FF2B5EF4-FFF2-40B4-BE49-F238E27FC236}">
                <a16:creationId xmlns:a16="http://schemas.microsoft.com/office/drawing/2014/main" id="{3BDAC5D0-3D72-4A0E-A3A1-68E1EF95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76750"/>
            <a:ext cx="1752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+10pp</a:t>
            </a:r>
          </a:p>
        </p:txBody>
      </p:sp>
      <p:sp>
        <p:nvSpPr>
          <p:cNvPr id="17" name="metric-label-0">
            <a:extLst xmlns:a="http://schemas.openxmlformats.org/drawingml/2006/main">
              <a:ext uri="{FF2B5EF4-FFF2-40B4-BE49-F238E27FC236}">
                <a16:creationId xmlns:a16="http://schemas.microsoft.com/office/drawing/2014/main" id="{4FF9565A-C9C1-4DF3-96A5-506FE0E4B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9585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人机一致率提升</a:t>
            </a:r>
          </a:p>
        </p:txBody>
      </p:sp>
      <p:sp>
        <p:nvSpPr>
          <p:cNvPr id="18" name="metric-1">
            <a:extLst xmlns:a="http://schemas.openxmlformats.org/drawingml/2006/main">
              <a:ext uri="{FF2B5EF4-FFF2-40B4-BE49-F238E27FC236}">
                <a16:creationId xmlns:a16="http://schemas.microsoft.com/office/drawing/2014/main" id="{2D3D7F0C-DA6C-4473-99C2-4322B851F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7010" y="4362450"/>
            <a:ext cx="20574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F4F7FA"/>
            </a:solidFill>
            <a:prstDash val="solid"/>
          </a:ln>
        </p:spPr>
      </p:sp>
      <p:sp>
        <p:nvSpPr>
          <p:cNvPr id="19" name="metric-stat-1">
            <a:extLst xmlns:a="http://schemas.openxmlformats.org/drawingml/2006/main">
              <a:ext uri="{FF2B5EF4-FFF2-40B4-BE49-F238E27FC236}">
                <a16:creationId xmlns:a16="http://schemas.microsoft.com/office/drawing/2014/main" id="{90BB03F3-7FA1-4504-BAF2-7FC6FF033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9410" y="4476750"/>
            <a:ext cx="1752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≥85%</a:t>
            </a:r>
          </a:p>
        </p:txBody>
      </p:sp>
      <p:sp>
        <p:nvSpPr>
          <p:cNvPr id="20" name="metric-label-1">
            <a:extLst xmlns:a="http://schemas.openxmlformats.org/drawingml/2006/main">
              <a:ext uri="{FF2B5EF4-FFF2-40B4-BE49-F238E27FC236}">
                <a16:creationId xmlns:a16="http://schemas.microsoft.com/office/drawing/2014/main" id="{28D9ABDD-589B-4BC9-88AD-6AD34FD59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9410" y="489585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低质量召回</a:t>
            </a:r>
          </a:p>
        </p:txBody>
      </p:sp>
      <p:sp>
        <p:nvSpPr>
          <p:cNvPr id="21" name="metric-2">
            <a:extLst xmlns:a="http://schemas.openxmlformats.org/drawingml/2006/main">
              <a:ext uri="{FF2B5EF4-FFF2-40B4-BE49-F238E27FC236}">
                <a16:creationId xmlns:a16="http://schemas.microsoft.com/office/drawing/2014/main" id="{91F6E740-68EB-463D-B64D-B73A0CAA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9670" y="4362450"/>
            <a:ext cx="20574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F4F7FA"/>
            </a:solidFill>
            <a:prstDash val="solid"/>
          </a:ln>
        </p:spPr>
      </p:sp>
      <p:sp>
        <p:nvSpPr>
          <p:cNvPr id="22" name="metric-stat-2">
            <a:extLst xmlns:a="http://schemas.openxmlformats.org/drawingml/2006/main">
              <a:ext uri="{FF2B5EF4-FFF2-40B4-BE49-F238E27FC236}">
                <a16:creationId xmlns:a16="http://schemas.microsoft.com/office/drawing/2014/main" id="{5801B90F-4B82-4EB6-B775-0B4CE5E40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2070" y="4476750"/>
            <a:ext cx="1752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≥88%</a:t>
            </a:r>
          </a:p>
        </p:txBody>
      </p:sp>
      <p:sp>
        <p:nvSpPr>
          <p:cNvPr id="23" name="metric-label-2">
            <a:extLst xmlns:a="http://schemas.openxmlformats.org/drawingml/2006/main">
              <a:ext uri="{FF2B5EF4-FFF2-40B4-BE49-F238E27FC236}">
                <a16:creationId xmlns:a16="http://schemas.microsoft.com/office/drawing/2014/main" id="{5DF058CB-D03D-4203-B693-59902122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2070" y="489585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高置信优质准确率</a:t>
            </a:r>
          </a:p>
        </p:txBody>
      </p:sp>
      <p:sp>
        <p:nvSpPr>
          <p:cNvPr id="24" name="metric-3">
            <a:extLst xmlns:a="http://schemas.openxmlformats.org/drawingml/2006/main">
              <a:ext uri="{FF2B5EF4-FFF2-40B4-BE49-F238E27FC236}">
                <a16:creationId xmlns:a16="http://schemas.microsoft.com/office/drawing/2014/main" id="{F07710B0-5559-4B2F-8E64-854BF6F2C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2330" y="4362450"/>
            <a:ext cx="20574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F4F7FA"/>
            </a:solidFill>
            <a:prstDash val="solid"/>
          </a:ln>
        </p:spPr>
      </p:sp>
      <p:sp>
        <p:nvSpPr>
          <p:cNvPr id="25" name="metric-stat-3">
            <a:extLst xmlns:a="http://schemas.openxmlformats.org/drawingml/2006/main">
              <a:ext uri="{FF2B5EF4-FFF2-40B4-BE49-F238E27FC236}">
                <a16:creationId xmlns:a16="http://schemas.microsoft.com/office/drawing/2014/main" id="{3F65044D-C906-477A-BEAC-E167B8497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476750"/>
            <a:ext cx="1752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rPr>
              <a:t>−30%</a:t>
            </a:r>
          </a:p>
        </p:txBody>
      </p:sp>
      <p:sp>
        <p:nvSpPr>
          <p:cNvPr id="26" name="metric-label-3">
            <a:extLst xmlns:a="http://schemas.openxmlformats.org/drawingml/2006/main">
              <a:ext uri="{FF2B5EF4-FFF2-40B4-BE49-F238E27FC236}">
                <a16:creationId xmlns:a16="http://schemas.microsoft.com/office/drawing/2014/main" id="{91F99807-18FF-4A7D-9CDF-09904AD1E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89585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平均评估成本</a:t>
            </a:r>
          </a:p>
        </p:txBody>
      </p:sp>
      <p:sp>
        <p:nvSpPr>
          <p:cNvPr id="27" name="metric-4">
            <a:extLst xmlns:a="http://schemas.openxmlformats.org/drawingml/2006/main">
              <a:ext uri="{FF2B5EF4-FFF2-40B4-BE49-F238E27FC236}">
                <a16:creationId xmlns:a16="http://schemas.microsoft.com/office/drawing/2014/main" id="{E9AB92B2-3566-47E6-A9EF-F7F6B4106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4990" y="4362450"/>
            <a:ext cx="20574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F4F7FA"/>
            </a:solidFill>
            <a:prstDash val="solid"/>
          </a:ln>
        </p:spPr>
      </p:sp>
      <p:sp>
        <p:nvSpPr>
          <p:cNvPr id="28" name="metric-stat-4">
            <a:extLst xmlns:a="http://schemas.openxmlformats.org/drawingml/2006/main">
              <a:ext uri="{FF2B5EF4-FFF2-40B4-BE49-F238E27FC236}">
                <a16:creationId xmlns:a16="http://schemas.microsoft.com/office/drawing/2014/main" id="{8A0435B6-C4D2-45EA-861F-86ED651E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7390" y="4476750"/>
            <a:ext cx="1752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rPr>
              <a:t>−35%</a:t>
            </a:r>
          </a:p>
        </p:txBody>
      </p:sp>
      <p:sp>
        <p:nvSpPr>
          <p:cNvPr id="29" name="metric-label-4">
            <a:extLst xmlns:a="http://schemas.openxmlformats.org/drawingml/2006/main">
              <a:ext uri="{FF2B5EF4-FFF2-40B4-BE49-F238E27FC236}">
                <a16:creationId xmlns:a16="http://schemas.microsoft.com/office/drawing/2014/main" id="{885AE5F7-1E79-467D-8C98-740E5359D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7390" y="489585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人工复核量</a:t>
            </a:r>
          </a:p>
        </p:txBody>
      </p:sp>
      <p:sp>
        <p:nvSpPr>
          <p:cNvPr id="30" name="auto-text-40">
            <a:extLst xmlns:a="http://schemas.openxmlformats.org/drawingml/2006/main">
              <a:ext uri="{FF2B5EF4-FFF2-40B4-BE49-F238E27FC236}">
                <a16:creationId xmlns:a16="http://schemas.microsoft.com/office/drawing/2014/main" id="{5C35EC40-CA9B-4A93-A227-0B52A41CA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67350"/>
            <a:ext cx="11163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 i="1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1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内部基线待补充：单样本成本／人工复核比例／新项目质检管线搭建周期</a:t>
            </a:r>
          </a:p>
        </p:txBody>
      </p:sp>
      <p:sp>
        <p:nvSpPr>
          <p:cNvPr id="31" name="approval-band">
            <a:extLst xmlns:a="http://schemas.openxmlformats.org/drawingml/2006/main">
              <a:ext uri="{FF2B5EF4-FFF2-40B4-BE49-F238E27FC236}">
                <a16:creationId xmlns:a16="http://schemas.microsoft.com/office/drawing/2014/main" id="{5CD62670-376D-4080-84FA-EBF8149B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810250"/>
            <a:ext cx="111633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2263A"/>
          </a:solidFill>
          <a:ln xmlns:a="http://schemas.openxmlformats.org/drawingml/2006/main" w="9525">
            <a:solidFill>
              <a:srgbClr val="12263A"/>
            </a:solidFill>
            <a:prstDash val="solid"/>
          </a:ln>
        </p:spPr>
      </p:sp>
      <p:sp>
        <p:nvSpPr>
          <p:cNvPr id="32" name="auto-text-41">
            <a:extLst xmlns:a="http://schemas.openxmlformats.org/drawingml/2006/main">
              <a:ext uri="{FF2B5EF4-FFF2-40B4-BE49-F238E27FC236}">
                <a16:creationId xmlns:a16="http://schemas.microsoft.com/office/drawing/2014/main" id="{9F041957-A538-414F-AF40-9348E0A12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24550"/>
            <a:ext cx="10706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建议批准本次合作：以1–2个代表场景完成验证，并沉淀可服务多个项目的任务自适应质量评估能力。</a:t>
            </a:r>
          </a:p>
        </p:txBody>
      </p:sp>
    </p:spTree>
    <p:extLst>
      <p:ext uri="{BB962C8B-B14F-4D97-AF65-F5344CB8AC3E}">
        <p14:creationId xmlns:p14="http://schemas.microsoft.com/office/powerpoint/2010/main" val="13567662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2026-08-05T09:22:56.6990000Z</dcterms:created>
  <dcterms:modified xsi:type="dcterms:W3CDTF">2026-08-05T09:22:56.6990000Z</dcterms:modified>
</coreProperties>
</file>