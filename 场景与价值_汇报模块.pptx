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4ac6ad3903c4451" /><Relationship Type="http://schemas.openxmlformats.org/officeDocument/2006/relationships/extended-properties" Target="/docProps/app.xml" Id="R94d12264c627442f" /><Relationship Type="http://schemas.openxmlformats.org/officeDocument/2006/relationships/officeDocument" Target="/ppt/presentation.xml" Id="R3fc012645ad147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e22850f8f9145d6"/>
  </p:sldMasterIdLst>
  <p:notesMasterIdLst>
    <p:notesMasterId xmlns:r="http://schemas.openxmlformats.org/officeDocument/2006/relationships" r:id="R70cb84ca07a94988"/>
  </p:notesMasterIdLst>
  <p:sldIdLst>
    <p:sldId xmlns:r="http://schemas.openxmlformats.org/officeDocument/2006/relationships" id="256" r:id="R3a2ab7bf3567457a"/>
    <p:sldId xmlns:r="http://schemas.openxmlformats.org/officeDocument/2006/relationships" id="257" r:id="R86e26dd244ef446f"/>
    <p:sldId xmlns:r="http://schemas.openxmlformats.org/officeDocument/2006/relationships" id="258" r:id="R5160bdbb7b8147fe"/>
    <p:sldId xmlns:r="http://schemas.openxmlformats.org/officeDocument/2006/relationships" id="259" r:id="R0d0dae7b3a9c424f"/>
    <p:sldId xmlns:r="http://schemas.openxmlformats.org/officeDocument/2006/relationships" id="260" r:id="R3bb0db78f6db4156"/>
    <p:sldId xmlns:r="http://schemas.openxmlformats.org/officeDocument/2006/relationships" id="261" r:id="R45b2570a35b94e72"/>
    <p:sldId xmlns:r="http://schemas.openxmlformats.org/officeDocument/2006/relationships" id="262" r:id="R33d08e5738b14f9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0b6eb285cc0456c" /><Relationship Type="http://schemas.openxmlformats.org/officeDocument/2006/relationships/slideMaster" Target="/ppt/slideMasters/slideMaster1.xml" Id="Rae22850f8f9145d6" /><Relationship Type="http://schemas.openxmlformats.org/officeDocument/2006/relationships/notesMaster" Target="/ppt/notesMasters/notesMaster1.xml" Id="R70cb84ca07a94988" /><Relationship Type="http://schemas.openxmlformats.org/officeDocument/2006/relationships/presProps" Target="/ppt/presProps.xml" Id="R9e7cd9e836504808" /><Relationship Type="http://schemas.openxmlformats.org/officeDocument/2006/relationships/tableStyles" Target="/ppt/tableStyles.xml" Id="R88cac78a02034942" /><Relationship Type="http://schemas.openxmlformats.org/officeDocument/2006/relationships/slide" Target="/ppt/slides/slide1.xml" Id="R3a2ab7bf3567457a" /><Relationship Type="http://schemas.openxmlformats.org/officeDocument/2006/relationships/slide" Target="/ppt/slides/slide2.xml" Id="R86e26dd244ef446f" /><Relationship Type="http://schemas.openxmlformats.org/officeDocument/2006/relationships/slide" Target="/ppt/slides/slide3.xml" Id="R5160bdbb7b8147fe" /><Relationship Type="http://schemas.openxmlformats.org/officeDocument/2006/relationships/slide" Target="/ppt/slides/slide4.xml" Id="R0d0dae7b3a9c424f" /><Relationship Type="http://schemas.openxmlformats.org/officeDocument/2006/relationships/slide" Target="/ppt/slides/slide5.xml" Id="R3bb0db78f6db4156" /><Relationship Type="http://schemas.openxmlformats.org/officeDocument/2006/relationships/slide" Target="/ppt/slides/slide6.xml" Id="R45b2570a35b94e72" /><Relationship Type="http://schemas.openxmlformats.org/officeDocument/2006/relationships/slide" Target="/ppt/slides/slide7.xml" Id="R33d08e5738b14f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dea61cc260246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9e97daea0474a89" /><Relationship Type="http://schemas.openxmlformats.org/officeDocument/2006/relationships/notesMaster" Target="/ppt/notesMasters/notesMaster1.xml" Id="Rd71c4d3f00e64b6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920e54b95614596" /><Relationship Type="http://schemas.openxmlformats.org/officeDocument/2006/relationships/notesMaster" Target="/ppt/notesMasters/notesMaster1.xml" Id="R21bac0681b71440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650030bb41748cc" /><Relationship Type="http://schemas.openxmlformats.org/officeDocument/2006/relationships/notesMaster" Target="/ppt/notesMasters/notesMaster1.xml" Id="R056af83988624f3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1f1715eb35e4bbf" /><Relationship Type="http://schemas.openxmlformats.org/officeDocument/2006/relationships/notesMaster" Target="/ppt/notesMasters/notesMaster1.xml" Id="R62c4f2777e7342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3d44595e2984267" /><Relationship Type="http://schemas.openxmlformats.org/officeDocument/2006/relationships/notesMaster" Target="/ppt/notesMasters/notesMaster1.xml" Id="Re2c9df59d1c14a1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65ed6da41994a3b" /><Relationship Type="http://schemas.openxmlformats.org/officeDocument/2006/relationships/notesMaster" Target="/ppt/notesMasters/notesMaster1.xml" Id="Rd41aab80c1564d1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b105df6f9ab4883" /><Relationship Type="http://schemas.openxmlformats.org/officeDocument/2006/relationships/notesMaster" Target="/ppt/notesMasters/notesMaster1.xml" Id="Raf729e9bfc7445c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们当前已有多图编辑、盲超分、颜色标注和AIGC图库等多个图像项目。这里用多图编辑和图库两个代表场景说明：多图编辑关注参考内容是否正确迁移、人物是否保持、非目标区域是否被破坏；图库关注异常、美学和构图。由此可见，数据质量不是一套固定分数，而是与任务目标直接相关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方式能够解决眼前问题，但每次都从讨论标准、编写Prompt、人工抽检开始。最大问题不是某一个Prompt写得不好，而是缺少统一的质量维度、基线、校准方法和可复用组件。右侧预留了内部Prompt和误判案例，后续替换后可以直观说明现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外部趋势不是用一个通用VLM替代所有人工，而是把质量评价拆成多个任务维度，再用人类偏好检验Judge，并让评价进入数据筛选和模型训练。左图展示MJ-Bench的多维评价体系，右图展示CVPR 2026的文本生图、图像编辑、图文交错和多模态推理任务。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MJ-Bench, NeurIPS 2025: https://proceedings.neurips.cc/paper_files/paper/2025/hash/59d2eaa5842fa641ff9b8e4c7ff0f6ee-Abstract-Datasets_and_Benchmarks_Track.html</a:t>
            </a:r>
          </a:p>
          <a:p xmlns:a="http://schemas.openxmlformats.org/drawingml/2006/main">
            <a:r>
              <a:t>- Multimodal RewardBench 2, CVPR 2026: https://openaccess.thecvf.com/content/CVPR2026/html/Hu_Multimodal_RewardBench_2_Evaluating_Omni_Reward_Models_for_Interleaved_Text_CVPR_2026_paper.html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不强调哪个公司排名第一，而是观察头部团队采用了什么方法。四家的公开路径虽然各有侧重，但结构高度一致：先把质量拆成场景、维度或检查点，再组合自动评价器，并用人工数据做校验。Qwen甚至发布了专用图像Judge和分层评价体系；腾讯把提示词拆成3500个关键点，说明业界已经从一条Prompt打总分，走向细粒度、可核验的评价机制。这正是本合作项目要补齐的能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https://deploymentsafety.openai.com/chatgpt-images-2-0/automated-evaluations-and-adversarial-testing</a:t>
            </a:r>
          </a:p>
          <a:p xmlns:a="http://schemas.openxmlformats.org/drawingml/2006/main">
            <a:r>
              <a:t>- https://github.com/QwenLM/Qwen-Image-Bench</a:t>
            </a:r>
          </a:p>
          <a:p xmlns:a="http://schemas.openxmlformats.org/drawingml/2006/main">
            <a:r>
              <a:t>- https://seed.bytedance.com/en/blog/bytedance-released-image-editing-model-seededit-3-0-enhanced-image-consistency-and-usability-rate</a:t>
            </a:r>
          </a:p>
          <a:p xmlns:a="http://schemas.openxmlformats.org/drawingml/2006/main">
            <a:r>
              <a:t>- https://github.com/Tencent-Hunyuan/HunyuanImage-3.0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最新研究给出了两个直接证据。第一，CVPR 2026显示，GPT-5、Gemini 2.5 Pro等Judge在多模态任务上的准确率大约为66%到75%，而人类专家超过90%，说明通用Judge不能直接代表业务标准。第二，ICCV 2025表明，可以利用少量验证样本对多个Prompt进行视觉相关的加权，从而改善判断和置信度校准。这正对应本项目的后验校准、邻域共识和人工复核分流。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Multimodal RewardBench 2, CVPR 2026: https://openaccess.thecvf.com/content/CVPR2026/html/Hu_Multimodal_RewardBench_2_Evaluating_Omni_Reward_Models_for_Interleaved_Text_CVPR_2026_paper.html</a:t>
            </a:r>
          </a:p>
          <a:p xmlns:a="http://schemas.openxmlformats.org/drawingml/2006/main">
            <a:r>
              <a:t>- Calibrating MLLM-as-a-Judge via Multimodal Bayesian Prompt Ensembles, ICCV 2025: https://arxiv.org/abs/2509.08777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不是再建设一套数据平台，而是在现有规则、Prompt和VLM之上增加一层可插拔的任务自适应能力。输入新任务描述、少量专家样本和已有评估结果，输出经过校准的分数、证据、置信度和人工复核建议。建议首批优先用多图编辑和AIGC图库做闭环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带来三层价值：业务上减少重复建设和人工成本，技术上形成可校准、可验证的评估方法，长期沉淀跨项目Pipeline、验证集和失败案例库。页面中的数字是SOW目标，不是现有成绩。希望领导批准本次合作，以一到两个场景先完成闭环验证，再逐步扩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9596c78e84435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0fc901aedd4d71" /><Relationship Type="http://schemas.openxmlformats.org/officeDocument/2006/relationships/slideLayout" Target="/ppt/slideLayouts/slideLayout1.xml" Id="R910baa4a00d74fe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0baa4a00d74fe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5a10afa0a94451" /><Relationship Type="http://schemas.openxmlformats.org/officeDocument/2006/relationships/notesSlide" Target="/ppt/notesSlides/notesSlide1.xml" Id="R386a2b2c1d8e4d8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032d01b9bb4119" /><Relationship Type="http://schemas.openxmlformats.org/officeDocument/2006/relationships/notesSlide" Target="/ppt/notesSlides/notesSlide2.xml" Id="R8700da65d0dd436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2cfa859d734d36" /><Relationship Type="http://schemas.openxmlformats.org/officeDocument/2006/relationships/image" Target="/ppt/media/image.png" Id="R1aed782c5c804b61" /><Relationship Type="http://schemas.openxmlformats.org/officeDocument/2006/relationships/image" Target="/ppt/media/image2.png" Id="Ra72faef281e6476c" /><Relationship Type="http://schemas.openxmlformats.org/officeDocument/2006/relationships/notesSlide" Target="/ppt/notesSlides/notesSlide3.xml" Id="R52ffe24416c74bf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01d87a8bc24a97" /><Relationship Type="http://schemas.openxmlformats.org/officeDocument/2006/relationships/notesSlide" Target="/ppt/notesSlides/notesSlide4.xml" Id="Rcfcf4d03f4344d3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3aad51b7b44400" /><Relationship Type="http://schemas.openxmlformats.org/officeDocument/2006/relationships/image" Target="/ppt/media/image3.png" Id="R1e87d69a04ec4424" /><Relationship Type="http://schemas.openxmlformats.org/officeDocument/2006/relationships/image" Target="/ppt/media/image4.png" Id="Re817d940fdbd47d4" /><Relationship Type="http://schemas.openxmlformats.org/officeDocument/2006/relationships/notesSlide" Target="/ppt/notesSlides/notesSlide5.xml" Id="R32cce6b7e08f423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c3599c51a64371" /><Relationship Type="http://schemas.openxmlformats.org/officeDocument/2006/relationships/notesSlide" Target="/ppt/notesSlides/notesSlide6.xml" Id="R9c4656e42dd54dd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8e45112d634141" /><Relationship Type="http://schemas.openxmlformats.org/officeDocument/2006/relationships/notesSlide" Target="/ppt/notesSlides/notesSlide7.xml" Id="R188452d7c8d8420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accent-1">
            <a:extLst xmlns:a="http://schemas.openxmlformats.org/drawingml/2006/main">
              <a:ext uri="{FF2B5EF4-FFF2-40B4-BE49-F238E27FC236}">
                <a16:creationId xmlns:a16="http://schemas.microsoft.com/office/drawing/2014/main" id="{959C2869-05E3-41F6-9FAC-21B7EAF29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762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2" name="title-1">
            <a:extLst xmlns:a="http://schemas.openxmlformats.org/drawingml/2006/main">
              <a:ext uri="{FF2B5EF4-FFF2-40B4-BE49-F238E27FC236}">
                <a16:creationId xmlns:a16="http://schemas.microsoft.com/office/drawing/2014/main" id="{EA9003AE-CD4E-4A7F-97C4-DAB64891F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四类图文项目对质量的要求不同，却依赖同一类底层能力</a:t>
            </a:r>
          </a:p>
        </p:txBody>
      </p:sp>
      <p:sp>
        <p:nvSpPr>
          <p:cNvPr id="3" name="page-1">
            <a:extLst xmlns:a="http://schemas.openxmlformats.org/drawingml/2006/main">
              <a:ext uri="{FF2B5EF4-FFF2-40B4-BE49-F238E27FC236}">
                <a16:creationId xmlns:a16="http://schemas.microsoft.com/office/drawing/2014/main" id="{89AA79CC-21A2-44F7-B39D-86A50007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0080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4" name="auto-text-1">
            <a:extLst xmlns:a="http://schemas.openxmlformats.org/drawingml/2006/main">
              <a:ext uri="{FF2B5EF4-FFF2-40B4-BE49-F238E27FC236}">
                <a16:creationId xmlns:a16="http://schemas.microsoft.com/office/drawing/2014/main" id="{7FF7EDA9-898E-43A9-BB65-950BC0F4A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906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优先以多图编辑和AIGC图库为代表场景：同一张图是否“高质量”，取决于具体任务和使用目标。</a:t>
            </a:r>
          </a:p>
        </p:txBody>
      </p:sp>
      <p:sp>
        <p:nvSpPr>
          <p:cNvPr id="5" name="auto-text-2">
            <a:extLst xmlns:a="http://schemas.openxmlformats.org/drawingml/2006/main">
              <a:ext uri="{FF2B5EF4-FFF2-40B4-BE49-F238E27FC236}">
                <a16:creationId xmlns:a16="http://schemas.microsoft.com/office/drawing/2014/main" id="{E0EC2284-0A98-4BCC-BF20-159A95EA4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2400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多图编辑</a:t>
            </a:r>
          </a:p>
        </p:txBody>
      </p:sp>
      <p:sp>
        <p:nvSpPr>
          <p:cNvPr id="6" name="auto-text-3">
            <a:extLst xmlns:a="http://schemas.openxmlformats.org/drawingml/2006/main">
              <a:ext uri="{FF2B5EF4-FFF2-40B4-BE49-F238E27FC236}">
                <a16:creationId xmlns:a16="http://schemas.microsoft.com/office/drawing/2014/main" id="{DA89AF99-51A4-4172-822B-78AF19327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52400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AIGC图库</a:t>
            </a:r>
          </a:p>
        </p:txBody>
      </p:sp>
      <p:sp>
        <p:nvSpPr>
          <p:cNvPr id="7" name="edit-media-surface">
            <a:extLst xmlns:a="http://schemas.openxmlformats.org/drawingml/2006/main">
              <a:ext uri="{FF2B5EF4-FFF2-40B4-BE49-F238E27FC236}">
                <a16:creationId xmlns:a16="http://schemas.microsoft.com/office/drawing/2014/main" id="{77079F21-0D82-446B-A94A-1968826B7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943100"/>
            <a:ext cx="542925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B9C9F4"/>
            </a:solidFill>
            <a:prstDash val="solid"/>
          </a:ln>
        </p:spPr>
      </p:sp>
      <p:sp>
        <p:nvSpPr>
          <p:cNvPr id="8" name="edit-source-frame">
            <a:extLst xmlns:a="http://schemas.openxmlformats.org/drawingml/2006/main">
              <a:ext uri="{FF2B5EF4-FFF2-40B4-BE49-F238E27FC236}">
                <a16:creationId xmlns:a16="http://schemas.microsoft.com/office/drawing/2014/main" id="{45351CDF-514A-43A0-8EAB-618623CE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5049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AAB5C0"/>
            </a:solidFill>
            <a:prstDash val="solid"/>
          </a:ln>
        </p:spPr>
      </p:sp>
      <p:sp>
        <p:nvSpPr>
          <p:cNvPr id="9" name="edit-source-label">
            <a:extLst xmlns:a="http://schemas.openxmlformats.org/drawingml/2006/main">
              <a:ext uri="{FF2B5EF4-FFF2-40B4-BE49-F238E27FC236}">
                <a16:creationId xmlns:a16="http://schemas.microsoft.com/office/drawing/2014/main" id="{0C126680-D02F-4A43-9E3F-DF1CF041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76525"/>
            <a:ext cx="1200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rPr>
              <a:t>原图</a:t>
            </a:r>
          </a:p>
        </p:txBody>
      </p:sp>
      <p:sp>
        <p:nvSpPr>
          <p:cNvPr id="10" name="edit-source-sub">
            <a:extLst xmlns:a="http://schemas.openxmlformats.org/drawingml/2006/main">
              <a:ext uri="{FF2B5EF4-FFF2-40B4-BE49-F238E27FC236}">
                <a16:creationId xmlns:a16="http://schemas.microsoft.com/office/drawing/2014/main" id="{8BA4DC85-AA51-4DD4-B31C-98CFCF152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81325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替换为内部图片</a:t>
            </a:r>
          </a:p>
        </p:txBody>
      </p:sp>
      <p:sp>
        <p:nvSpPr>
          <p:cNvPr id="11" name="edit-reference-frame">
            <a:extLst xmlns:a="http://schemas.openxmlformats.org/drawingml/2006/main">
              <a:ext uri="{FF2B5EF4-FFF2-40B4-BE49-F238E27FC236}">
                <a16:creationId xmlns:a16="http://schemas.microsoft.com/office/drawing/2014/main" id="{EF6F2B81-B4FF-4410-87C6-15A6B13B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190750"/>
            <a:ext cx="15049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AAB5C0"/>
            </a:solidFill>
            <a:prstDash val="solid"/>
          </a:ln>
        </p:spPr>
      </p:sp>
      <p:sp>
        <p:nvSpPr>
          <p:cNvPr id="12" name="edit-reference-label">
            <a:extLst xmlns:a="http://schemas.openxmlformats.org/drawingml/2006/main">
              <a:ext uri="{FF2B5EF4-FFF2-40B4-BE49-F238E27FC236}">
                <a16:creationId xmlns:a16="http://schemas.microsoft.com/office/drawing/2014/main" id="{3650ED2B-56C5-4C4F-A9A5-ABEAE085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76525"/>
            <a:ext cx="1200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rPr>
              <a:t>参考图</a:t>
            </a:r>
          </a:p>
        </p:txBody>
      </p:sp>
      <p:sp>
        <p:nvSpPr>
          <p:cNvPr id="13" name="edit-reference-sub">
            <a:extLst xmlns:a="http://schemas.openxmlformats.org/drawingml/2006/main">
              <a:ext uri="{FF2B5EF4-FFF2-40B4-BE49-F238E27FC236}">
                <a16:creationId xmlns:a16="http://schemas.microsoft.com/office/drawing/2014/main" id="{7DDCACC9-44BC-472B-A023-F0EDD87EC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981325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替换为内部图片</a:t>
            </a:r>
          </a:p>
        </p:txBody>
      </p:sp>
      <p:sp>
        <p:nvSpPr>
          <p:cNvPr id="14" name="edit-output-frame">
            <a:extLst xmlns:a="http://schemas.openxmlformats.org/drawingml/2006/main">
              <a:ext uri="{FF2B5EF4-FFF2-40B4-BE49-F238E27FC236}">
                <a16:creationId xmlns:a16="http://schemas.microsoft.com/office/drawing/2014/main" id="{BD8FF3EE-26D2-4EC4-84DE-99E636E7B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190750"/>
            <a:ext cx="15049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AAB5C0"/>
            </a:solidFill>
            <a:prstDash val="solid"/>
          </a:ln>
        </p:spPr>
      </p:sp>
      <p:sp>
        <p:nvSpPr>
          <p:cNvPr id="15" name="edit-output-label">
            <a:extLst xmlns:a="http://schemas.openxmlformats.org/drawingml/2006/main">
              <a:ext uri="{FF2B5EF4-FFF2-40B4-BE49-F238E27FC236}">
                <a16:creationId xmlns:a16="http://schemas.microsoft.com/office/drawing/2014/main" id="{BE9D750A-3C51-4085-BD0E-E85E50DA9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76525"/>
            <a:ext cx="1200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rPr>
              <a:t>编辑结果</a:t>
            </a:r>
          </a:p>
        </p:txBody>
      </p:sp>
      <p:sp>
        <p:nvSpPr>
          <p:cNvPr id="16" name="edit-output-sub">
            <a:extLst xmlns:a="http://schemas.openxmlformats.org/drawingml/2006/main">
              <a:ext uri="{FF2B5EF4-FFF2-40B4-BE49-F238E27FC236}">
                <a16:creationId xmlns:a16="http://schemas.microsoft.com/office/drawing/2014/main" id="{0295D4FF-8DAA-4DEB-9621-7E0BE15F5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981325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替换为内部图片</a:t>
            </a:r>
          </a:p>
        </p:txBody>
      </p:sp>
      <p:sp>
        <p:nvSpPr>
          <p:cNvPr id="17" name="auto-text-4">
            <a:extLst xmlns:a="http://schemas.openxmlformats.org/drawingml/2006/main">
              <a:ext uri="{FF2B5EF4-FFF2-40B4-BE49-F238E27FC236}">
                <a16:creationId xmlns:a16="http://schemas.microsoft.com/office/drawing/2014/main" id="{FA7F5FE8-294A-429B-A31B-CE464A84F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建议样例：换装／持物／合影／表情迁移</a:t>
            </a:r>
          </a:p>
        </p:txBody>
      </p:sp>
      <p:sp>
        <p:nvSpPr>
          <p:cNvPr id="18" name="gallery-media-surface">
            <a:extLst xmlns:a="http://schemas.openxmlformats.org/drawingml/2006/main">
              <a:ext uri="{FF2B5EF4-FFF2-40B4-BE49-F238E27FC236}">
                <a16:creationId xmlns:a16="http://schemas.microsoft.com/office/drawing/2014/main" id="{8E3EEF6C-0E02-46D1-984D-0742F273D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43100"/>
            <a:ext cx="531495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E7F6F3"/>
          </a:solidFill>
          <a:ln xmlns:a="http://schemas.openxmlformats.org/drawingml/2006/main" w="9525">
            <a:solidFill>
              <a:srgbClr val="B8DDD8"/>
            </a:solidFill>
            <a:prstDash val="solid"/>
          </a:ln>
        </p:spPr>
      </p:sp>
      <p:sp>
        <p:nvSpPr>
          <p:cNvPr id="19" name="gallery-good-frame">
            <a:extLst xmlns:a="http://schemas.openxmlformats.org/drawingml/2006/main">
              <a:ext uri="{FF2B5EF4-FFF2-40B4-BE49-F238E27FC236}">
                <a16:creationId xmlns:a16="http://schemas.microsoft.com/office/drawing/2014/main" id="{71A4EC0E-6CCD-4C70-9AEA-E1E3AC661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90750"/>
            <a:ext cx="22098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AAB5C0"/>
            </a:solidFill>
            <a:prstDash val="solid"/>
          </a:ln>
        </p:spPr>
      </p:sp>
      <p:sp>
        <p:nvSpPr>
          <p:cNvPr id="20" name="gallery-good-label">
            <a:extLst xmlns:a="http://schemas.openxmlformats.org/drawingml/2006/main">
              <a:ext uri="{FF2B5EF4-FFF2-40B4-BE49-F238E27FC236}">
                <a16:creationId xmlns:a16="http://schemas.microsoft.com/office/drawing/2014/main" id="{C6356F11-2DF9-462D-B822-19BB8C1F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6765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rPr>
              <a:t>可入库样本</a:t>
            </a:r>
          </a:p>
        </p:txBody>
      </p:sp>
      <p:sp>
        <p:nvSpPr>
          <p:cNvPr id="21" name="gallery-good-sub">
            <a:extLst xmlns:a="http://schemas.openxmlformats.org/drawingml/2006/main">
              <a:ext uri="{FF2B5EF4-FFF2-40B4-BE49-F238E27FC236}">
                <a16:creationId xmlns:a16="http://schemas.microsoft.com/office/drawing/2014/main" id="{735B019B-C187-4F24-97B2-BCF2D5EBA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81325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替换为内部图片</a:t>
            </a:r>
          </a:p>
        </p:txBody>
      </p:sp>
      <p:sp>
        <p:nvSpPr>
          <p:cNvPr id="22" name="gallery-bad-frame">
            <a:extLst xmlns:a="http://schemas.openxmlformats.org/drawingml/2006/main">
              <a:ext uri="{FF2B5EF4-FFF2-40B4-BE49-F238E27FC236}">
                <a16:creationId xmlns:a16="http://schemas.microsoft.com/office/drawing/2014/main" id="{1412DE2A-C823-4B8A-BDB4-FCCAADD1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190750"/>
            <a:ext cx="22098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AAB5C0"/>
            </a:solidFill>
            <a:prstDash val="solid"/>
          </a:ln>
        </p:spPr>
      </p:sp>
      <p:sp>
        <p:nvSpPr>
          <p:cNvPr id="23" name="gallery-bad-label">
            <a:extLst xmlns:a="http://schemas.openxmlformats.org/drawingml/2006/main">
              <a:ext uri="{FF2B5EF4-FFF2-40B4-BE49-F238E27FC236}">
                <a16:creationId xmlns:a16="http://schemas.microsoft.com/office/drawing/2014/main" id="{4F90E44A-902D-4D7B-B5E1-FC35603A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6765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rPr>
              <a:t>异常／低质样本</a:t>
            </a:r>
          </a:p>
        </p:txBody>
      </p:sp>
      <p:sp>
        <p:nvSpPr>
          <p:cNvPr id="24" name="gallery-bad-sub">
            <a:extLst xmlns:a="http://schemas.openxmlformats.org/drawingml/2006/main">
              <a:ext uri="{FF2B5EF4-FFF2-40B4-BE49-F238E27FC236}">
                <a16:creationId xmlns:a16="http://schemas.microsoft.com/office/drawing/2014/main" id="{EECE856F-DA62-4274-838A-4BF61C75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981325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替换为内部图片</a:t>
            </a:r>
          </a:p>
        </p:txBody>
      </p:sp>
      <p:sp>
        <p:nvSpPr>
          <p:cNvPr id="25" name="auto-text-5">
            <a:extLst xmlns:a="http://schemas.openxmlformats.org/drawingml/2006/main">
              <a:ext uri="{FF2B5EF4-FFF2-40B4-BE49-F238E27FC236}">
                <a16:creationId xmlns:a16="http://schemas.microsoft.com/office/drawing/2014/main" id="{87EEB1D1-CFB4-41E2-8450-2DA23FA61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90950"/>
            <a:ext cx="462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建议样例：肢体异常／结构错误／构图或美学问题</a:t>
            </a:r>
          </a:p>
        </p:txBody>
      </p:sp>
      <p:sp>
        <p:nvSpPr>
          <p:cNvPr id="26" name="auto-text-6">
            <a:extLst xmlns:a="http://schemas.openxmlformats.org/drawingml/2006/main">
              <a:ext uri="{FF2B5EF4-FFF2-40B4-BE49-F238E27FC236}">
                <a16:creationId xmlns:a16="http://schemas.microsoft.com/office/drawing/2014/main" id="{3CAB2C8E-C1C8-471F-A978-A617F2616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38650"/>
            <a:ext cx="523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主体与参考一致性｜编辑目标满足｜非目标区域保持｜结果自然度</a:t>
            </a:r>
          </a:p>
        </p:txBody>
      </p:sp>
      <p:sp>
        <p:nvSpPr>
          <p:cNvPr id="27" name="auto-text-7">
            <a:extLst xmlns:a="http://schemas.openxmlformats.org/drawingml/2006/main">
              <a:ext uri="{FF2B5EF4-FFF2-40B4-BE49-F238E27FC236}">
                <a16:creationId xmlns:a16="http://schemas.microsoft.com/office/drawing/2014/main" id="{42B5CF26-5BF6-4D8B-8D6B-1A30592E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438650"/>
            <a:ext cx="5124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异常生成｜主体完整性｜图文一致性｜美学与构图｜风险内容</a:t>
            </a:r>
          </a:p>
        </p:txBody>
      </p:sp>
      <p:sp>
        <p:nvSpPr>
          <p:cNvPr id="28" name="slide1-conclusion">
            <a:extLst xmlns:a="http://schemas.openxmlformats.org/drawingml/2006/main">
              <a:ext uri="{FF2B5EF4-FFF2-40B4-BE49-F238E27FC236}">
                <a16:creationId xmlns:a16="http://schemas.microsoft.com/office/drawing/2014/main" id="{1416774B-F1B3-4658-9453-2F64C2DAB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286375"/>
            <a:ext cx="11239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29" name="auto-text-8">
            <a:extLst xmlns:a="http://schemas.openxmlformats.org/drawingml/2006/main">
              <a:ext uri="{FF2B5EF4-FFF2-40B4-BE49-F238E27FC236}">
                <a16:creationId xmlns:a16="http://schemas.microsoft.com/office/drawing/2014/main" id="{7B67DE97-F897-43CE-B63D-793E8B92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核心判断</a:t>
            </a:r>
          </a:p>
        </p:txBody>
      </p:sp>
      <p:sp>
        <p:nvSpPr>
          <p:cNvPr id="30" name="auto-text-9">
            <a:extLst xmlns:a="http://schemas.openxmlformats.org/drawingml/2006/main">
              <a:ext uri="{FF2B5EF4-FFF2-40B4-BE49-F238E27FC236}">
                <a16:creationId xmlns:a16="http://schemas.microsoft.com/office/drawing/2014/main" id="{C44A1EAD-E328-4077-AF15-70507D51F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41020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质量不是图片的固定属性，而是图片、标签与目标任务之间的匹配关系。</a:t>
            </a:r>
          </a:p>
        </p:txBody>
      </p:sp>
    </p:spTree>
    <p:extLst>
      <p:ext uri="{BB962C8B-B14F-4D97-AF65-F5344CB8AC3E}">
        <p14:creationId xmlns:p14="http://schemas.microsoft.com/office/powerpoint/2010/main" val="2526513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accent-2">
            <a:extLst xmlns:a="http://schemas.openxmlformats.org/drawingml/2006/main">
              <a:ext uri="{FF2B5EF4-FFF2-40B4-BE49-F238E27FC236}">
                <a16:creationId xmlns:a16="http://schemas.microsoft.com/office/drawing/2014/main" id="{247A374D-AA8F-464A-88F0-4A156E097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762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BB100D3A-EBEB-4DA9-AAEB-A80452227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按项目临时搭建质检管线，导致方法、成本和经验反复重置</a:t>
            </a:r>
          </a:p>
        </p:txBody>
      </p:sp>
      <p:sp>
        <p:nvSpPr>
          <p:cNvPr id="3" name="page-2">
            <a:extLst xmlns:a="http://schemas.openxmlformats.org/drawingml/2006/main">
              <a:ext uri="{FF2B5EF4-FFF2-40B4-BE49-F238E27FC236}">
                <a16:creationId xmlns:a16="http://schemas.microsoft.com/office/drawing/2014/main" id="{39DF6F88-9DEC-46F4-9630-690B82C4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0080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4" name="auto-text-10">
            <a:extLst xmlns:a="http://schemas.openxmlformats.org/drawingml/2006/main">
              <a:ext uri="{FF2B5EF4-FFF2-40B4-BE49-F238E27FC236}">
                <a16:creationId xmlns:a16="http://schemas.microsoft.com/office/drawing/2014/main" id="{9992616A-A86D-422E-8A48-2CAF803C2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当前路径</a:t>
            </a:r>
          </a:p>
        </p:txBody>
      </p:sp>
      <p:sp>
        <p:nvSpPr>
          <p:cNvPr id="5" name="step-dot-0">
            <a:extLst xmlns:a="http://schemas.openxmlformats.org/drawingml/2006/main">
              <a:ext uri="{FF2B5EF4-FFF2-40B4-BE49-F238E27FC236}">
                <a16:creationId xmlns:a16="http://schemas.microsoft.com/office/drawing/2014/main" id="{09CC6424-EF7E-4F4A-82C5-C57FDFFA6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0497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6" name="step-line-0">
            <a:extLst xmlns:a="http://schemas.openxmlformats.org/drawingml/2006/main">
              <a:ext uri="{FF2B5EF4-FFF2-40B4-BE49-F238E27FC236}">
                <a16:creationId xmlns:a16="http://schemas.microsoft.com/office/drawing/2014/main" id="{52D6E37A-D9C2-466D-B308-72F9330D2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05000"/>
            <a:ext cx="381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D5F8"/>
          </a:solidFill>
          <a:ln xmlns:a="http://schemas.openxmlformats.org/drawingml/2006/main" w="9525">
            <a:solidFill>
              <a:srgbClr val="C7D5F8"/>
            </a:solidFill>
            <a:prstDash val="solid"/>
          </a:ln>
        </p:spPr>
      </p:sp>
      <p:sp>
        <p:nvSpPr>
          <p:cNvPr id="7" name="step-text-0">
            <a:extLst xmlns:a="http://schemas.openxmlformats.org/drawingml/2006/main">
              <a:ext uri="{FF2B5EF4-FFF2-40B4-BE49-F238E27FC236}">
                <a16:creationId xmlns:a16="http://schemas.microsoft.com/office/drawing/2014/main" id="{2ED0DC7B-1A41-4FA4-9555-365C7CACA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57350"/>
            <a:ext cx="3381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讨论质量标准</a:t>
            </a:r>
          </a:p>
        </p:txBody>
      </p:sp>
      <p:sp>
        <p:nvSpPr>
          <p:cNvPr id="8" name="step-dot-1">
            <a:extLst xmlns:a="http://schemas.openxmlformats.org/drawingml/2006/main">
              <a:ext uri="{FF2B5EF4-FFF2-40B4-BE49-F238E27FC236}">
                <a16:creationId xmlns:a16="http://schemas.microsoft.com/office/drawing/2014/main" id="{BDA5A043-E9AF-4E66-A0C8-37628C9E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5742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9" name="step-line-1">
            <a:extLst xmlns:a="http://schemas.openxmlformats.org/drawingml/2006/main">
              <a:ext uri="{FF2B5EF4-FFF2-40B4-BE49-F238E27FC236}">
                <a16:creationId xmlns:a16="http://schemas.microsoft.com/office/drawing/2014/main" id="{0FEC3488-FCD3-4EDE-A307-E6BC985D7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381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D5F8"/>
          </a:solidFill>
          <a:ln xmlns:a="http://schemas.openxmlformats.org/drawingml/2006/main" w="9525">
            <a:solidFill>
              <a:srgbClr val="C7D5F8"/>
            </a:solidFill>
            <a:prstDash val="solid"/>
          </a:ln>
        </p:spPr>
      </p:sp>
      <p:sp>
        <p:nvSpPr>
          <p:cNvPr id="10" name="step-text-1">
            <a:extLst xmlns:a="http://schemas.openxmlformats.org/drawingml/2006/main">
              <a:ext uri="{FF2B5EF4-FFF2-40B4-BE49-F238E27FC236}">
                <a16:creationId xmlns:a16="http://schemas.microsoft.com/office/drawing/2014/main" id="{BCE7A8A6-1DF9-4DA6-A4B6-88753C3C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09800"/>
            <a:ext cx="3381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编写规则／Prompt</a:t>
            </a:r>
          </a:p>
        </p:txBody>
      </p:sp>
      <p:sp>
        <p:nvSpPr>
          <p:cNvPr id="11" name="step-dot-2">
            <a:extLst xmlns:a="http://schemas.openxmlformats.org/drawingml/2006/main">
              <a:ext uri="{FF2B5EF4-FFF2-40B4-BE49-F238E27FC236}">
                <a16:creationId xmlns:a16="http://schemas.microsoft.com/office/drawing/2014/main" id="{7E5F6A53-C140-4059-9364-E58AE433A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987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12" name="step-line-2">
            <a:extLst xmlns:a="http://schemas.openxmlformats.org/drawingml/2006/main">
              <a:ext uri="{FF2B5EF4-FFF2-40B4-BE49-F238E27FC236}">
                <a16:creationId xmlns:a16="http://schemas.microsoft.com/office/drawing/2014/main" id="{2D162183-6B14-415A-9219-066B5B837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09900"/>
            <a:ext cx="381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D5F8"/>
          </a:solidFill>
          <a:ln xmlns:a="http://schemas.openxmlformats.org/drawingml/2006/main" w="9525">
            <a:solidFill>
              <a:srgbClr val="C7D5F8"/>
            </a:solidFill>
            <a:prstDash val="solid"/>
          </a:ln>
        </p:spPr>
      </p:sp>
      <p:sp>
        <p:nvSpPr>
          <p:cNvPr id="13" name="step-text-2">
            <a:extLst xmlns:a="http://schemas.openxmlformats.org/drawingml/2006/main">
              <a:ext uri="{FF2B5EF4-FFF2-40B4-BE49-F238E27FC236}">
                <a16:creationId xmlns:a16="http://schemas.microsoft.com/office/drawing/2014/main" id="{46AD0DBF-61C8-4CD0-A102-4E24312FC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62250"/>
            <a:ext cx="3381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人工抽检与调参</a:t>
            </a:r>
          </a:p>
        </p:txBody>
      </p:sp>
      <p:sp>
        <p:nvSpPr>
          <p:cNvPr id="14" name="step-dot-3">
            <a:extLst xmlns:a="http://schemas.openxmlformats.org/drawingml/2006/main">
              <a:ext uri="{FF2B5EF4-FFF2-40B4-BE49-F238E27FC236}">
                <a16:creationId xmlns:a16="http://schemas.microsoft.com/office/drawing/2014/main" id="{84803876-CB06-4B12-9B94-221A6266F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6232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15" name="step-line-3">
            <a:extLst xmlns:a="http://schemas.openxmlformats.org/drawingml/2006/main">
              <a:ext uri="{FF2B5EF4-FFF2-40B4-BE49-F238E27FC236}">
                <a16:creationId xmlns:a16="http://schemas.microsoft.com/office/drawing/2014/main" id="{37E01275-559C-4473-B243-C8AC14619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62350"/>
            <a:ext cx="381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D5F8"/>
          </a:solidFill>
          <a:ln xmlns:a="http://schemas.openxmlformats.org/drawingml/2006/main" w="9525">
            <a:solidFill>
              <a:srgbClr val="C7D5F8"/>
            </a:solidFill>
            <a:prstDash val="solid"/>
          </a:ln>
        </p:spPr>
      </p:sp>
      <p:sp>
        <p:nvSpPr>
          <p:cNvPr id="16" name="step-text-3">
            <a:extLst xmlns:a="http://schemas.openxmlformats.org/drawingml/2006/main">
              <a:ext uri="{FF2B5EF4-FFF2-40B4-BE49-F238E27FC236}">
                <a16:creationId xmlns:a16="http://schemas.microsoft.com/office/drawing/2014/main" id="{3CDC592D-EA63-44FD-8836-FF6EFB9A7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14700"/>
            <a:ext cx="3381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临时搭建管线</a:t>
            </a:r>
          </a:p>
        </p:txBody>
      </p:sp>
      <p:sp>
        <p:nvSpPr>
          <p:cNvPr id="17" name="step-dot-4">
            <a:extLst xmlns:a="http://schemas.openxmlformats.org/drawingml/2006/main">
              <a:ext uri="{FF2B5EF4-FFF2-40B4-BE49-F238E27FC236}">
                <a16:creationId xmlns:a16="http://schemas.microsoft.com/office/drawing/2014/main" id="{F0B367A1-1155-45F1-B4E6-1ABC89BA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1477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5C55"/>
          </a:solidFill>
          <a:ln xmlns:a="http://schemas.openxmlformats.org/drawingml/2006/main" w="9525">
            <a:solidFill>
              <a:srgbClr val="E65C55"/>
            </a:solidFill>
            <a:prstDash val="solid"/>
          </a:ln>
        </p:spPr>
      </p:sp>
      <p:sp>
        <p:nvSpPr>
          <p:cNvPr id="18" name="step-text-4">
            <a:extLst xmlns:a="http://schemas.openxmlformats.org/drawingml/2006/main">
              <a:ext uri="{FF2B5EF4-FFF2-40B4-BE49-F238E27FC236}">
                <a16:creationId xmlns:a16="http://schemas.microsoft.com/office/drawing/2014/main" id="{A188772F-3F39-44F4-8D17-337DF7DEE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67150"/>
            <a:ext cx="3381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E65C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E65C55"/>
                </a:solidFill>
                <a:latin typeface="Microsoft YaHei"/>
                <a:ea typeface="Microsoft YaHei"/>
                <a:cs typeface="Microsoft YaHei"/>
              </a:rPr>
              <a:t>任务变化后重做</a:t>
            </a:r>
          </a:p>
        </p:txBody>
      </p:sp>
      <p:sp>
        <p:nvSpPr>
          <p:cNvPr id="19" name="pain-summary">
            <a:extLst xmlns:a="http://schemas.openxmlformats.org/drawingml/2006/main">
              <a:ext uri="{FF2B5EF4-FFF2-40B4-BE49-F238E27FC236}">
                <a16:creationId xmlns:a16="http://schemas.microsoft.com/office/drawing/2014/main" id="{95B3A311-CEA5-48F4-8B26-258BA726E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591050"/>
            <a:ext cx="4476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20" name="auto-text-11">
            <a:extLst xmlns:a="http://schemas.openxmlformats.org/drawingml/2006/main">
              <a:ext uri="{FF2B5EF4-FFF2-40B4-BE49-F238E27FC236}">
                <a16:creationId xmlns:a16="http://schemas.microsoft.com/office/drawing/2014/main" id="{2E5D6E6A-2E94-44F7-9414-2CFE20506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共性痛点</a:t>
            </a:r>
          </a:p>
        </p:txBody>
      </p:sp>
      <p:sp>
        <p:nvSpPr>
          <p:cNvPr id="21" name="auto-text-12">
            <a:extLst xmlns:a="http://schemas.openxmlformats.org/drawingml/2006/main">
              <a:ext uri="{FF2B5EF4-FFF2-40B4-BE49-F238E27FC236}">
                <a16:creationId xmlns:a16="http://schemas.microsoft.com/office/drawing/2014/main" id="{D63C4F66-66D7-4B9A-BB0A-C5B367252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86350"/>
            <a:ext cx="4000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• 标准需要什么加什么，维度不全面</a:t>
            </a:r>
          </a:p>
          <a:p xmlns:a="http://schemas.openxmlformats.org/drawingml/2006/main">
            <a:pPr algn="l">
              <a:defRPr sz="120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• Prompt效果依赖个人经验，难以对照实验</a:t>
            </a:r>
          </a:p>
          <a:p xmlns:a="http://schemas.openxmlformats.org/drawingml/2006/main">
            <a:pPr algn="l">
              <a:defRPr sz="120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• 标注、筛选和复查成本高</a:t>
            </a:r>
          </a:p>
          <a:p xmlns:a="http://schemas.openxmlformats.org/drawingml/2006/main">
            <a:pPr algn="l">
              <a:defRPr sz="120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• Pipeline难复用，任务变化后修改成本高</a:t>
            </a:r>
          </a:p>
        </p:txBody>
      </p:sp>
      <p:sp>
        <p:nvSpPr>
          <p:cNvPr id="22" name="auto-text-13">
            <a:extLst xmlns:a="http://schemas.openxmlformats.org/drawingml/2006/main">
              <a:ext uri="{FF2B5EF4-FFF2-40B4-BE49-F238E27FC236}">
                <a16:creationId xmlns:a16="http://schemas.microsoft.com/office/drawing/2014/main" id="{1F97706B-582B-417B-BA56-BFB77D6DC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001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内部证据占位</a:t>
            </a:r>
          </a:p>
        </p:txBody>
      </p:sp>
      <p:sp>
        <p:nvSpPr>
          <p:cNvPr id="23" name="prompt-shot-frame">
            <a:extLst xmlns:a="http://schemas.openxmlformats.org/drawingml/2006/main">
              <a:ext uri="{FF2B5EF4-FFF2-40B4-BE49-F238E27FC236}">
                <a16:creationId xmlns:a16="http://schemas.microsoft.com/office/drawing/2014/main" id="{6463C3D5-7224-4871-8A87-1D3A54243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619250"/>
            <a:ext cx="6191250" cy="184785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AAB5C0"/>
            </a:solidFill>
            <a:prstDash val="solid"/>
          </a:ln>
        </p:spPr>
      </p:sp>
      <p:sp>
        <p:nvSpPr>
          <p:cNvPr id="24" name="prompt-shot-label">
            <a:extLst xmlns:a="http://schemas.openxmlformats.org/drawingml/2006/main">
              <a:ext uri="{FF2B5EF4-FFF2-40B4-BE49-F238E27FC236}">
                <a16:creationId xmlns:a16="http://schemas.microsoft.com/office/drawing/2014/main" id="{AD3AE4AE-6D51-4B99-BEC4-103B0A31B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314575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rPr>
              <a:t>当前质检Prompt截图</a:t>
            </a:r>
          </a:p>
        </p:txBody>
      </p:sp>
      <p:sp>
        <p:nvSpPr>
          <p:cNvPr id="25" name="prompt-shot-sub">
            <a:extLst xmlns:a="http://schemas.openxmlformats.org/drawingml/2006/main">
              <a:ext uri="{FF2B5EF4-FFF2-40B4-BE49-F238E27FC236}">
                <a16:creationId xmlns:a16="http://schemas.microsoft.com/office/drawing/2014/main" id="{70DD3ECF-1591-417F-8F1A-4D9A3CBD9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619375"/>
            <a:ext cx="588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建议包含：质量维度、评分规则、输出格式</a:t>
            </a:r>
          </a:p>
        </p:txBody>
      </p:sp>
      <p:sp>
        <p:nvSpPr>
          <p:cNvPr id="26" name="misjudge-case-frame">
            <a:extLst xmlns:a="http://schemas.openxmlformats.org/drawingml/2006/main">
              <a:ext uri="{FF2B5EF4-FFF2-40B4-BE49-F238E27FC236}">
                <a16:creationId xmlns:a16="http://schemas.microsoft.com/office/drawing/2014/main" id="{B839B8EE-5121-4071-BCD8-B20102E18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714750"/>
            <a:ext cx="6191250" cy="184785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AAB5C0"/>
            </a:solidFill>
            <a:prstDash val="solid"/>
          </a:ln>
        </p:spPr>
      </p:sp>
      <p:sp>
        <p:nvSpPr>
          <p:cNvPr id="27" name="misjudge-case-label">
            <a:extLst xmlns:a="http://schemas.openxmlformats.org/drawingml/2006/main">
              <a:ext uri="{FF2B5EF4-FFF2-40B4-BE49-F238E27FC236}">
                <a16:creationId xmlns:a16="http://schemas.microsoft.com/office/drawing/2014/main" id="{B7ECE82A-D3C9-41FA-8562-18A1255A1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410075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rPr>
              <a:t>VLM误判／人工分歧案例</a:t>
            </a:r>
          </a:p>
        </p:txBody>
      </p:sp>
      <p:sp>
        <p:nvSpPr>
          <p:cNvPr id="28" name="misjudge-case-sub">
            <a:extLst xmlns:a="http://schemas.openxmlformats.org/drawingml/2006/main">
              <a:ext uri="{FF2B5EF4-FFF2-40B4-BE49-F238E27FC236}">
                <a16:creationId xmlns:a16="http://schemas.microsoft.com/office/drawing/2014/main" id="{FA8A65A1-8F9F-4B84-9F81-23D801844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714875"/>
            <a:ext cx="588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建议包含：输入图片、VLM结论、人工结论、分歧原因</a:t>
            </a:r>
          </a:p>
        </p:txBody>
      </p:sp>
      <p:sp>
        <p:nvSpPr>
          <p:cNvPr id="29" name="auto-text-14">
            <a:extLst xmlns:a="http://schemas.openxmlformats.org/drawingml/2006/main">
              <a:ext uri="{FF2B5EF4-FFF2-40B4-BE49-F238E27FC236}">
                <a16:creationId xmlns:a16="http://schemas.microsoft.com/office/drawing/2014/main" id="{D5C796B7-3748-4756-9655-88C7C0843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73405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现状本质：我们并非没有质检能力，而是能力分散在个人经验、Prompt和临时脚本中，尚未形成可复用的方法资产。</a:t>
            </a:r>
          </a:p>
        </p:txBody>
      </p:sp>
    </p:spTree>
    <p:extLst>
      <p:ext uri="{BB962C8B-B14F-4D97-AF65-F5344CB8AC3E}">
        <p14:creationId xmlns:p14="http://schemas.microsoft.com/office/powerpoint/2010/main" val="17745121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cent-3">
            <a:extLst xmlns:a="http://schemas.openxmlformats.org/drawingml/2006/main">
              <a:ext uri="{FF2B5EF4-FFF2-40B4-BE49-F238E27FC236}">
                <a16:creationId xmlns:a16="http://schemas.microsoft.com/office/drawing/2014/main" id="{2049BCBD-B5A4-462F-8981-AB188CF03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762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70382952-F01B-417D-B96D-C021FD7E2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VLM Judge正在成为图像数据筛选和模型训练的关键能力</a:t>
            </a:r>
          </a:p>
        </p:txBody>
      </p:sp>
      <p:sp>
        <p:nvSpPr>
          <p:cNvPr id="3" name="page-3">
            <a:extLst xmlns:a="http://schemas.openxmlformats.org/drawingml/2006/main">
              <a:ext uri="{FF2B5EF4-FFF2-40B4-BE49-F238E27FC236}">
                <a16:creationId xmlns:a16="http://schemas.microsoft.com/office/drawing/2014/main" id="{C9FA7035-47B7-4306-9532-2580A6DB6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0080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" name="auto-text-15">
            <a:extLst xmlns:a="http://schemas.openxmlformats.org/drawingml/2006/main">
              <a:ext uri="{FF2B5EF4-FFF2-40B4-BE49-F238E27FC236}">
                <a16:creationId xmlns:a16="http://schemas.microsoft.com/office/drawing/2014/main" id="{C013EDFE-F46D-4FAE-AD69-F3DD46907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906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2025–2026年的研究重点已从“能否评价图像”，转向多维标准、细粒度任务和评价结果进入训练闭环。</a:t>
            </a:r>
          </a:p>
        </p:txBody>
      </p:sp>
      <p:sp>
        <p:nvSpPr>
          <p:cNvPr id="5" name="mjbench-dimensions-back">
            <a:extLst xmlns:a="http://schemas.openxmlformats.org/drawingml/2006/main">
              <a:ext uri="{FF2B5EF4-FFF2-40B4-BE49-F238E27FC236}">
                <a16:creationId xmlns:a16="http://schemas.microsoft.com/office/drawing/2014/main" id="{46DBE557-D215-43D8-ABCE-4283A8923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537210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ed782c5c804b61"/>
          <a:stretch xmlns:a="http://schemas.openxmlformats.org/drawingml/2006/main"/>
        </p:blipFill>
        <p:spPr>
          <a:xfrm xmlns:a="http://schemas.openxmlformats.org/drawingml/2006/main">
            <a:off x="931746" y="1524000"/>
            <a:ext cx="4499207" cy="3333750"/>
          </a:xfrm>
          <a:prstGeom xmlns:a="http://schemas.openxmlformats.org/drawingml/2006/main" prst="roundRect">
            <a:avLst>
              <a:gd name="adj" fmla="val 2286"/>
            </a:avLst>
          </a:prstGeom>
        </p:spPr>
      </p:pic>
      <p:sp>
        <p:nvSpPr>
          <p:cNvPr id="7" name="mmrb2-tasks-back">
            <a:extLst xmlns:a="http://schemas.openxmlformats.org/drawingml/2006/main">
              <a:ext uri="{FF2B5EF4-FFF2-40B4-BE49-F238E27FC236}">
                <a16:creationId xmlns:a16="http://schemas.microsoft.com/office/drawing/2014/main" id="{69D58279-4AB1-4C5A-9D38-B53FBEC1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04950"/>
            <a:ext cx="537210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2faef281e6476c"/>
          <a:stretch xmlns:a="http://schemas.openxmlformats.org/drawingml/2006/main"/>
        </p:blipFill>
        <p:spPr>
          <a:xfrm xmlns:a="http://schemas.openxmlformats.org/drawingml/2006/main">
            <a:off x="6685429" y="1524000"/>
            <a:ext cx="4650441" cy="3333750"/>
          </a:xfrm>
          <a:prstGeom xmlns:a="http://schemas.openxmlformats.org/drawingml/2006/main" prst="roundRect">
            <a:avLst>
              <a:gd name="adj" fmla="val 2286"/>
            </a:avLst>
          </a:prstGeom>
        </p:spPr>
      </p:pic>
      <p:sp>
        <p:nvSpPr>
          <p:cNvPr id="9" name="auto-text-16">
            <a:extLst xmlns:a="http://schemas.openxmlformats.org/drawingml/2006/main">
              <a:ext uri="{FF2B5EF4-FFF2-40B4-BE49-F238E27FC236}">
                <a16:creationId xmlns:a16="http://schemas.microsoft.com/office/drawing/2014/main" id="{3D92A2A3-6E1F-400D-8183-27E410932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0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图像评价已从单一质量分数扩展到一致性、安全、质量、偏差、构图等多个维度。</a:t>
            </a:r>
          </a:p>
        </p:txBody>
      </p:sp>
      <p:sp>
        <p:nvSpPr>
          <p:cNvPr id="10" name="auto-text-17">
            <a:extLst xmlns:a="http://schemas.openxmlformats.org/drawingml/2006/main">
              <a:ext uri="{FF2B5EF4-FFF2-40B4-BE49-F238E27FC236}">
                <a16:creationId xmlns:a16="http://schemas.microsoft.com/office/drawing/2014/main" id="{18197D70-0C78-4E93-98B8-8E774E60A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048250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Judge开始覆盖文本生图、图像编辑、图文交错生成和视觉推理，并与人类偏好共同构成训练反馈。</a:t>
            </a:r>
          </a:p>
        </p:txBody>
      </p:sp>
      <p:sp>
        <p:nvSpPr>
          <p:cNvPr id="11" name="trend-conclusion">
            <a:extLst xmlns:a="http://schemas.openxmlformats.org/drawingml/2006/main">
              <a:ext uri="{FF2B5EF4-FFF2-40B4-BE49-F238E27FC236}">
                <a16:creationId xmlns:a16="http://schemas.microsoft.com/office/drawing/2014/main" id="{1A8B8197-3E74-4281-B2C9-8B76A8AC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0"/>
            <a:ext cx="111633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EAF0FF"/>
            </a:solidFill>
            <a:prstDash val="solid"/>
          </a:ln>
        </p:spPr>
      </p:sp>
      <p:sp>
        <p:nvSpPr>
          <p:cNvPr id="12" name="auto-text-18">
            <a:extLst xmlns:a="http://schemas.openxmlformats.org/drawingml/2006/main">
              <a:ext uri="{FF2B5EF4-FFF2-40B4-BE49-F238E27FC236}">
                <a16:creationId xmlns:a16="http://schemas.microsoft.com/office/drawing/2014/main" id="{D1650898-C3E4-4E1E-A4B2-2F6342A6D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0250"/>
            <a:ext cx="10744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共同趋势：任务化Rubric → VLM自动评估 → 人工校验 → 数据筛选与训练回流</a:t>
            </a:r>
          </a:p>
        </p:txBody>
      </p:sp>
      <p:sp>
        <p:nvSpPr>
          <p:cNvPr id="13" name="source-650-0.4428498297981984">
            <a:extLst xmlns:a="http://schemas.openxmlformats.org/drawingml/2006/main">
              <a:ext uri="{FF2B5EF4-FFF2-40B4-BE49-F238E27FC236}">
                <a16:creationId xmlns:a16="http://schemas.microsoft.com/office/drawing/2014/main" id="{AC9763D8-6D35-4B1D-B24B-21541F5F9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191250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 i="1">
                <a:solidFill>
                  <a:srgbClr val="7B8794"/>
                </a:solidFill>
                <a:latin typeface="Cambria"/>
                <a:ea typeface="Cambria"/>
                <a:cs typeface="Cambria"/>
              </a:defRPr>
            </a:pPr>
            <a:r>
              <a:rPr sz="825" b="0" i="1">
                <a:solidFill>
                  <a:srgbClr val="7B8794"/>
                </a:solidFill>
                <a:latin typeface="Cambria"/>
                <a:ea typeface="Cambria"/>
                <a:cs typeface="Cambria"/>
              </a:rPr>
              <a:t>图源：MJ-Bench（NeurIPS 2025）；Multimodal RewardBench 2（CVPR 2026）</a:t>
            </a:r>
          </a:p>
        </p:txBody>
      </p:sp>
    </p:spTree>
    <p:extLst>
      <p:ext uri="{BB962C8B-B14F-4D97-AF65-F5344CB8AC3E}">
        <p14:creationId xmlns:p14="http://schemas.microsoft.com/office/powerpoint/2010/main" val="237892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accent-4">
            <a:extLst xmlns:a="http://schemas.openxmlformats.org/drawingml/2006/main">
              <a:ext uri="{FF2B5EF4-FFF2-40B4-BE49-F238E27FC236}">
                <a16:creationId xmlns:a16="http://schemas.microsoft.com/office/drawing/2014/main" id="{F873B106-55C7-4712-8156-95978284E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762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4E71CF60-D29D-4A62-B050-5D9AFEB80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头部公司已形成“任务标准＋自动Judge＋人工校准”闭环</a:t>
            </a:r>
          </a:p>
        </p:txBody>
      </p:sp>
      <p:sp>
        <p:nvSpPr>
          <p:cNvPr id="3" name="page-4">
            <a:extLst xmlns:a="http://schemas.openxmlformats.org/drawingml/2006/main">
              <a:ext uri="{FF2B5EF4-FFF2-40B4-BE49-F238E27FC236}">
                <a16:creationId xmlns:a16="http://schemas.microsoft.com/office/drawing/2014/main" id="{3666CB23-3173-453A-9EF3-4556684E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0080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auto-text-19">
            <a:extLst xmlns:a="http://schemas.openxmlformats.org/drawingml/2006/main">
              <a:ext uri="{FF2B5EF4-FFF2-40B4-BE49-F238E27FC236}">
                <a16:creationId xmlns:a16="http://schemas.microsoft.com/office/drawing/2014/main" id="{6EF79B60-1356-4EF5-B9C3-5B7CB4E01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906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公开做法虽不完全相同，但都先拆解任务标准，再组合自动评估、人工验证和训练回流。</a:t>
            </a:r>
          </a:p>
        </p:txBody>
      </p:sp>
      <p:sp>
        <p:nvSpPr>
          <p:cNvPr id="5" name="auto-text-20">
            <a:extLst xmlns:a="http://schemas.openxmlformats.org/drawingml/2006/main">
              <a:ext uri="{FF2B5EF4-FFF2-40B4-BE49-F238E27FC236}">
                <a16:creationId xmlns:a16="http://schemas.microsoft.com/office/drawing/2014/main" id="{F6DF4BC1-8FE0-4E8D-ABF7-AA20ADBD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287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公司／团队</a:t>
            </a:r>
          </a:p>
        </p:txBody>
      </p:sp>
      <p:sp>
        <p:nvSpPr>
          <p:cNvPr id="6" name="auto-text-21">
            <a:extLst xmlns:a="http://schemas.openxmlformats.org/drawingml/2006/main">
              <a:ext uri="{FF2B5EF4-FFF2-40B4-BE49-F238E27FC236}">
                <a16:creationId xmlns:a16="http://schemas.microsoft.com/office/drawing/2014/main" id="{0184258A-B1A4-4C98-B127-4C5ACE589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4287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公开实践</a:t>
            </a:r>
          </a:p>
        </p:txBody>
      </p:sp>
      <p:sp>
        <p:nvSpPr>
          <p:cNvPr id="7" name="auto-text-22">
            <a:extLst xmlns:a="http://schemas.openxmlformats.org/drawingml/2006/main">
              <a:ext uri="{FF2B5EF4-FFF2-40B4-BE49-F238E27FC236}">
                <a16:creationId xmlns:a16="http://schemas.microsoft.com/office/drawing/2014/main" id="{BA46CB41-8A3E-4194-BC17-F97CABBF9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4287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方法特征</a:t>
            </a:r>
          </a:p>
        </p:txBody>
      </p:sp>
      <p:sp>
        <p:nvSpPr>
          <p:cNvPr id="8" name="company-row-0">
            <a:extLst xmlns:a="http://schemas.openxmlformats.org/drawingml/2006/main">
              <a:ext uri="{FF2B5EF4-FFF2-40B4-BE49-F238E27FC236}">
                <a16:creationId xmlns:a16="http://schemas.microsoft.com/office/drawing/2014/main" id="{334714F6-1DBD-4876-AD5C-27A8E075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633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5F8FF"/>
          </a:solidFill>
          <a:ln xmlns:a="http://schemas.openxmlformats.org/drawingml/2006/main" w="9525">
            <a:solidFill>
              <a:srgbClr val="F5F8FF"/>
            </a:solidFill>
            <a:prstDash val="solid"/>
          </a:ln>
        </p:spPr>
      </p:sp>
      <p:sp>
        <p:nvSpPr>
          <p:cNvPr id="9" name="company-name-0">
            <a:extLst xmlns:a="http://schemas.openxmlformats.org/drawingml/2006/main">
              <a:ext uri="{FF2B5EF4-FFF2-40B4-BE49-F238E27FC236}">
                <a16:creationId xmlns:a16="http://schemas.microsoft.com/office/drawing/2014/main" id="{5E33E864-1875-4F04-A5AC-0664D76E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716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OpenAI</a:t>
            </a:r>
          </a:p>
        </p:txBody>
      </p:sp>
      <p:sp>
        <p:nvSpPr>
          <p:cNvPr id="10" name="company-body-0">
            <a:extLst xmlns:a="http://schemas.openxmlformats.org/drawingml/2006/main">
              <a:ext uri="{FF2B5EF4-FFF2-40B4-BE49-F238E27FC236}">
                <a16:creationId xmlns:a16="http://schemas.microsoft.com/office/drawing/2014/main" id="{A44335B0-BB3C-41BF-9596-E4A44157D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895475"/>
            <a:ext cx="657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按能力与安全风险切分评测集；用自动分类器／推理模型做离线评估，并结合对抗测试与人工规范校验。</a:t>
            </a:r>
          </a:p>
        </p:txBody>
      </p:sp>
      <p:sp>
        <p:nvSpPr>
          <p:cNvPr id="11" name="company-tag-0">
            <a:extLst xmlns:a="http://schemas.openxmlformats.org/drawingml/2006/main">
              <a:ext uri="{FF2B5EF4-FFF2-40B4-BE49-F238E27FC236}">
                <a16:creationId xmlns:a16="http://schemas.microsoft.com/office/drawing/2014/main" id="{0F91A6A3-B599-4042-AFEE-1EF493F3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812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持续评测</a:t>
            </a:r>
          </a:p>
        </p:txBody>
      </p:sp>
      <p:sp>
        <p:nvSpPr>
          <p:cNvPr id="12" name="company-row-1">
            <a:extLst xmlns:a="http://schemas.openxmlformats.org/drawingml/2006/main">
              <a:ext uri="{FF2B5EF4-FFF2-40B4-BE49-F238E27FC236}">
                <a16:creationId xmlns:a16="http://schemas.microsoft.com/office/drawing/2014/main" id="{9C5F8D87-CF40-4C22-896A-D7F990EFC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0"/>
            <a:ext cx="111633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8F6FF"/>
          </a:solidFill>
          <a:ln xmlns:a="http://schemas.openxmlformats.org/drawingml/2006/main" w="9525">
            <a:solidFill>
              <a:srgbClr val="F8F6FF"/>
            </a:solidFill>
            <a:prstDash val="solid"/>
          </a:ln>
        </p:spPr>
      </p:sp>
      <p:sp>
        <p:nvSpPr>
          <p:cNvPr id="13" name="company-name-1">
            <a:extLst xmlns:a="http://schemas.openxmlformats.org/drawingml/2006/main">
              <a:ext uri="{FF2B5EF4-FFF2-40B4-BE49-F238E27FC236}">
                <a16:creationId xmlns:a16="http://schemas.microsoft.com/office/drawing/2014/main" id="{4D614C6E-D1BE-44B3-BA6B-0B75E218D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860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7B61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7B61D1"/>
                </a:solidFill>
                <a:latin typeface="Microsoft YaHei"/>
                <a:ea typeface="Microsoft YaHei"/>
                <a:cs typeface="Microsoft YaHei"/>
              </a:rPr>
              <a:t>阿里 Qwen</a:t>
            </a:r>
          </a:p>
        </p:txBody>
      </p:sp>
      <p:sp>
        <p:nvSpPr>
          <p:cNvPr id="14" name="company-body-1">
            <a:extLst xmlns:a="http://schemas.openxmlformats.org/drawingml/2006/main">
              <a:ext uri="{FF2B5EF4-FFF2-40B4-BE49-F238E27FC236}">
                <a16:creationId xmlns:a16="http://schemas.microsoft.com/office/drawing/2014/main" id="{811C9E61-379F-423B-A63C-9C2B3B51B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809875"/>
            <a:ext cx="657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建设多级图像评测体系；专用 Q-Judger 按5个一级维度、56个细粒度因素评分，并结合公开基准与盲测。</a:t>
            </a:r>
          </a:p>
        </p:txBody>
      </p:sp>
      <p:sp>
        <p:nvSpPr>
          <p:cNvPr id="15" name="company-tag-1">
            <a:extLst xmlns:a="http://schemas.openxmlformats.org/drawingml/2006/main">
              <a:ext uri="{FF2B5EF4-FFF2-40B4-BE49-F238E27FC236}">
                <a16:creationId xmlns:a16="http://schemas.microsoft.com/office/drawing/2014/main" id="{D57CBBD6-5492-49B0-97CD-42382E3EF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8956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7B61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7B61D1"/>
                </a:solidFill>
                <a:latin typeface="Microsoft YaHei"/>
                <a:ea typeface="Microsoft YaHei"/>
                <a:cs typeface="Microsoft YaHei"/>
              </a:rPr>
              <a:t>专用 Judge</a:t>
            </a:r>
          </a:p>
        </p:txBody>
      </p:sp>
      <p:sp>
        <p:nvSpPr>
          <p:cNvPr id="16" name="company-row-2">
            <a:extLst xmlns:a="http://schemas.openxmlformats.org/drawingml/2006/main">
              <a:ext uri="{FF2B5EF4-FFF2-40B4-BE49-F238E27FC236}">
                <a16:creationId xmlns:a16="http://schemas.microsoft.com/office/drawing/2014/main" id="{094AD8E1-1950-4309-A475-E6F35065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81400"/>
            <a:ext cx="111633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7F5"/>
          </a:solidFill>
          <a:ln xmlns:a="http://schemas.openxmlformats.org/drawingml/2006/main" w="9525">
            <a:solidFill>
              <a:srgbClr val="FFF7F5"/>
            </a:solidFill>
            <a:prstDash val="solid"/>
          </a:ln>
        </p:spPr>
      </p:sp>
      <p:sp>
        <p:nvSpPr>
          <p:cNvPr id="17" name="company-name-2">
            <a:extLst xmlns:a="http://schemas.openxmlformats.org/drawingml/2006/main">
              <a:ext uri="{FF2B5EF4-FFF2-40B4-BE49-F238E27FC236}">
                <a16:creationId xmlns:a16="http://schemas.microsoft.com/office/drawing/2014/main" id="{04A754B7-5882-4309-8D70-CCA607AE0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00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E65C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E65C55"/>
                </a:solidFill>
                <a:latin typeface="Microsoft YaHei"/>
                <a:ea typeface="Microsoft YaHei"/>
                <a:cs typeface="Microsoft YaHei"/>
              </a:rPr>
              <a:t>字节 Seed</a:t>
            </a:r>
          </a:p>
        </p:txBody>
      </p:sp>
      <p:sp>
        <p:nvSpPr>
          <p:cNvPr id="18" name="company-body-2">
            <a:extLst xmlns:a="http://schemas.openxmlformats.org/drawingml/2006/main">
              <a:ext uri="{FF2B5EF4-FFF2-40B4-BE49-F238E27FC236}">
                <a16:creationId xmlns:a16="http://schemas.microsoft.com/office/drawing/2014/main" id="{0C032ECB-68DD-4F3B-A1AE-51D7E9D1B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724275"/>
            <a:ext cx="657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覆盖23类图像编辑子任务；CLIP评一致性、第三方VLM评指令响应，再以人工可用率验证最终效果。</a:t>
            </a:r>
          </a:p>
        </p:txBody>
      </p:sp>
      <p:sp>
        <p:nvSpPr>
          <p:cNvPr id="19" name="company-tag-2">
            <a:extLst xmlns:a="http://schemas.openxmlformats.org/drawingml/2006/main">
              <a:ext uri="{FF2B5EF4-FFF2-40B4-BE49-F238E27FC236}">
                <a16:creationId xmlns:a16="http://schemas.microsoft.com/office/drawing/2014/main" id="{D530D33C-B827-4CDC-8EA9-4F201F70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100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E65C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E65C55"/>
                </a:solidFill>
                <a:latin typeface="Microsoft YaHei"/>
                <a:ea typeface="Microsoft YaHei"/>
                <a:cs typeface="Microsoft YaHei"/>
              </a:rPr>
              <a:t>混合指标</a:t>
            </a:r>
          </a:p>
        </p:txBody>
      </p:sp>
      <p:sp>
        <p:nvSpPr>
          <p:cNvPr id="20" name="company-row-3">
            <a:extLst xmlns:a="http://schemas.openxmlformats.org/drawingml/2006/main">
              <a:ext uri="{FF2B5EF4-FFF2-40B4-BE49-F238E27FC236}">
                <a16:creationId xmlns:a16="http://schemas.microsoft.com/office/drawing/2014/main" id="{4CDBE11B-C2D9-4BA8-927F-EFB7D557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95800"/>
            <a:ext cx="111633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3FBFA"/>
          </a:solidFill>
          <a:ln xmlns:a="http://schemas.openxmlformats.org/drawingml/2006/main" w="9525">
            <a:solidFill>
              <a:srgbClr val="F3FBFA"/>
            </a:solidFill>
            <a:prstDash val="solid"/>
          </a:ln>
        </p:spPr>
      </p:sp>
      <p:sp>
        <p:nvSpPr>
          <p:cNvPr id="21" name="company-name-3">
            <a:extLst xmlns:a="http://schemas.openxmlformats.org/drawingml/2006/main">
              <a:ext uri="{FF2B5EF4-FFF2-40B4-BE49-F238E27FC236}">
                <a16:creationId xmlns:a16="http://schemas.microsoft.com/office/drawing/2014/main" id="{3D227F35-17B2-4842-9D53-77D41C9D7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腾讯混元</a:t>
            </a:r>
          </a:p>
        </p:txBody>
      </p:sp>
      <p:sp>
        <p:nvSpPr>
          <p:cNvPr id="22" name="company-body-3">
            <a:extLst xmlns:a="http://schemas.openxmlformats.org/drawingml/2006/main">
              <a:ext uri="{FF2B5EF4-FFF2-40B4-BE49-F238E27FC236}">
                <a16:creationId xmlns:a16="http://schemas.microsoft.com/office/drawing/2014/main" id="{EB0F82F5-525A-4E10-A28A-1B999F35D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638675"/>
            <a:ext cx="657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SSAE将提示词拆成3500个关键点／12类，由MLLM逐点评分；同时以100+专业评估员开展GSB对比。</a:t>
            </a:r>
          </a:p>
        </p:txBody>
      </p:sp>
      <p:sp>
        <p:nvSpPr>
          <p:cNvPr id="23" name="company-tag-3">
            <a:extLst xmlns:a="http://schemas.openxmlformats.org/drawingml/2006/main">
              <a:ext uri="{FF2B5EF4-FFF2-40B4-BE49-F238E27FC236}">
                <a16:creationId xmlns:a16="http://schemas.microsoft.com/office/drawing/2014/main" id="{DEB8B8CA-B2A2-4826-877B-E33E6A51D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724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检查点＋人工</a:t>
            </a:r>
          </a:p>
        </p:txBody>
      </p:sp>
      <p:sp>
        <p:nvSpPr>
          <p:cNvPr id="24" name="company-conclusion">
            <a:extLst xmlns:a="http://schemas.openxmlformats.org/drawingml/2006/main">
              <a:ext uri="{FF2B5EF4-FFF2-40B4-BE49-F238E27FC236}">
                <a16:creationId xmlns:a16="http://schemas.microsoft.com/office/drawing/2014/main" id="{74C01788-67CB-4F3A-B680-00903AE52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05450"/>
            <a:ext cx="111633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2263A"/>
          </a:solidFill>
          <a:ln xmlns:a="http://schemas.openxmlformats.org/drawingml/2006/main" w="9525">
            <a:solidFill>
              <a:srgbClr val="12263A"/>
            </a:solidFill>
            <a:prstDash val="solid"/>
          </a:ln>
        </p:spPr>
      </p:sp>
      <p:sp>
        <p:nvSpPr>
          <p:cNvPr id="25" name="auto-text-23">
            <a:extLst xmlns:a="http://schemas.openxmlformats.org/drawingml/2006/main">
              <a:ext uri="{FF2B5EF4-FFF2-40B4-BE49-F238E27FC236}">
                <a16:creationId xmlns:a16="http://schemas.microsoft.com/office/drawing/2014/main" id="{8F8B8E00-A675-4BA7-9F8D-4D72C4539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8EB0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8EB0FF"/>
                </a:solidFill>
                <a:latin typeface="Microsoft YaHei"/>
                <a:ea typeface="Microsoft YaHei"/>
                <a:cs typeface="Microsoft YaHei"/>
              </a:rPr>
              <a:t>行业共识</a:t>
            </a:r>
          </a:p>
        </p:txBody>
      </p:sp>
      <p:sp>
        <p:nvSpPr>
          <p:cNvPr id="26" name="auto-text-24">
            <a:extLst xmlns:a="http://schemas.openxmlformats.org/drawingml/2006/main">
              <a:ext uri="{FF2B5EF4-FFF2-40B4-BE49-F238E27FC236}">
                <a16:creationId xmlns:a16="http://schemas.microsoft.com/office/drawing/2014/main" id="{0B3002E6-FF9D-4AA2-A6CD-623BB5051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6388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通用模型只是底座；真正拉开效果的是任务Rubric、评价器组合、人工校准与持续回流。</a:t>
            </a:r>
          </a:p>
        </p:txBody>
      </p:sp>
      <p:sp>
        <p:nvSpPr>
          <p:cNvPr id="27" name="source-650-0.29204073758027194">
            <a:extLst xmlns:a="http://schemas.openxmlformats.org/drawingml/2006/main">
              <a:ext uri="{FF2B5EF4-FFF2-40B4-BE49-F238E27FC236}">
                <a16:creationId xmlns:a16="http://schemas.microsoft.com/office/drawing/2014/main" id="{24BF9F33-724E-481F-BC72-E034E77BC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191250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 i="1">
                <a:solidFill>
                  <a:srgbClr val="7B8794"/>
                </a:solidFill>
                <a:latin typeface="Cambria"/>
                <a:ea typeface="Cambria"/>
                <a:cs typeface="Cambria"/>
              </a:defRPr>
            </a:pPr>
            <a:r>
              <a:rPr sz="825" b="0" i="1">
                <a:solidFill>
                  <a:srgbClr val="7B8794"/>
                </a:solidFill>
                <a:latin typeface="Cambria"/>
                <a:ea typeface="Cambria"/>
                <a:cs typeface="Cambria"/>
              </a:rPr>
              <a:t>公开资料：OpenAI Images 2.0；Qwen-Image-Bench；SeedEdit 3.0；HunyuanImage 3.0</a:t>
            </a:r>
          </a:p>
        </p:txBody>
      </p:sp>
    </p:spTree>
    <p:extLst>
      <p:ext uri="{BB962C8B-B14F-4D97-AF65-F5344CB8AC3E}">
        <p14:creationId xmlns:p14="http://schemas.microsoft.com/office/powerpoint/2010/main" val="10663145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cent-5">
            <a:extLst xmlns:a="http://schemas.openxmlformats.org/drawingml/2006/main">
              <a:ext uri="{FF2B5EF4-FFF2-40B4-BE49-F238E27FC236}">
                <a16:creationId xmlns:a16="http://schemas.microsoft.com/office/drawing/2014/main" id="{95A69164-6ACA-4E59-8AA7-A7FCDAA7B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762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C0575721-80EA-417C-874F-58B72147C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VLM能够规模化评价图像，但仍需校准、共识与证据核验</a:t>
            </a:r>
          </a:p>
        </p:txBody>
      </p:sp>
      <p:sp>
        <p:nvSpPr>
          <p:cNvPr id="3" name="page-5">
            <a:extLst xmlns:a="http://schemas.openxmlformats.org/drawingml/2006/main">
              <a:ext uri="{FF2B5EF4-FFF2-40B4-BE49-F238E27FC236}">
                <a16:creationId xmlns:a16="http://schemas.microsoft.com/office/drawing/2014/main" id="{EED95B75-094D-4BC3-A744-BB75A291D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0080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" name="stat-left">
            <a:extLst xmlns:a="http://schemas.openxmlformats.org/drawingml/2006/main">
              <a:ext uri="{FF2B5EF4-FFF2-40B4-BE49-F238E27FC236}">
                <a16:creationId xmlns:a16="http://schemas.microsoft.com/office/drawing/2014/main" id="{502825D5-72BD-4C64-9546-5832F371F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53340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CECEB"/>
          </a:solidFill>
          <a:ln xmlns:a="http://schemas.openxmlformats.org/drawingml/2006/main" w="9525">
            <a:solidFill>
              <a:srgbClr val="FCECEB"/>
            </a:solidFill>
            <a:prstDash val="solid"/>
          </a:ln>
        </p:spPr>
      </p:sp>
      <p:sp>
        <p:nvSpPr>
          <p:cNvPr id="5" name="auto-text-25">
            <a:extLst xmlns:a="http://schemas.openxmlformats.org/drawingml/2006/main">
              <a:ext uri="{FF2B5EF4-FFF2-40B4-BE49-F238E27FC236}">
                <a16:creationId xmlns:a16="http://schemas.microsoft.com/office/drawing/2014/main" id="{F22ED6C1-5F76-4F69-A75E-862B6DDBA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335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E65C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E65C55"/>
                </a:solidFill>
                <a:latin typeface="Microsoft YaHei"/>
                <a:ea typeface="Microsoft YaHei"/>
                <a:cs typeface="Microsoft YaHei"/>
              </a:rPr>
              <a:t>66–75%</a:t>
            </a:r>
          </a:p>
        </p:txBody>
      </p:sp>
      <p:sp>
        <p:nvSpPr>
          <p:cNvPr id="6" name="auto-text-26">
            <a:extLst xmlns:a="http://schemas.openxmlformats.org/drawingml/2006/main">
              <a:ext uri="{FF2B5EF4-FFF2-40B4-BE49-F238E27FC236}">
                <a16:creationId xmlns:a16="http://schemas.microsoft.com/office/drawing/2014/main" id="{F7A47AD4-1F59-441A-BA04-FB535D1F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287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头部多模态Judge准确率</a:t>
            </a:r>
          </a:p>
        </p:txBody>
      </p:sp>
      <p:sp>
        <p:nvSpPr>
          <p:cNvPr id="7" name="auto-text-27">
            <a:extLst xmlns:a="http://schemas.openxmlformats.org/drawingml/2006/main">
              <a:ext uri="{FF2B5EF4-FFF2-40B4-BE49-F238E27FC236}">
                <a16:creationId xmlns:a16="http://schemas.microsoft.com/office/drawing/2014/main" id="{00525442-42BE-4894-B5E0-1C0EC334C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对比：人类专家 &gt;90%</a:t>
            </a:r>
          </a:p>
        </p:txBody>
      </p:sp>
      <p:sp>
        <p:nvSpPr>
          <p:cNvPr id="8" name="stat-right">
            <a:extLst xmlns:a="http://schemas.openxmlformats.org/drawingml/2006/main">
              <a:ext uri="{FF2B5EF4-FFF2-40B4-BE49-F238E27FC236}">
                <a16:creationId xmlns:a16="http://schemas.microsoft.com/office/drawing/2014/main" id="{2F7340E2-C158-4D1E-9DF9-AD6A35C5B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200150"/>
            <a:ext cx="53340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EAF0FF"/>
            </a:solidFill>
            <a:prstDash val="solid"/>
          </a:ln>
        </p:spPr>
      </p:sp>
      <p:sp>
        <p:nvSpPr>
          <p:cNvPr id="9" name="auto-text-28">
            <a:extLst xmlns:a="http://schemas.openxmlformats.org/drawingml/2006/main">
              <a:ext uri="{FF2B5EF4-FFF2-40B4-BE49-F238E27FC236}">
                <a16:creationId xmlns:a16="http://schemas.microsoft.com/office/drawing/2014/main" id="{26E35736-D455-4190-8006-63EEF3FEA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62075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少量验证样本</a:t>
            </a:r>
          </a:p>
        </p:txBody>
      </p:sp>
      <p:sp>
        <p:nvSpPr>
          <p:cNvPr id="10" name="auto-text-29">
            <a:extLst xmlns:a="http://schemas.openxmlformats.org/drawingml/2006/main">
              <a:ext uri="{FF2B5EF4-FFF2-40B4-BE49-F238E27FC236}">
                <a16:creationId xmlns:a16="http://schemas.microsoft.com/office/drawing/2014/main" id="{DF8FA692-652D-481A-A6D0-4029F007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362075"/>
            <a:ext cx="2781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即可学习不同Prompt／视觉类型的权重，并改善置信度校准</a:t>
            </a:r>
          </a:p>
        </p:txBody>
      </p:sp>
      <p:sp>
        <p:nvSpPr>
          <p:cNvPr id="11" name="mmrb2-results-back">
            <a:extLst xmlns:a="http://schemas.openxmlformats.org/drawingml/2006/main">
              <a:ext uri="{FF2B5EF4-FFF2-40B4-BE49-F238E27FC236}">
                <a16:creationId xmlns:a16="http://schemas.microsoft.com/office/drawing/2014/main" id="{F36489D8-3BDC-46D5-878D-8C9875BA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0300"/>
            <a:ext cx="537210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87d69a04ec4424"/>
          <a:stretch xmlns:a="http://schemas.openxmlformats.org/drawingml/2006/main"/>
        </p:blipFill>
        <p:spPr>
          <a:xfrm xmlns:a="http://schemas.openxmlformats.org/drawingml/2006/main">
            <a:off x="627135" y="2419350"/>
            <a:ext cx="5108431" cy="2628900"/>
          </a:xfrm>
          <a:prstGeom xmlns:a="http://schemas.openxmlformats.org/drawingml/2006/main" prst="roundRect">
            <a:avLst>
              <a:gd name="adj" fmla="val 2899"/>
            </a:avLst>
          </a:prstGeom>
        </p:spPr>
      </p:pic>
      <p:sp>
        <p:nvSpPr>
          <p:cNvPr id="13" name="calibration-curves-back">
            <a:extLst xmlns:a="http://schemas.openxmlformats.org/drawingml/2006/main">
              <a:ext uri="{FF2B5EF4-FFF2-40B4-BE49-F238E27FC236}">
                <a16:creationId xmlns:a16="http://schemas.microsoft.com/office/drawing/2014/main" id="{2F7533A3-720A-45F4-9D11-D534CA4C7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00300"/>
            <a:ext cx="537210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17d940fdbd47d4"/>
          <a:stretch xmlns:a="http://schemas.openxmlformats.org/drawingml/2006/main"/>
        </p:blipFill>
        <p:spPr>
          <a:xfrm xmlns:a="http://schemas.openxmlformats.org/drawingml/2006/main">
            <a:off x="6343650" y="2514600"/>
            <a:ext cx="5334000" cy="2438400"/>
          </a:xfrm>
          <a:prstGeom xmlns:a="http://schemas.openxmlformats.org/drawingml/2006/main" prst="roundRect">
            <a:avLst>
              <a:gd name="adj" fmla="val 2899"/>
            </a:avLst>
          </a:prstGeom>
        </p:spPr>
      </p:pic>
      <p:sp>
        <p:nvSpPr>
          <p:cNvPr id="15" name="auto-text-30">
            <a:extLst xmlns:a="http://schemas.openxmlformats.org/drawingml/2006/main">
              <a:ext uri="{FF2B5EF4-FFF2-40B4-BE49-F238E27FC236}">
                <a16:creationId xmlns:a16="http://schemas.microsoft.com/office/drawing/2014/main" id="{687146F1-4526-4F7C-86FE-5140681A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19700"/>
            <a:ext cx="523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结论一｜通用Judge与专家偏好仍有明显差距，且不同任务表现差异较大。</a:t>
            </a:r>
          </a:p>
        </p:txBody>
      </p:sp>
      <p:sp>
        <p:nvSpPr>
          <p:cNvPr id="16" name="auto-text-31">
            <a:extLst xmlns:a="http://schemas.openxmlformats.org/drawingml/2006/main">
              <a:ext uri="{FF2B5EF4-FFF2-40B4-BE49-F238E27FC236}">
                <a16:creationId xmlns:a16="http://schemas.microsoft.com/office/drawing/2014/main" id="{D1DE009D-7CD4-4455-9E70-D2542E5B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9700"/>
            <a:ext cx="523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结论二｜视觉任务需要专门校准；低置信和分歧样本应转入证据核验或人工复核。</a:t>
            </a:r>
          </a:p>
        </p:txBody>
      </p:sp>
      <p:sp>
        <p:nvSpPr>
          <p:cNvPr id="17" name="gap-conclusion">
            <a:extLst xmlns:a="http://schemas.openxmlformats.org/drawingml/2006/main">
              <a:ext uri="{FF2B5EF4-FFF2-40B4-BE49-F238E27FC236}">
                <a16:creationId xmlns:a16="http://schemas.microsoft.com/office/drawing/2014/main" id="{430D96FD-617E-4ACB-9E42-CACBA4F0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53100"/>
            <a:ext cx="111633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18" name="auto-text-32">
            <a:extLst xmlns:a="http://schemas.openxmlformats.org/drawingml/2006/main">
              <a:ext uri="{FF2B5EF4-FFF2-40B4-BE49-F238E27FC236}">
                <a16:creationId xmlns:a16="http://schemas.microsoft.com/office/drawing/2014/main" id="{5654669D-99EE-472C-9E2C-184A411F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38825"/>
            <a:ext cx="1078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真正需要建设的不是“能打分的模型”，而是“能根据任务校准、识别分歧并给出证据的评估机制”。</a:t>
            </a:r>
          </a:p>
        </p:txBody>
      </p:sp>
      <p:sp>
        <p:nvSpPr>
          <p:cNvPr id="19" name="source-650-0.23211381938726783">
            <a:extLst xmlns:a="http://schemas.openxmlformats.org/drawingml/2006/main">
              <a:ext uri="{FF2B5EF4-FFF2-40B4-BE49-F238E27FC236}">
                <a16:creationId xmlns:a16="http://schemas.microsoft.com/office/drawing/2014/main" id="{CB4F7130-3E5F-4F19-A178-AC88BE156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191250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 i="1">
                <a:solidFill>
                  <a:srgbClr val="7B8794"/>
                </a:solidFill>
                <a:latin typeface="Cambria"/>
                <a:ea typeface="Cambria"/>
                <a:cs typeface="Cambria"/>
              </a:defRPr>
            </a:pPr>
            <a:r>
              <a:rPr sz="825" b="0" i="1">
                <a:solidFill>
                  <a:srgbClr val="7B8794"/>
                </a:solidFill>
                <a:latin typeface="Cambria"/>
                <a:ea typeface="Cambria"/>
                <a:cs typeface="Cambria"/>
              </a:rPr>
              <a:t>数据与图源：Multimodal RewardBench 2（CVPR 2026）；Calibrating MLLM-as-a-Judge（ICCV 2025）</a:t>
            </a:r>
          </a:p>
        </p:txBody>
      </p:sp>
    </p:spTree>
    <p:extLst>
      <p:ext uri="{BB962C8B-B14F-4D97-AF65-F5344CB8AC3E}">
        <p14:creationId xmlns:p14="http://schemas.microsoft.com/office/powerpoint/2010/main" val="13941945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cent-6">
            <a:extLst xmlns:a="http://schemas.openxmlformats.org/drawingml/2006/main">
              <a:ext uri="{FF2B5EF4-FFF2-40B4-BE49-F238E27FC236}">
                <a16:creationId xmlns:a16="http://schemas.microsoft.com/office/drawing/2014/main" id="{909E4D01-ABD9-4B04-8397-EC7C09FE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762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D6749101-A04D-4CC3-84F9-7BFF4CE7D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项目将在现有质检能力之上增加可复用的任务自适应评估层</a:t>
            </a:r>
          </a:p>
        </p:txBody>
      </p:sp>
      <p:sp>
        <p:nvSpPr>
          <p:cNvPr id="3" name="page-6">
            <a:extLst xmlns:a="http://schemas.openxmlformats.org/drawingml/2006/main">
              <a:ext uri="{FF2B5EF4-FFF2-40B4-BE49-F238E27FC236}">
                <a16:creationId xmlns:a16="http://schemas.microsoft.com/office/drawing/2014/main" id="{35778D7C-9000-4F51-A824-B7440AF3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0080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4" name="auto-text-33">
            <a:extLst xmlns:a="http://schemas.openxmlformats.org/drawingml/2006/main">
              <a:ext uri="{FF2B5EF4-FFF2-40B4-BE49-F238E27FC236}">
                <a16:creationId xmlns:a16="http://schemas.microsoft.com/office/drawing/2014/main" id="{A4AE0745-C467-4D02-9FA2-8532AF9FF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906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不重建生产平台，而是利用少量专家样本，对已有规则、Prompt和VLM Judge进行后验校准。</a:t>
            </a:r>
          </a:p>
        </p:txBody>
      </p:sp>
      <p:sp>
        <p:nvSpPr>
          <p:cNvPr id="5" name="input-node">
            <a:extLst xmlns:a="http://schemas.openxmlformats.org/drawingml/2006/main">
              <a:ext uri="{FF2B5EF4-FFF2-40B4-BE49-F238E27FC236}">
                <a16:creationId xmlns:a16="http://schemas.microsoft.com/office/drawing/2014/main" id="{26864CB3-0A83-47C6-A691-4CC796607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2952750" cy="327660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" name="auto-text-34">
            <a:extLst xmlns:a="http://schemas.openxmlformats.org/drawingml/2006/main">
              <a:ext uri="{FF2B5EF4-FFF2-40B4-BE49-F238E27FC236}">
                <a16:creationId xmlns:a16="http://schemas.microsoft.com/office/drawing/2014/main" id="{6959B036-10B9-4D36-B8C5-8AAB97E1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7" name="auto-text-35">
            <a:extLst xmlns:a="http://schemas.openxmlformats.org/drawingml/2006/main">
              <a:ext uri="{FF2B5EF4-FFF2-40B4-BE49-F238E27FC236}">
                <a16:creationId xmlns:a16="http://schemas.microsoft.com/office/drawing/2014/main" id="{1C041F79-C70F-433F-BC8F-D3AA709C1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19350"/>
            <a:ext cx="2381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任务描述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少量人工标注／专家偏好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已有规则、Prompt和评估器输出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业务关注的质量维度</a:t>
            </a:r>
          </a:p>
        </p:txBody>
      </p:sp>
      <p:sp>
        <p:nvSpPr>
          <p:cNvPr id="8" name="auto-text-36">
            <a:extLst xmlns:a="http://schemas.openxmlformats.org/drawingml/2006/main">
              <a:ext uri="{FF2B5EF4-FFF2-40B4-BE49-F238E27FC236}">
                <a16:creationId xmlns:a16="http://schemas.microsoft.com/office/drawing/2014/main" id="{029DFD7F-9525-4E2B-9D90-C99CB4E9A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9718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00" b="1" i="0">
                <a:solidFill>
                  <a:srgbClr val="9BB3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 i="0">
                <a:solidFill>
                  <a:srgbClr val="9BB3E9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calibration-node">
            <a:extLst xmlns:a="http://schemas.openxmlformats.org/drawingml/2006/main">
              <a:ext uri="{FF2B5EF4-FFF2-40B4-BE49-F238E27FC236}">
                <a16:creationId xmlns:a16="http://schemas.microsoft.com/office/drawing/2014/main" id="{701F1F2D-B42E-4DD3-904E-DD7BDFF5D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810000" cy="3657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B7C8F5"/>
            </a:solidFill>
            <a:prstDash val="solid"/>
          </a:ln>
        </p:spPr>
      </p:sp>
      <p:sp>
        <p:nvSpPr>
          <p:cNvPr id="10" name="auto-text-37">
            <a:extLst xmlns:a="http://schemas.openxmlformats.org/drawingml/2006/main">
              <a:ext uri="{FF2B5EF4-FFF2-40B4-BE49-F238E27FC236}">
                <a16:creationId xmlns:a16="http://schemas.microsoft.com/office/drawing/2014/main" id="{412BD883-FFFE-4B5A-B79F-A2303E6C3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809750"/>
            <a:ext cx="3219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任务自适应质量评估层</a:t>
            </a:r>
          </a:p>
        </p:txBody>
      </p:sp>
      <p:sp>
        <p:nvSpPr>
          <p:cNvPr id="11" name="auto-text-38">
            <a:extLst xmlns:a="http://schemas.openxmlformats.org/drawingml/2006/main">
              <a:ext uri="{FF2B5EF4-FFF2-40B4-BE49-F238E27FC236}">
                <a16:creationId xmlns:a16="http://schemas.microsoft.com/office/drawing/2014/main" id="{44C239D0-9632-4718-A982-36FDD7521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38400"/>
            <a:ext cx="3143250" cy="215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01  任务偏好与质量维度建模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02  分数／权重／阈值与置信度校准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03  多视角邻域共识与分歧检测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04  对象、属性、数量、空间关系等证据核验</a:t>
            </a:r>
          </a:p>
        </p:txBody>
      </p:sp>
      <p:sp>
        <p:nvSpPr>
          <p:cNvPr id="12" name="auto-text-39">
            <a:extLst xmlns:a="http://schemas.openxmlformats.org/drawingml/2006/main">
              <a:ext uri="{FF2B5EF4-FFF2-40B4-BE49-F238E27FC236}">
                <a16:creationId xmlns:a16="http://schemas.microsoft.com/office/drawing/2014/main" id="{4D4377D3-4E6A-40EA-BB31-CA62A0CA5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718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00" b="1" i="0">
                <a:solidFill>
                  <a:srgbClr val="86C9C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 i="0">
                <a:solidFill>
                  <a:srgbClr val="86C9C2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output-node">
            <a:extLst xmlns:a="http://schemas.openxmlformats.org/drawingml/2006/main">
              <a:ext uri="{FF2B5EF4-FFF2-40B4-BE49-F238E27FC236}">
                <a16:creationId xmlns:a16="http://schemas.microsoft.com/office/drawing/2014/main" id="{450AE108-F70F-4DB2-A090-5894346C7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695450"/>
            <a:ext cx="2952750" cy="327660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E7F6F3"/>
          </a:solidFill>
          <a:ln xmlns:a="http://schemas.openxmlformats.org/drawingml/2006/main" w="9525">
            <a:solidFill>
              <a:srgbClr val="B6DDD8"/>
            </a:solidFill>
            <a:prstDash val="solid"/>
          </a:ln>
        </p:spPr>
      </p:sp>
      <p:sp>
        <p:nvSpPr>
          <p:cNvPr id="14" name="auto-text-40">
            <a:extLst xmlns:a="http://schemas.openxmlformats.org/drawingml/2006/main">
              <a:ext uri="{FF2B5EF4-FFF2-40B4-BE49-F238E27FC236}">
                <a16:creationId xmlns:a16="http://schemas.microsoft.com/office/drawing/2014/main" id="{785F55D4-7FB3-4F86-868D-A0F2FCE9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92405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15" name="auto-text-41">
            <a:extLst xmlns:a="http://schemas.openxmlformats.org/drawingml/2006/main">
              <a:ext uri="{FF2B5EF4-FFF2-40B4-BE49-F238E27FC236}">
                <a16:creationId xmlns:a16="http://schemas.microsoft.com/office/drawing/2014/main" id="{427D202C-E90F-4B0B-872B-C30E9072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19350"/>
            <a:ext cx="2381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任务适配后的质量分数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高／低质量筛选结论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问题标签与证据摘要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置信度与人工复核建议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可复用接口与评测脚本</a:t>
            </a:r>
          </a:p>
        </p:txBody>
      </p:sp>
      <p:sp>
        <p:nvSpPr>
          <p:cNvPr id="16" name="scenario-band">
            <a:extLst xmlns:a="http://schemas.openxmlformats.org/drawingml/2006/main">
              <a:ext uri="{FF2B5EF4-FFF2-40B4-BE49-F238E27FC236}">
                <a16:creationId xmlns:a16="http://schemas.microsoft.com/office/drawing/2014/main" id="{DEA4D5B2-78D1-47A8-812F-6D162FED2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0"/>
            <a:ext cx="7810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17" name="auto-text-42">
            <a:extLst xmlns:a="http://schemas.openxmlformats.org/drawingml/2006/main">
              <a:ext uri="{FF2B5EF4-FFF2-40B4-BE49-F238E27FC236}">
                <a16:creationId xmlns:a16="http://schemas.microsoft.com/office/drawing/2014/main" id="{8B07032B-A038-4575-809B-D35E491A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91175"/>
            <a:ext cx="7391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首批建议验证：多图编辑＋AIGC图库　｜　后续泛化：盲超分＋颜色标注</a:t>
            </a:r>
          </a:p>
        </p:txBody>
      </p:sp>
      <p:sp>
        <p:nvSpPr>
          <p:cNvPr id="18" name="current-pipeline-frame">
            <a:extLst xmlns:a="http://schemas.openxmlformats.org/drawingml/2006/main">
              <a:ext uri="{FF2B5EF4-FFF2-40B4-BE49-F238E27FC236}">
                <a16:creationId xmlns:a16="http://schemas.microsoft.com/office/drawing/2014/main" id="{AC72DA3E-2C45-4F83-9192-9D8AA8FC3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429250"/>
            <a:ext cx="31051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AAB5C0"/>
            </a:solidFill>
            <a:prstDash val="solid"/>
          </a:ln>
        </p:spPr>
      </p:sp>
      <p:sp>
        <p:nvSpPr>
          <p:cNvPr id="19" name="current-pipeline-label">
            <a:extLst xmlns:a="http://schemas.openxmlformats.org/drawingml/2006/main">
              <a:ext uri="{FF2B5EF4-FFF2-40B4-BE49-F238E27FC236}">
                <a16:creationId xmlns:a16="http://schemas.microsoft.com/office/drawing/2014/main" id="{8A836FAC-A0F0-40E9-B367-298947DD4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486400"/>
            <a:ext cx="2800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rPr>
              <a:t>可选｜现有质检Pipeline截图</a:t>
            </a:r>
          </a:p>
        </p:txBody>
      </p:sp>
      <p:sp>
        <p:nvSpPr>
          <p:cNvPr id="20" name="current-pipeline-sub">
            <a:extLst xmlns:a="http://schemas.openxmlformats.org/drawingml/2006/main">
              <a:ext uri="{FF2B5EF4-FFF2-40B4-BE49-F238E27FC236}">
                <a16:creationId xmlns:a16="http://schemas.microsoft.com/office/drawing/2014/main" id="{C6DE9030-DA76-4B5A-AF27-E72065C33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791200"/>
            <a:ext cx="2800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如无材料可删除此框</a:t>
            </a:r>
          </a:p>
        </p:txBody>
      </p:sp>
      <p:sp>
        <p:nvSpPr>
          <p:cNvPr id="21" name="auto-text-43">
            <a:extLst xmlns:a="http://schemas.openxmlformats.org/drawingml/2006/main">
              <a:ext uri="{FF2B5EF4-FFF2-40B4-BE49-F238E27FC236}">
                <a16:creationId xmlns:a16="http://schemas.microsoft.com/office/drawing/2014/main" id="{ED56648D-FF3B-4036-A8E3-803CA5E24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912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合作边界：高校交付核心算法原型与评测方法；公司提供业务数据、专家反馈，并负责后续平台集成。</a:t>
            </a:r>
          </a:p>
        </p:txBody>
      </p:sp>
    </p:spTree>
    <p:extLst>
      <p:ext uri="{BB962C8B-B14F-4D97-AF65-F5344CB8AC3E}">
        <p14:creationId xmlns:p14="http://schemas.microsoft.com/office/powerpoint/2010/main" val="153028893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accent-7">
            <a:extLst xmlns:a="http://schemas.openxmlformats.org/drawingml/2006/main">
              <a:ext uri="{FF2B5EF4-FFF2-40B4-BE49-F238E27FC236}">
                <a16:creationId xmlns:a16="http://schemas.microsoft.com/office/drawing/2014/main" id="{370DD843-DED4-4341-A359-5ED3095D1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762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EE03C538-9C74-4CA0-9ACA-5C68F9729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合作项目将把临时质检方案沉淀为可复用、可验证的质量能力</a:t>
            </a:r>
          </a:p>
        </p:txBody>
      </p:sp>
      <p:sp>
        <p:nvSpPr>
          <p:cNvPr id="3" name="page-7">
            <a:extLst xmlns:a="http://schemas.openxmlformats.org/drawingml/2006/main">
              <a:ext uri="{FF2B5EF4-FFF2-40B4-BE49-F238E27FC236}">
                <a16:creationId xmlns:a16="http://schemas.microsoft.com/office/drawing/2014/main" id="{2404C339-3546-4A76-B73B-FF84BE61F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0080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4" name="auto-text-44">
            <a:extLst xmlns:a="http://schemas.openxmlformats.org/drawingml/2006/main">
              <a:ext uri="{FF2B5EF4-FFF2-40B4-BE49-F238E27FC236}">
                <a16:creationId xmlns:a16="http://schemas.microsoft.com/office/drawing/2014/main" id="{6F4B1A53-6661-41F9-952B-86066EB3E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906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项目价值不仅是提高一次筛选准确率，更重要的是形成可服务多个图像项目的共同能力。</a:t>
            </a:r>
          </a:p>
        </p:txBody>
      </p:sp>
      <p:sp>
        <p:nvSpPr>
          <p:cNvPr id="5" name="value-0">
            <a:extLst xmlns:a="http://schemas.openxmlformats.org/drawingml/2006/main">
              <a:ext uri="{FF2B5EF4-FFF2-40B4-BE49-F238E27FC236}">
                <a16:creationId xmlns:a16="http://schemas.microsoft.com/office/drawing/2014/main" id="{5A45D8BB-B101-4BB8-80B2-D74324149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331470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EAF0FF"/>
            </a:solidFill>
            <a:prstDash val="solid"/>
          </a:ln>
        </p:spPr>
      </p:sp>
      <p:sp>
        <p:nvSpPr>
          <p:cNvPr id="6" name="value-title-0">
            <a:extLst xmlns:a="http://schemas.openxmlformats.org/drawingml/2006/main">
              <a:ext uri="{FF2B5EF4-FFF2-40B4-BE49-F238E27FC236}">
                <a16:creationId xmlns:a16="http://schemas.microsoft.com/office/drawing/2014/main" id="{73CC0331-F9DE-41FA-9F86-9AF919AB7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业务价值</a:t>
            </a:r>
          </a:p>
        </p:txBody>
      </p:sp>
      <p:sp>
        <p:nvSpPr>
          <p:cNvPr id="7" name="value-body-0">
            <a:extLst xmlns:a="http://schemas.openxmlformats.org/drawingml/2006/main">
              <a:ext uri="{FF2B5EF4-FFF2-40B4-BE49-F238E27FC236}">
                <a16:creationId xmlns:a16="http://schemas.microsoft.com/office/drawing/2014/main" id="{BE374A20-2D8C-4C81-89FE-588FFF624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8600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减少重复设计和搭建质检流程</a:t>
            </a:r>
          </a:p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将人工集中到困难和高风险样本</a:t>
            </a:r>
          </a:p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缩短新任务质量标准落地周期</a:t>
            </a:r>
          </a:p>
        </p:txBody>
      </p:sp>
      <p:sp>
        <p:nvSpPr>
          <p:cNvPr id="8" name="value-1">
            <a:extLst xmlns:a="http://schemas.openxmlformats.org/drawingml/2006/main">
              <a:ext uri="{FF2B5EF4-FFF2-40B4-BE49-F238E27FC236}">
                <a16:creationId xmlns:a16="http://schemas.microsoft.com/office/drawing/2014/main" id="{D8C9B661-AD8D-48CB-9FB6-1EDB350FA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81150"/>
            <a:ext cx="331470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7F6F3"/>
          </a:solidFill>
          <a:ln xmlns:a="http://schemas.openxmlformats.org/drawingml/2006/main" w="9525">
            <a:solidFill>
              <a:srgbClr val="E7F6F3"/>
            </a:solidFill>
            <a:prstDash val="solid"/>
          </a:ln>
        </p:spPr>
      </p:sp>
      <p:sp>
        <p:nvSpPr>
          <p:cNvPr id="9" name="value-title-1">
            <a:extLst xmlns:a="http://schemas.openxmlformats.org/drawingml/2006/main">
              <a:ext uri="{FF2B5EF4-FFF2-40B4-BE49-F238E27FC236}">
                <a16:creationId xmlns:a16="http://schemas.microsoft.com/office/drawing/2014/main" id="{402809ED-43F2-4E33-97A5-75924C35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097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技术价值</a:t>
            </a:r>
          </a:p>
        </p:txBody>
      </p:sp>
      <p:sp>
        <p:nvSpPr>
          <p:cNvPr id="10" name="value-body-1">
            <a:extLst xmlns:a="http://schemas.openxmlformats.org/drawingml/2006/main">
              <a:ext uri="{FF2B5EF4-FFF2-40B4-BE49-F238E27FC236}">
                <a16:creationId xmlns:a16="http://schemas.microsoft.com/office/drawing/2014/main" id="{44FA4840-E6B6-4B48-99AC-B4F72B4F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8600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建立系统化Rubric和验证协议</a:t>
            </a:r>
          </a:p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让Prompt、权重和阈值可实验比较</a:t>
            </a:r>
          </a:p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输出分数、证据、置信度与复核建议</a:t>
            </a:r>
          </a:p>
        </p:txBody>
      </p:sp>
      <p:sp>
        <p:nvSpPr>
          <p:cNvPr id="11" name="value-2">
            <a:extLst xmlns:a="http://schemas.openxmlformats.org/drawingml/2006/main">
              <a:ext uri="{FF2B5EF4-FFF2-40B4-BE49-F238E27FC236}">
                <a16:creationId xmlns:a16="http://schemas.microsoft.com/office/drawing/2014/main" id="{CCF1A12F-FC35-4FD3-851C-1EA57375B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581150"/>
            <a:ext cx="331470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FFF5DE"/>
          </a:solidFill>
          <a:ln xmlns:a="http://schemas.openxmlformats.org/drawingml/2006/main" w="9525">
            <a:solidFill>
              <a:srgbClr val="FFF5DE"/>
            </a:solidFill>
            <a:prstDash val="solid"/>
          </a:ln>
        </p:spPr>
      </p:sp>
      <p:sp>
        <p:nvSpPr>
          <p:cNvPr id="12" name="value-title-2">
            <a:extLst xmlns:a="http://schemas.openxmlformats.org/drawingml/2006/main">
              <a:ext uri="{FF2B5EF4-FFF2-40B4-BE49-F238E27FC236}">
                <a16:creationId xmlns:a16="http://schemas.microsoft.com/office/drawing/2014/main" id="{E4B085E3-4356-4C6C-8B63-F3343C883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097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C88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C88919"/>
                </a:solidFill>
                <a:latin typeface="Microsoft YaHei"/>
                <a:ea typeface="Microsoft YaHei"/>
                <a:cs typeface="Microsoft YaHei"/>
              </a:rPr>
              <a:t>长期资产</a:t>
            </a:r>
          </a:p>
        </p:txBody>
      </p:sp>
      <p:sp>
        <p:nvSpPr>
          <p:cNvPr id="13" name="value-body-2">
            <a:extLst xmlns:a="http://schemas.openxmlformats.org/drawingml/2006/main">
              <a:ext uri="{FF2B5EF4-FFF2-40B4-BE49-F238E27FC236}">
                <a16:creationId xmlns:a16="http://schemas.microsoft.com/office/drawing/2014/main" id="{E9BC181E-32F1-4243-934E-F0D571016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28600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沉淀跨项目可复用Pipeline</a:t>
            </a:r>
          </a:p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积累验证集、失败案例和专家偏好</a:t>
            </a:r>
          </a:p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形成接口、论文和专利成果</a:t>
            </a:r>
          </a:p>
        </p:txBody>
      </p:sp>
      <p:sp>
        <p:nvSpPr>
          <p:cNvPr id="14" name="auto-text-45">
            <a:extLst xmlns:a="http://schemas.openxmlformats.org/drawingml/2006/main">
              <a:ext uri="{FF2B5EF4-FFF2-40B4-BE49-F238E27FC236}">
                <a16:creationId xmlns:a16="http://schemas.microsoft.com/office/drawing/2014/main" id="{CE0C7D5B-093E-4DBA-B640-3CACE5130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SOW项目目标（非现有成果）</a:t>
            </a:r>
          </a:p>
        </p:txBody>
      </p:sp>
      <p:sp>
        <p:nvSpPr>
          <p:cNvPr id="15" name="metric-0">
            <a:extLst xmlns:a="http://schemas.openxmlformats.org/drawingml/2006/main">
              <a:ext uri="{FF2B5EF4-FFF2-40B4-BE49-F238E27FC236}">
                <a16:creationId xmlns:a16="http://schemas.microsoft.com/office/drawing/2014/main" id="{6014A61A-B868-48D5-BE93-27C7553D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62450"/>
            <a:ext cx="20574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16" name="metric-stat-0">
            <a:extLst xmlns:a="http://schemas.openxmlformats.org/drawingml/2006/main">
              <a:ext uri="{FF2B5EF4-FFF2-40B4-BE49-F238E27FC236}">
                <a16:creationId xmlns:a16="http://schemas.microsoft.com/office/drawing/2014/main" id="{B1DAFDBD-4ADD-4910-B625-56E46A3BD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0"/>
            <a:ext cx="175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+10pp</a:t>
            </a:r>
          </a:p>
        </p:txBody>
      </p:sp>
      <p:sp>
        <p:nvSpPr>
          <p:cNvPr id="17" name="metric-label-0">
            <a:extLst xmlns:a="http://schemas.openxmlformats.org/drawingml/2006/main">
              <a:ext uri="{FF2B5EF4-FFF2-40B4-BE49-F238E27FC236}">
                <a16:creationId xmlns:a16="http://schemas.microsoft.com/office/drawing/2014/main" id="{74CE1E8B-1D33-46F1-AA05-33C071CA3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9585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人机一致率提升</a:t>
            </a:r>
          </a:p>
        </p:txBody>
      </p:sp>
      <p:sp>
        <p:nvSpPr>
          <p:cNvPr id="18" name="metric-1">
            <a:extLst xmlns:a="http://schemas.openxmlformats.org/drawingml/2006/main">
              <a:ext uri="{FF2B5EF4-FFF2-40B4-BE49-F238E27FC236}">
                <a16:creationId xmlns:a16="http://schemas.microsoft.com/office/drawing/2014/main" id="{15527CF8-A213-40DC-9428-D674C596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7010" y="4362450"/>
            <a:ext cx="20574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19" name="metric-stat-1">
            <a:extLst xmlns:a="http://schemas.openxmlformats.org/drawingml/2006/main">
              <a:ext uri="{FF2B5EF4-FFF2-40B4-BE49-F238E27FC236}">
                <a16:creationId xmlns:a16="http://schemas.microsoft.com/office/drawing/2014/main" id="{065EB09A-EA82-47CC-AE83-86569376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9410" y="4476750"/>
            <a:ext cx="175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≥85%</a:t>
            </a:r>
          </a:p>
        </p:txBody>
      </p:sp>
      <p:sp>
        <p:nvSpPr>
          <p:cNvPr id="20" name="metric-label-1">
            <a:extLst xmlns:a="http://schemas.openxmlformats.org/drawingml/2006/main">
              <a:ext uri="{FF2B5EF4-FFF2-40B4-BE49-F238E27FC236}">
                <a16:creationId xmlns:a16="http://schemas.microsoft.com/office/drawing/2014/main" id="{D388FE81-92C2-41B5-91F3-9D6D782B9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9410" y="489585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低质量召回</a:t>
            </a:r>
          </a:p>
        </p:txBody>
      </p:sp>
      <p:sp>
        <p:nvSpPr>
          <p:cNvPr id="21" name="metric-2">
            <a:extLst xmlns:a="http://schemas.openxmlformats.org/drawingml/2006/main">
              <a:ext uri="{FF2B5EF4-FFF2-40B4-BE49-F238E27FC236}">
                <a16:creationId xmlns:a16="http://schemas.microsoft.com/office/drawing/2014/main" id="{402B7488-D890-466B-B9DD-EA0B0D6F6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9670" y="4362450"/>
            <a:ext cx="20574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22" name="metric-stat-2">
            <a:extLst xmlns:a="http://schemas.openxmlformats.org/drawingml/2006/main">
              <a:ext uri="{FF2B5EF4-FFF2-40B4-BE49-F238E27FC236}">
                <a16:creationId xmlns:a16="http://schemas.microsoft.com/office/drawing/2014/main" id="{2016E897-B4B6-4517-868B-D82F8E81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2070" y="4476750"/>
            <a:ext cx="175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≥88%</a:t>
            </a:r>
          </a:p>
        </p:txBody>
      </p:sp>
      <p:sp>
        <p:nvSpPr>
          <p:cNvPr id="23" name="metric-label-2">
            <a:extLst xmlns:a="http://schemas.openxmlformats.org/drawingml/2006/main">
              <a:ext uri="{FF2B5EF4-FFF2-40B4-BE49-F238E27FC236}">
                <a16:creationId xmlns:a16="http://schemas.microsoft.com/office/drawing/2014/main" id="{E5E083F4-1643-4F24-94E0-64B23805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2070" y="489585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高置信优质准确率</a:t>
            </a:r>
          </a:p>
        </p:txBody>
      </p:sp>
      <p:sp>
        <p:nvSpPr>
          <p:cNvPr id="24" name="metric-3">
            <a:extLst xmlns:a="http://schemas.openxmlformats.org/drawingml/2006/main">
              <a:ext uri="{FF2B5EF4-FFF2-40B4-BE49-F238E27FC236}">
                <a16:creationId xmlns:a16="http://schemas.microsoft.com/office/drawing/2014/main" id="{EAB2C6D7-C743-49DE-8D2B-72FED6A32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2330" y="4362450"/>
            <a:ext cx="20574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25" name="metric-stat-3">
            <a:extLst xmlns:a="http://schemas.openxmlformats.org/drawingml/2006/main">
              <a:ext uri="{FF2B5EF4-FFF2-40B4-BE49-F238E27FC236}">
                <a16:creationId xmlns:a16="http://schemas.microsoft.com/office/drawing/2014/main" id="{19299C51-7D82-4F79-B9EB-EFF819488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476750"/>
            <a:ext cx="175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−30%</a:t>
            </a:r>
          </a:p>
        </p:txBody>
      </p:sp>
      <p:sp>
        <p:nvSpPr>
          <p:cNvPr id="26" name="metric-label-3">
            <a:extLst xmlns:a="http://schemas.openxmlformats.org/drawingml/2006/main">
              <a:ext uri="{FF2B5EF4-FFF2-40B4-BE49-F238E27FC236}">
                <a16:creationId xmlns:a16="http://schemas.microsoft.com/office/drawing/2014/main" id="{B5470FA0-6398-4376-AD15-F8145E269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89585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平均评估成本</a:t>
            </a:r>
          </a:p>
        </p:txBody>
      </p:sp>
      <p:sp>
        <p:nvSpPr>
          <p:cNvPr id="27" name="metric-4">
            <a:extLst xmlns:a="http://schemas.openxmlformats.org/drawingml/2006/main">
              <a:ext uri="{FF2B5EF4-FFF2-40B4-BE49-F238E27FC236}">
                <a16:creationId xmlns:a16="http://schemas.microsoft.com/office/drawing/2014/main" id="{0F365740-83C1-4F50-A176-C8D0C21AB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4990" y="4362450"/>
            <a:ext cx="20574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28" name="metric-stat-4">
            <a:extLst xmlns:a="http://schemas.openxmlformats.org/drawingml/2006/main">
              <a:ext uri="{FF2B5EF4-FFF2-40B4-BE49-F238E27FC236}">
                <a16:creationId xmlns:a16="http://schemas.microsoft.com/office/drawing/2014/main" id="{5C68CC8A-32C6-4D40-842E-EB4DCD61C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7390" y="4476750"/>
            <a:ext cx="175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−35%</a:t>
            </a:r>
          </a:p>
        </p:txBody>
      </p:sp>
      <p:sp>
        <p:nvSpPr>
          <p:cNvPr id="29" name="metric-label-4">
            <a:extLst xmlns:a="http://schemas.openxmlformats.org/drawingml/2006/main">
              <a:ext uri="{FF2B5EF4-FFF2-40B4-BE49-F238E27FC236}">
                <a16:creationId xmlns:a16="http://schemas.microsoft.com/office/drawing/2014/main" id="{015AECFD-1D85-4877-847E-19122FC10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7390" y="489585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人工复核量</a:t>
            </a:r>
          </a:p>
        </p:txBody>
      </p:sp>
      <p:sp>
        <p:nvSpPr>
          <p:cNvPr id="30" name="auto-text-46">
            <a:extLst xmlns:a="http://schemas.openxmlformats.org/drawingml/2006/main">
              <a:ext uri="{FF2B5EF4-FFF2-40B4-BE49-F238E27FC236}">
                <a16:creationId xmlns:a16="http://schemas.microsoft.com/office/drawing/2014/main" id="{03198D85-53B3-4AFC-8878-2EAE68654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67350"/>
            <a:ext cx="11163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 i="1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1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内部基线待补充：单样本成本／人工复核比例／新项目质检管线搭建周期</a:t>
            </a:r>
          </a:p>
        </p:txBody>
      </p:sp>
      <p:sp>
        <p:nvSpPr>
          <p:cNvPr id="31" name="approval-band">
            <a:extLst xmlns:a="http://schemas.openxmlformats.org/drawingml/2006/main">
              <a:ext uri="{FF2B5EF4-FFF2-40B4-BE49-F238E27FC236}">
                <a16:creationId xmlns:a16="http://schemas.microsoft.com/office/drawing/2014/main" id="{A1E7BC61-408D-4D58-8FB5-C7DF8A8FD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810250"/>
            <a:ext cx="11163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2263A"/>
          </a:solidFill>
          <a:ln xmlns:a="http://schemas.openxmlformats.org/drawingml/2006/main" w="9525">
            <a:solidFill>
              <a:srgbClr val="12263A"/>
            </a:solidFill>
            <a:prstDash val="solid"/>
          </a:ln>
        </p:spPr>
      </p:sp>
      <p:sp>
        <p:nvSpPr>
          <p:cNvPr id="32" name="auto-text-47">
            <a:extLst xmlns:a="http://schemas.openxmlformats.org/drawingml/2006/main">
              <a:ext uri="{FF2B5EF4-FFF2-40B4-BE49-F238E27FC236}">
                <a16:creationId xmlns:a16="http://schemas.microsoft.com/office/drawing/2014/main" id="{CE5E424F-CCBB-4374-8B34-CBCE38E2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24550"/>
            <a:ext cx="10706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建议批准本次合作：以1–2个代表场景完成验证，并沉淀可服务多个项目的任务自适应质量评估能力。</a:t>
            </a:r>
          </a:p>
        </p:txBody>
      </p:sp>
    </p:spTree>
    <p:extLst>
      <p:ext uri="{BB962C8B-B14F-4D97-AF65-F5344CB8AC3E}">
        <p14:creationId xmlns:p14="http://schemas.microsoft.com/office/powerpoint/2010/main" val="15989919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2026-08-05T08:59:07.8040000Z</dcterms:created>
  <dcterms:modified xsi:type="dcterms:W3CDTF">2026-08-05T08:59:07.8050000Z</dcterms:modified>
</coreProperties>
</file>