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94cdd88844730" /><Relationship Type="http://schemas.openxmlformats.org/officeDocument/2006/relationships/extended-properties" Target="/docProps/app.xml" Id="Rc8b4c8b5800c41e4" /><Relationship Type="http://schemas.openxmlformats.org/officeDocument/2006/relationships/officeDocument" Target="/ppt/presentation.xml" Id="Rbbe73cae8df3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4a1a6b2c134960"/>
  </p:sldMasterIdLst>
  <p:notesMasterIdLst>
    <p:notesMasterId xmlns:r="http://schemas.openxmlformats.org/officeDocument/2006/relationships" r:id="R3698059dc16441f1"/>
  </p:notesMasterIdLst>
  <p:sldIdLst>
    <p:sldId xmlns:r="http://schemas.openxmlformats.org/officeDocument/2006/relationships" id="256" r:id="Rec0f1cbd9c96496a"/>
    <p:sldId xmlns:r="http://schemas.openxmlformats.org/officeDocument/2006/relationships" id="257" r:id="R2a3ae824e8e24876"/>
    <p:sldId xmlns:r="http://schemas.openxmlformats.org/officeDocument/2006/relationships" id="258" r:id="Re6711470b6ac4635"/>
    <p:sldId xmlns:r="http://schemas.openxmlformats.org/officeDocument/2006/relationships" id="259" r:id="R2751b44976ef470e"/>
    <p:sldId xmlns:r="http://schemas.openxmlformats.org/officeDocument/2006/relationships" id="260" r:id="R598945dc14a340e3"/>
    <p:sldId xmlns:r="http://schemas.openxmlformats.org/officeDocument/2006/relationships" id="261" r:id="R68f9a0e28cde40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80bc81c5c40e6" /><Relationship Type="http://schemas.openxmlformats.org/officeDocument/2006/relationships/slideMaster" Target="/ppt/slideMasters/slideMaster1.xml" Id="Rd34a1a6b2c134960" /><Relationship Type="http://schemas.openxmlformats.org/officeDocument/2006/relationships/notesMaster" Target="/ppt/notesMasters/notesMaster1.xml" Id="R3698059dc16441f1" /><Relationship Type="http://schemas.openxmlformats.org/officeDocument/2006/relationships/presProps" Target="/ppt/presProps.xml" Id="Rabac92ff02d04f02" /><Relationship Type="http://schemas.openxmlformats.org/officeDocument/2006/relationships/tableStyles" Target="/ppt/tableStyles.xml" Id="Re145ce7c854a4736" /><Relationship Type="http://schemas.openxmlformats.org/officeDocument/2006/relationships/slide" Target="/ppt/slides/slide1.xml" Id="Rec0f1cbd9c96496a" /><Relationship Type="http://schemas.openxmlformats.org/officeDocument/2006/relationships/slide" Target="/ppt/slides/slide2.xml" Id="R2a3ae824e8e24876" /><Relationship Type="http://schemas.openxmlformats.org/officeDocument/2006/relationships/slide" Target="/ppt/slides/slide3.xml" Id="Re6711470b6ac4635" /><Relationship Type="http://schemas.openxmlformats.org/officeDocument/2006/relationships/slide" Target="/ppt/slides/slide4.xml" Id="R2751b44976ef470e" /><Relationship Type="http://schemas.openxmlformats.org/officeDocument/2006/relationships/slide" Target="/ppt/slides/slide5.xml" Id="R598945dc14a340e3" /><Relationship Type="http://schemas.openxmlformats.org/officeDocument/2006/relationships/slide" Target="/ppt/slides/slide6.xml" Id="R68f9a0e28cde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36b52c694c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42c124cdc84e11" /><Relationship Type="http://schemas.openxmlformats.org/officeDocument/2006/relationships/notesMaster" Target="/ppt/notesMasters/notesMaster1.xml" Id="Re85270bcef43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3004e9b634eb1" /><Relationship Type="http://schemas.openxmlformats.org/officeDocument/2006/relationships/notesMaster" Target="/ppt/notesMasters/notesMaster1.xml" Id="R269a45bdd16341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ce4a75ff124f98" /><Relationship Type="http://schemas.openxmlformats.org/officeDocument/2006/relationships/notesMaster" Target="/ppt/notesMasters/notesMaster1.xml" Id="Ra969b87199f940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cd6c11cb304ac4" /><Relationship Type="http://schemas.openxmlformats.org/officeDocument/2006/relationships/notesMaster" Target="/ppt/notesMasters/notesMaster1.xml" Id="R54f5811efb2343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3075978db742ee" /><Relationship Type="http://schemas.openxmlformats.org/officeDocument/2006/relationships/notesMaster" Target="/ppt/notesMasters/notesMaster1.xml" Id="R9dc6ead3e47044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c7678266eb49bd" /><Relationship Type="http://schemas.openxmlformats.org/officeDocument/2006/relationships/notesMaster" Target="/ppt/notesMasters/notesMaster1.xml" Id="R6b431076d83942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当前已有多图编辑、盲超分、颜色标注和AIGC图库等多个图像项目。这里用多图编辑和图库两个代表场景说明：多图编辑关注参考内容是否正确迁移、人物是否保持、非目标区域是否被破坏；图库关注异常、美学和构图。它们是首批图像试点，但最新版SOW的能力范围进一步面向文本、图片、视频及跨模态组合。由此可见，数据质量不是一套固定分数，而是与任务、模态和使用目标直接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方式能够解决眼前问题，但每次都从讨论标准、编写Prompt、人工抽检开始。最大问题不是某一个Prompt写得不好，而是缺少统一的任务定义、质量维度、能力匹配、执行规范和校准方法。新增视频或其他模态后，这种重复建设会进一步放大。右侧预留了内部Prompt和评估分歧案例，后续替换后可以直观说明现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将学术趋势对齐最新版SOW。第一条路线是后验校准：已有评分器会有偏差，但可以利用少量验证样本修正分数、权重、阈值与置信度。第二条路线是邻域共识：对于细粒度或长尾偏好，不依赖一次Prompt，而是围绕目标偏好生成相邻配置，再聚合或保守选择。第三条路线进一步包含证据核验、选择性自动化和数据飞轮：模型结论回到对象、属性、区域、OCR、视频关键帧等证据上核验，再根据置信度进入自动通过、自动拒绝或人工复核，最终通过下游训练收益验证筛选策略。VLM Judge位于这些方法的底层，不是项目的全部。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Improving Data Efficiency via Curating LLM-Driven Rating Systems, ICLR 2025: https://proceedings.iclr.cc/paper_files/paper/2025/hash/faa6144674bce872365874c576b4f56f-Abstract-Conference.html</a:t>
            </a:r>
          </a:p>
          <a:p xmlns:a="http://schemas.openxmlformats.org/drawingml/2006/main">
            <a:r>
              <a:t>- Robust Preference Alignment via Directional Neighborhood Consensus, ICLR 2026: https://iclr.cc/virtual/2026/poster/10007833</a:t>
            </a:r>
          </a:p>
          <a:p xmlns:a="http://schemas.openxmlformats.org/drawingml/2006/main">
            <a:r>
              <a:t>- Trust but Verify: Programmatic VLM Evaluation in the Wild, ICCV 2025: https://openaccess.thecvf.com/content/ICCV2025/html/Prabhu_Trust_but_Verify_Programmatic_VLM_Evaluation_in_the_Wild_ICCV_2025_paper.html</a:t>
            </a:r>
          </a:p>
          <a:p xmlns:a="http://schemas.openxmlformats.org/drawingml/2006/main">
            <a:r>
              <a:t>- Do Humans and Machines Have the Same Eyes?, AAAI 2025: https://arxiv.org/abs/2304.08733</a:t>
            </a:r>
          </a:p>
          <a:p xmlns:a="http://schemas.openxmlformats.org/drawingml/2006/main">
            <a:r>
              <a:t>- Calibrating MLLM-as-a-Judge via Multimodal Bayesian Prompt Ensembles, ICCV 2025: https://arxiv.org/abs/2509.08777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这一页不强调哪个公司排名第一，而是观察头部团队如何用量化结果验证评估闭环。OpenAI Images 2.0在3112次对抗生成中，提示层与图像层组合检出率达到96.1%，安全输出达到99.1%；Q-Judger与人类专家对18个模型的排序相关性达到0.92，并将18个模型拉开16.5分、分成5个档次；SeedEdit 3.0通过自动指标和人工评测共同验证，可用率达到56.1%，上一代为38.4%，图像一致性达到4.07分；HunyuanImage 3.0-Instruct在1000多个编辑案例、100多位专业评审的GSB测试中，对Qwen-Image-Edit-2511的用户偏好净胜率为34.71%，对Seedream-4.5为10.48%。这些指标分别衡量安全检出、Judge与人的一致性、编辑可用性和人工偏好，口径不同，不能直接横向排名；但共同说明，头部团队会把自动评估与人工校准结合，并用可复核数字验证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https://deploymentsafety.openai.com/chatgpt-images-2-0/automated-evaluations-and-adversarial-testing</a:t>
            </a:r>
          </a:p>
          <a:p xmlns:a="http://schemas.openxmlformats.org/drawingml/2006/main">
            <a:r>
              <a:t>- https://huggingface.co/datasets/Qwen/Qwen-Image-Bench</a:t>
            </a:r>
          </a:p>
          <a:p xmlns:a="http://schemas.openxmlformats.org/drawingml/2006/main">
            <a:r>
              <a:t>- https://seed.bytedance.com/en/blog/bytedance-released-image-editing-model-seededit-3-0-enhanced-image-consistency-and-usability-rate</a:t>
            </a:r>
          </a:p>
          <a:p xmlns:a="http://schemas.openxmlformats.org/drawingml/2006/main">
            <a:r>
              <a:t>- https://github.com/Tencent-Hunyuan/HunyuanImage-3.0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最新版SOW的核心增量是评估任务编译。左侧只需要输入任务描述、数据模态与用途、不超过20条冷启动样例以及业务红线；中间自动生成Task Specification、Rubric、证据需求图、能力计划、Agent配置、Evaluation DAG、结果Schema和三路路由规则，再通过能力注册、模型工具匹配、后验校准、邻域共识和图文视频证据仲裁执行评估；右侧根据冻结阈值进入自动通过、自动拒绝或人工复核，并将结果、证据和失败归因回流到V0、V1、V2数据飞轮。项目不是重建生产级平台，乙方负责原型、API、SDK、模型适配与联调，甲方负责生产级平台和运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版SOW将验收归纳为五项核心结果：新任务适配、基础评估效果、自动化分流、训练收益、交付与复现。页面中的数字是SOW目标，不是现有成绩。冷启动需要覆盖不少于3类开发阶段未见任务并合计不少于10个实例；业务试点Balanced Accuracy和低质量Recall宏平均均不低于82%；同一冻结阈值下自动处置Coverage不低于50%、Accuracy不低于90%、红线样本自动通过数为0；数据飞轮不少于2轮，关键实验至少3个随机种子且至少三分之二正向提升。建议以多图编辑和AIGC图库作为图像试点启动，同时尽快冻结视频任务、人工审核Baseline和数据飞轮主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54ba318b4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79df1d7e04fc8" /><Relationship Type="http://schemas.openxmlformats.org/officeDocument/2006/relationships/slideLayout" Target="/ppt/slideLayouts/slideLayout1.xml" Id="Rc81c9c6179cd40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1c9c6179cd40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9ee085a6b44a4" /><Relationship Type="http://schemas.openxmlformats.org/officeDocument/2006/relationships/notesSlide" Target="/ppt/notesSlides/notesSlide1.xml" Id="R0aed180b22a2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2086a44aa45f0" /><Relationship Type="http://schemas.openxmlformats.org/officeDocument/2006/relationships/notesSlide" Target="/ppt/notesSlides/notesSlide2.xml" Id="R174454da15554c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df6357add4aa4" /><Relationship Type="http://schemas.openxmlformats.org/officeDocument/2006/relationships/notesSlide" Target="/ppt/notesSlides/notesSlide3.xml" Id="Rfc9461393866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441f125044c13" /><Relationship Type="http://schemas.openxmlformats.org/officeDocument/2006/relationships/notesSlide" Target="/ppt/notesSlides/notesSlide4.xml" Id="R03d48662a1b94c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1b74a1b474589" /><Relationship Type="http://schemas.openxmlformats.org/officeDocument/2006/relationships/notesSlide" Target="/ppt/notesSlides/notesSlide5.xml" Id="R5687941afe61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2dd7ba1684469" /><Relationship Type="http://schemas.openxmlformats.org/officeDocument/2006/relationships/notesSlide" Target="/ppt/notesSlides/notesSlide6.xml" Id="R10d77ba41035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accent-1">
            <a:extLst xmlns:a="http://schemas.openxmlformats.org/drawingml/2006/main">
              <a:ext uri="{FF2B5EF4-FFF2-40B4-BE49-F238E27FC236}">
                <a16:creationId xmlns:a16="http://schemas.microsoft.com/office/drawing/2014/main" id="{BE280985-43A4-44A7-8389-856FD440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93D828BC-EE03-4AA7-8919-8E90BC0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不同任务对质量的要求不同，却依赖同一类底层评估能力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6F0008BE-7F72-4E70-8B36-0E875E1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uto-text-1">
            <a:extLst xmlns:a="http://schemas.openxmlformats.org/drawingml/2006/main">
              <a:ext uri="{FF2B5EF4-FFF2-40B4-BE49-F238E27FC236}">
                <a16:creationId xmlns:a16="http://schemas.microsoft.com/office/drawing/2014/main" id="{77A92504-13C0-41D4-B790-40B71CA8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以多图编辑和AIGC图库作为首批图像试点；合作能力面向文本、图片、视频及跨模态组合复用。</a:t>
            </a:r>
          </a:p>
        </p:txBody>
      </p:sp>
      <p:sp>
        <p:nvSpPr>
          <p:cNvPr id="5" name="auto-text-2">
            <a:extLst xmlns:a="http://schemas.openxmlformats.org/drawingml/2006/main">
              <a:ext uri="{FF2B5EF4-FFF2-40B4-BE49-F238E27FC236}">
                <a16:creationId xmlns:a16="http://schemas.microsoft.com/office/drawing/2014/main" id="{2C1C6715-BF46-4B45-8565-311D59E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多图编辑</a:t>
            </a:r>
          </a:p>
        </p:txBody>
      </p:sp>
      <p:sp>
        <p:nvSpPr>
          <p:cNvPr id="6" name="auto-text-3">
            <a:extLst xmlns:a="http://schemas.openxmlformats.org/drawingml/2006/main">
              <a:ext uri="{FF2B5EF4-FFF2-40B4-BE49-F238E27FC236}">
                <a16:creationId xmlns:a16="http://schemas.microsoft.com/office/drawing/2014/main" id="{E8130ADC-B1AD-4298-BEDB-5819699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AIGC图库</a:t>
            </a:r>
          </a:p>
        </p:txBody>
      </p:sp>
      <p:sp>
        <p:nvSpPr>
          <p:cNvPr id="7" name="edit-media-surface">
            <a:extLst xmlns:a="http://schemas.openxmlformats.org/drawingml/2006/main">
              <a:ext uri="{FF2B5EF4-FFF2-40B4-BE49-F238E27FC236}">
                <a16:creationId xmlns:a16="http://schemas.microsoft.com/office/drawing/2014/main" id="{291250CB-6F41-40D9-84E7-394EFC8C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4292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9C9F4"/>
            </a:solidFill>
            <a:prstDash val="solid"/>
          </a:ln>
        </p:spPr>
      </p:sp>
      <p:sp>
        <p:nvSpPr>
          <p:cNvPr id="8" name="edit-source-frame">
            <a:extLst xmlns:a="http://schemas.openxmlformats.org/drawingml/2006/main">
              <a:ext uri="{FF2B5EF4-FFF2-40B4-BE49-F238E27FC236}">
                <a16:creationId xmlns:a16="http://schemas.microsoft.com/office/drawing/2014/main" id="{999CB8DC-54DD-44D2-8D14-7D4A4C89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9" name="edit-source-label">
            <a:extLst xmlns:a="http://schemas.openxmlformats.org/drawingml/2006/main">
              <a:ext uri="{FF2B5EF4-FFF2-40B4-BE49-F238E27FC236}">
                <a16:creationId xmlns:a16="http://schemas.microsoft.com/office/drawing/2014/main" id="{376871A3-377B-4C92-BC99-3642CD28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10" name="edit-source-sub">
            <a:extLst xmlns:a="http://schemas.openxmlformats.org/drawingml/2006/main">
              <a:ext uri="{FF2B5EF4-FFF2-40B4-BE49-F238E27FC236}">
                <a16:creationId xmlns:a16="http://schemas.microsoft.com/office/drawing/2014/main" id="{718973C2-96AB-4802-AF19-C175854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1" name="edit-reference-frame">
            <a:extLst xmlns:a="http://schemas.openxmlformats.org/drawingml/2006/main">
              <a:ext uri="{FF2B5EF4-FFF2-40B4-BE49-F238E27FC236}">
                <a16:creationId xmlns:a16="http://schemas.microsoft.com/office/drawing/2014/main" id="{6EEE031E-ED10-431B-A67A-5526D0FB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2" name="edit-reference-label">
            <a:extLst xmlns:a="http://schemas.openxmlformats.org/drawingml/2006/main">
              <a:ext uri="{FF2B5EF4-FFF2-40B4-BE49-F238E27FC236}">
                <a16:creationId xmlns:a16="http://schemas.microsoft.com/office/drawing/2014/main" id="{E43E998F-9811-433E-B022-DD4C6157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参考图</a:t>
            </a:r>
          </a:p>
        </p:txBody>
      </p:sp>
      <p:sp>
        <p:nvSpPr>
          <p:cNvPr id="13" name="edit-reference-sub">
            <a:extLst xmlns:a="http://schemas.openxmlformats.org/drawingml/2006/main">
              <a:ext uri="{FF2B5EF4-FFF2-40B4-BE49-F238E27FC236}">
                <a16:creationId xmlns:a16="http://schemas.microsoft.com/office/drawing/2014/main" id="{64D3CE33-5EFA-4F5D-833A-5D8A231D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4" name="edit-output-frame">
            <a:extLst xmlns:a="http://schemas.openxmlformats.org/drawingml/2006/main">
              <a:ext uri="{FF2B5EF4-FFF2-40B4-BE49-F238E27FC236}">
                <a16:creationId xmlns:a16="http://schemas.microsoft.com/office/drawing/2014/main" id="{B95E6864-59A9-4D96-8FC8-5D28F3D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50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15" name="edit-output-label">
            <a:extLst xmlns:a="http://schemas.openxmlformats.org/drawingml/2006/main">
              <a:ext uri="{FF2B5EF4-FFF2-40B4-BE49-F238E27FC236}">
                <a16:creationId xmlns:a16="http://schemas.microsoft.com/office/drawing/2014/main" id="{D18E160E-3024-4EF7-AAD9-3BA116C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76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编辑结果</a:t>
            </a:r>
          </a:p>
        </p:txBody>
      </p:sp>
      <p:sp>
        <p:nvSpPr>
          <p:cNvPr id="16" name="edit-output-sub">
            <a:extLst xmlns:a="http://schemas.openxmlformats.org/drawingml/2006/main">
              <a:ext uri="{FF2B5EF4-FFF2-40B4-BE49-F238E27FC236}">
                <a16:creationId xmlns:a16="http://schemas.microsoft.com/office/drawing/2014/main" id="{C233EF23-5944-4D54-B0AD-F3551DB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813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17" name="auto-text-4">
            <a:extLst xmlns:a="http://schemas.openxmlformats.org/drawingml/2006/main">
              <a:ext uri="{FF2B5EF4-FFF2-40B4-BE49-F238E27FC236}">
                <a16:creationId xmlns:a16="http://schemas.microsoft.com/office/drawing/2014/main" id="{6613845D-4D84-427E-AFF7-B8AC0653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建议样例：换装／持物／合影／表情迁移</a:t>
            </a:r>
          </a:p>
        </p:txBody>
      </p:sp>
      <p:sp>
        <p:nvSpPr>
          <p:cNvPr id="18" name="gallery-media-surface">
            <a:extLst xmlns:a="http://schemas.openxmlformats.org/drawingml/2006/main">
              <a:ext uri="{FF2B5EF4-FFF2-40B4-BE49-F238E27FC236}">
                <a16:creationId xmlns:a16="http://schemas.microsoft.com/office/drawing/2014/main" id="{4259D9A7-4097-4698-BBF0-839B6D1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3149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8DDD8"/>
            </a:solidFill>
            <a:prstDash val="solid"/>
          </a:ln>
        </p:spPr>
      </p:sp>
      <p:sp>
        <p:nvSpPr>
          <p:cNvPr id="19" name="gallery-good-frame">
            <a:extLst xmlns:a="http://schemas.openxmlformats.org/drawingml/2006/main">
              <a:ext uri="{FF2B5EF4-FFF2-40B4-BE49-F238E27FC236}">
                <a16:creationId xmlns:a16="http://schemas.microsoft.com/office/drawing/2014/main" id="{3D3DDE64-5D6D-4A29-8098-03A2E5CE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0" name="gallery-good-label">
            <a:extLst xmlns:a="http://schemas.openxmlformats.org/drawingml/2006/main">
              <a:ext uri="{FF2B5EF4-FFF2-40B4-BE49-F238E27FC236}">
                <a16:creationId xmlns:a16="http://schemas.microsoft.com/office/drawing/2014/main" id="{274AE9C5-75D3-4031-97D1-22B6C1B1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可入库样本</a:t>
            </a:r>
          </a:p>
        </p:txBody>
      </p:sp>
      <p:sp>
        <p:nvSpPr>
          <p:cNvPr id="21" name="gallery-good-sub">
            <a:extLst xmlns:a="http://schemas.openxmlformats.org/drawingml/2006/main">
              <a:ext uri="{FF2B5EF4-FFF2-40B4-BE49-F238E27FC236}">
                <a16:creationId xmlns:a16="http://schemas.microsoft.com/office/drawing/2014/main" id="{5D59E165-B352-4104-B756-0F2805EE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2" name="gallery-bad-frame">
            <a:extLst xmlns:a="http://schemas.openxmlformats.org/drawingml/2006/main">
              <a:ext uri="{FF2B5EF4-FFF2-40B4-BE49-F238E27FC236}">
                <a16:creationId xmlns:a16="http://schemas.microsoft.com/office/drawing/2014/main" id="{C67F61D0-077B-41E9-B51D-E4D27AA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209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3" name="gallery-bad-label">
            <a:extLst xmlns:a="http://schemas.openxmlformats.org/drawingml/2006/main">
              <a:ext uri="{FF2B5EF4-FFF2-40B4-BE49-F238E27FC236}">
                <a16:creationId xmlns:a16="http://schemas.microsoft.com/office/drawing/2014/main" id="{D70F4BCF-9340-492A-A2F2-5605BC1B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76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异常／低质样本</a:t>
            </a:r>
          </a:p>
        </p:txBody>
      </p:sp>
      <p:sp>
        <p:nvSpPr>
          <p:cNvPr id="24" name="gallery-bad-sub">
            <a:extLst xmlns:a="http://schemas.openxmlformats.org/drawingml/2006/main">
              <a:ext uri="{FF2B5EF4-FFF2-40B4-BE49-F238E27FC236}">
                <a16:creationId xmlns:a16="http://schemas.microsoft.com/office/drawing/2014/main" id="{9D7DB0E9-81A7-415A-BB27-FE12BEF5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替换为内部图片</a:t>
            </a:r>
          </a:p>
        </p:txBody>
      </p:sp>
      <p:sp>
        <p:nvSpPr>
          <p:cNvPr id="25" name="auto-text-5">
            <a:extLst xmlns:a="http://schemas.openxmlformats.org/drawingml/2006/main">
              <a:ext uri="{FF2B5EF4-FFF2-40B4-BE49-F238E27FC236}">
                <a16:creationId xmlns:a16="http://schemas.microsoft.com/office/drawing/2014/main" id="{3698081C-FD6C-484A-9F11-639B145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建议样例：肢体异常／结构错误／构图或美学问题</a:t>
            </a:r>
          </a:p>
        </p:txBody>
      </p:sp>
      <p:sp>
        <p:nvSpPr>
          <p:cNvPr id="26" name="auto-text-6">
            <a:extLst xmlns:a="http://schemas.openxmlformats.org/drawingml/2006/main">
              <a:ext uri="{FF2B5EF4-FFF2-40B4-BE49-F238E27FC236}">
                <a16:creationId xmlns:a16="http://schemas.microsoft.com/office/drawing/2014/main" id="{F4A4DF2E-2E85-4652-AB77-03C1B24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主体与参考一致性｜编辑目标满足｜非目标区域保持｜结果自然度</a:t>
            </a:r>
          </a:p>
        </p:txBody>
      </p:sp>
      <p:sp>
        <p:nvSpPr>
          <p:cNvPr id="27" name="auto-text-7">
            <a:extLst xmlns:a="http://schemas.openxmlformats.org/drawingml/2006/main">
              <a:ext uri="{FF2B5EF4-FFF2-40B4-BE49-F238E27FC236}">
                <a16:creationId xmlns:a16="http://schemas.microsoft.com/office/drawing/2014/main" id="{B28FC2F6-CF43-4C20-8A7D-507AE8A2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512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异常生成｜主体完整性｜图文一致性｜美学与构图｜风险内容</a:t>
            </a:r>
          </a:p>
        </p:txBody>
      </p:sp>
      <p:sp>
        <p:nvSpPr>
          <p:cNvPr id="28" name="slide1-conclusion">
            <a:extLst xmlns:a="http://schemas.openxmlformats.org/drawingml/2006/main">
              <a:ext uri="{FF2B5EF4-FFF2-40B4-BE49-F238E27FC236}">
                <a16:creationId xmlns:a16="http://schemas.microsoft.com/office/drawing/2014/main" id="{0ED879C4-156C-440F-9EBC-0B438334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86375"/>
            <a:ext cx="11239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9" name="auto-text-8">
            <a:extLst xmlns:a="http://schemas.openxmlformats.org/drawingml/2006/main">
              <a:ext uri="{FF2B5EF4-FFF2-40B4-BE49-F238E27FC236}">
                <a16:creationId xmlns:a16="http://schemas.microsoft.com/office/drawing/2014/main" id="{385682F0-1F66-4EDA-A436-BBFDDFCF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30" name="auto-text-9">
            <a:extLst xmlns:a="http://schemas.openxmlformats.org/drawingml/2006/main">
              <a:ext uri="{FF2B5EF4-FFF2-40B4-BE49-F238E27FC236}">
                <a16:creationId xmlns:a16="http://schemas.microsoft.com/office/drawing/2014/main" id="{0A824FC4-D445-4737-AF3E-22C31D47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质量不是样本的固定属性，而是模态、内容、标签与目标任务之间的匹配关系。</a:t>
            </a:r>
          </a:p>
        </p:txBody>
      </p:sp>
    </p:spTree>
    <p:extLst>
      <p:ext uri="{BB962C8B-B14F-4D97-AF65-F5344CB8AC3E}">
        <p14:creationId xmlns:p14="http://schemas.microsoft.com/office/powerpoint/2010/main" val="589022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ccent-2">
            <a:extLst xmlns:a="http://schemas.openxmlformats.org/drawingml/2006/main">
              <a:ext uri="{FF2B5EF4-FFF2-40B4-BE49-F238E27FC236}">
                <a16:creationId xmlns:a16="http://schemas.microsoft.com/office/drawing/2014/main" id="{6D5A81D2-79D8-4ADE-949D-4DC15326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78FD4D8-D05D-4E4B-8045-86A5782C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按项目临时搭建质检管线，导致方法、成本和经验反复重置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20AF8BA6-0D04-45ED-82CD-E838F2F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auto-text-10">
            <a:extLst xmlns:a="http://schemas.openxmlformats.org/drawingml/2006/main">
              <a:ext uri="{FF2B5EF4-FFF2-40B4-BE49-F238E27FC236}">
                <a16:creationId xmlns:a16="http://schemas.microsoft.com/office/drawing/2014/main" id="{AC93BD3A-6301-45FA-A267-71D52AF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当前路径</a:t>
            </a:r>
          </a:p>
        </p:txBody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BF8B86BB-16B4-4CE5-B57B-B5F8B35E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6" name="step-line-0">
            <a:extLst xmlns:a="http://schemas.openxmlformats.org/drawingml/2006/main">
              <a:ext uri="{FF2B5EF4-FFF2-40B4-BE49-F238E27FC236}">
                <a16:creationId xmlns:a16="http://schemas.microsoft.com/office/drawing/2014/main" id="{179D2135-C2BD-44D2-A1D7-A2BD2B8F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7" name="step-text-0">
            <a:extLst xmlns:a="http://schemas.openxmlformats.org/drawingml/2006/main">
              <a:ext uri="{FF2B5EF4-FFF2-40B4-BE49-F238E27FC236}">
                <a16:creationId xmlns:a16="http://schemas.microsoft.com/office/drawing/2014/main" id="{97787B85-2457-4AE8-8B34-AD25600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讨论质量标准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1DB9A169-E9C6-4869-838F-7F2E6A5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574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ep-line-1">
            <a:extLst xmlns:a="http://schemas.openxmlformats.org/drawingml/2006/main">
              <a:ext uri="{FF2B5EF4-FFF2-40B4-BE49-F238E27FC236}">
                <a16:creationId xmlns:a16="http://schemas.microsoft.com/office/drawing/2014/main" id="{9CDEE1E3-9533-425D-8372-2F7A4E37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0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3F65381-B123-4238-9ADE-7F73252E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编写规则／Prompt</a:t>
            </a:r>
          </a:p>
        </p:txBody>
      </p:sp>
      <p:sp>
        <p:nvSpPr>
          <p:cNvPr id="11" name="step-dot-2">
            <a:extLst xmlns:a="http://schemas.openxmlformats.org/drawingml/2006/main">
              <a:ext uri="{FF2B5EF4-FFF2-40B4-BE49-F238E27FC236}">
                <a16:creationId xmlns:a16="http://schemas.microsoft.com/office/drawing/2014/main" id="{F70DAD40-D08B-47A5-8AA3-6338E3B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step-line-2">
            <a:extLst xmlns:a="http://schemas.openxmlformats.org/drawingml/2006/main">
              <a:ext uri="{FF2B5EF4-FFF2-40B4-BE49-F238E27FC236}">
                <a16:creationId xmlns:a16="http://schemas.microsoft.com/office/drawing/2014/main" id="{D1E82ED8-2378-4E41-AE9A-4901489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3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4C9F461-F06C-4693-AEC6-86E7766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人工抽检与调参</a:t>
            </a:r>
          </a:p>
        </p:txBody>
      </p:sp>
      <p:sp>
        <p:nvSpPr>
          <p:cNvPr id="14" name="step-dot-3">
            <a:extLst xmlns:a="http://schemas.openxmlformats.org/drawingml/2006/main">
              <a:ext uri="{FF2B5EF4-FFF2-40B4-BE49-F238E27FC236}">
                <a16:creationId xmlns:a16="http://schemas.microsoft.com/office/drawing/2014/main" id="{C51FEF14-386D-40FD-B46F-DB6ACA45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5" name="step-line-3">
            <a:extLst xmlns:a="http://schemas.openxmlformats.org/drawingml/2006/main">
              <a:ext uri="{FF2B5EF4-FFF2-40B4-BE49-F238E27FC236}">
                <a16:creationId xmlns:a16="http://schemas.microsoft.com/office/drawing/2014/main" id="{230A3C1D-F972-45E1-A2BD-0757034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D5F8"/>
          </a:solidFill>
          <a:ln xmlns:a="http://schemas.openxmlformats.org/drawingml/2006/main" w="9525">
            <a:solidFill>
              <a:srgbClr val="C7D5F8"/>
            </a:solidFill>
            <a:prstDash val="solid"/>
          </a:ln>
        </p:spPr>
      </p:sp>
      <p:sp>
        <p:nvSpPr>
          <p:cNvPr id="16" name="step-text-3">
            <a:extLst xmlns:a="http://schemas.openxmlformats.org/drawingml/2006/main">
              <a:ext uri="{FF2B5EF4-FFF2-40B4-BE49-F238E27FC236}">
                <a16:creationId xmlns:a16="http://schemas.microsoft.com/office/drawing/2014/main" id="{99F86C7E-0D7C-47CD-89FE-7D7CCB26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临时搭建管线</a:t>
            </a:r>
          </a:p>
        </p:txBody>
      </p:sp>
      <p:sp>
        <p:nvSpPr>
          <p:cNvPr id="17" name="step-dot-4">
            <a:extLst xmlns:a="http://schemas.openxmlformats.org/drawingml/2006/main">
              <a:ext uri="{FF2B5EF4-FFF2-40B4-BE49-F238E27FC236}">
                <a16:creationId xmlns:a16="http://schemas.microsoft.com/office/drawing/2014/main" id="{49FD22FD-8416-490F-8E4D-8A44EC0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55"/>
          </a:solidFill>
          <a:ln xmlns:a="http://schemas.openxmlformats.org/drawingml/2006/main" w="9525">
            <a:solidFill>
              <a:srgbClr val="E65C55"/>
            </a:solidFill>
            <a:prstDash val="solid"/>
          </a:ln>
        </p:spPr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083CADBD-D63B-4DAB-8EB5-5C147132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任务变化后重做</a:t>
            </a:r>
          </a:p>
        </p:txBody>
      </p:sp>
      <p:sp>
        <p:nvSpPr>
          <p:cNvPr id="19" name="pain-summary">
            <a:extLst xmlns:a="http://schemas.openxmlformats.org/drawingml/2006/main">
              <a:ext uri="{FF2B5EF4-FFF2-40B4-BE49-F238E27FC236}">
                <a16:creationId xmlns:a16="http://schemas.microsoft.com/office/drawing/2014/main" id="{9DEA5C9B-97C1-4B96-A0C2-CF0E64B6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4476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0" name="auto-text-11">
            <a:extLst xmlns:a="http://schemas.openxmlformats.org/drawingml/2006/main">
              <a:ext uri="{FF2B5EF4-FFF2-40B4-BE49-F238E27FC236}">
                <a16:creationId xmlns:a16="http://schemas.microsoft.com/office/drawing/2014/main" id="{80EDE405-E609-4340-A630-546D8754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共性痛点</a:t>
            </a:r>
          </a:p>
        </p:txBody>
      </p:sp>
      <p:sp>
        <p:nvSpPr>
          <p:cNvPr id="21" name="auto-text-12">
            <a:extLst xmlns:a="http://schemas.openxmlformats.org/drawingml/2006/main">
              <a:ext uri="{FF2B5EF4-FFF2-40B4-BE49-F238E27FC236}">
                <a16:creationId xmlns:a16="http://schemas.microsoft.com/office/drawing/2014/main" id="{7D0F5EC9-5D1B-42CB-83A3-B459F9F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质量维度按项目临时补，缺少统一抽象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Prompt效果依赖经验，难复现和对照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标注、筛选和复查成本高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Pipeline难复用，任务变化后重做</a:t>
            </a:r>
          </a:p>
          <a:p xmlns:a="http://schemas.openxmlformats.org/drawingml/2006/main">
            <a:pPr algn="l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• 新任务／模态缺少任务定义、能力匹配和执行规范</a:t>
            </a:r>
          </a:p>
        </p:txBody>
      </p:sp>
      <p:sp>
        <p:nvSpPr>
          <p:cNvPr id="22" name="auto-text-13">
            <a:extLst xmlns:a="http://schemas.openxmlformats.org/drawingml/2006/main">
              <a:ext uri="{FF2B5EF4-FFF2-40B4-BE49-F238E27FC236}">
                <a16:creationId xmlns:a16="http://schemas.microsoft.com/office/drawing/2014/main" id="{3DC57A09-7F88-4891-9632-1689078C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0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内部证据占位</a:t>
            </a:r>
          </a:p>
        </p:txBody>
      </p:sp>
      <p:sp>
        <p:nvSpPr>
          <p:cNvPr id="23" name="prompt-shot-frame">
            <a:extLst xmlns:a="http://schemas.openxmlformats.org/drawingml/2006/main">
              <a:ext uri="{FF2B5EF4-FFF2-40B4-BE49-F238E27FC236}">
                <a16:creationId xmlns:a16="http://schemas.microsoft.com/office/drawing/2014/main" id="{92AF9C2E-B5B5-461B-B73E-2FF6D29F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192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4" name="prompt-shot-label">
            <a:extLst xmlns:a="http://schemas.openxmlformats.org/drawingml/2006/main">
              <a:ext uri="{FF2B5EF4-FFF2-40B4-BE49-F238E27FC236}">
                <a16:creationId xmlns:a16="http://schemas.microsoft.com/office/drawing/2014/main" id="{59B2737B-E66C-4CFE-A5B2-9ADFFE9F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145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当前质检Prompt截图</a:t>
            </a:r>
          </a:p>
        </p:txBody>
      </p:sp>
      <p:sp>
        <p:nvSpPr>
          <p:cNvPr id="25" name="prompt-shot-sub">
            <a:extLst xmlns:a="http://schemas.openxmlformats.org/drawingml/2006/main">
              <a:ext uri="{FF2B5EF4-FFF2-40B4-BE49-F238E27FC236}">
                <a16:creationId xmlns:a16="http://schemas.microsoft.com/office/drawing/2014/main" id="{80910F2F-582A-493F-A640-838BC5A3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193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建议包含：质量维度、评分规则、输出格式</a:t>
            </a:r>
          </a:p>
        </p:txBody>
      </p:sp>
      <p:sp>
        <p:nvSpPr>
          <p:cNvPr id="26" name="misjudge-case-frame">
            <a:extLst xmlns:a="http://schemas.openxmlformats.org/drawingml/2006/main">
              <a:ext uri="{FF2B5EF4-FFF2-40B4-BE49-F238E27FC236}">
                <a16:creationId xmlns:a16="http://schemas.microsoft.com/office/drawing/2014/main" id="{F9C04BFC-1DCF-48EC-8F61-C02200E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619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27" name="misjudge-case-label">
            <a:extLst xmlns:a="http://schemas.openxmlformats.org/drawingml/2006/main">
              <a:ext uri="{FF2B5EF4-FFF2-40B4-BE49-F238E27FC236}">
                <a16:creationId xmlns:a16="http://schemas.microsoft.com/office/drawing/2014/main" id="{3F18BC30-8265-427F-90AF-57EF7136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0075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评估器误判／多评估器或人工分歧案例</a:t>
            </a:r>
          </a:p>
        </p:txBody>
      </p:sp>
      <p:sp>
        <p:nvSpPr>
          <p:cNvPr id="28" name="misjudge-case-sub">
            <a:extLst xmlns:a="http://schemas.openxmlformats.org/drawingml/2006/main">
              <a:ext uri="{FF2B5EF4-FFF2-40B4-BE49-F238E27FC236}">
                <a16:creationId xmlns:a16="http://schemas.microsoft.com/office/drawing/2014/main" id="{E01B30B3-F75B-4747-9526-9D76A91B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14875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建议包含：输入样本、各评估结论、人工结论、分歧原因</a:t>
            </a:r>
          </a:p>
        </p:txBody>
      </p:sp>
      <p:sp>
        <p:nvSpPr>
          <p:cNvPr id="29" name="auto-text-14">
            <a:extLst xmlns:a="http://schemas.openxmlformats.org/drawingml/2006/main">
              <a:ext uri="{FF2B5EF4-FFF2-40B4-BE49-F238E27FC236}">
                <a16:creationId xmlns:a16="http://schemas.microsoft.com/office/drawing/2014/main" id="{A7809381-9D20-4858-891E-FD643E1D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34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现状本质：能力分散在个人经验、Prompt和临时脚本中，尚不能将新任务编译为可复用、可验证的评估流程。</a:t>
            </a:r>
          </a:p>
        </p:txBody>
      </p:sp>
    </p:spTree>
    <p:extLst>
      <p:ext uri="{BB962C8B-B14F-4D97-AF65-F5344CB8AC3E}">
        <p14:creationId xmlns:p14="http://schemas.microsoft.com/office/powerpoint/2010/main" val="483121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3">
            <a:extLst xmlns:a="http://schemas.openxmlformats.org/drawingml/2006/main">
              <a:ext uri="{FF2B5EF4-FFF2-40B4-BE49-F238E27FC236}">
                <a16:creationId xmlns:a16="http://schemas.microsoft.com/office/drawing/2014/main" id="{59A2D593-40FC-4A88-8B70-D7D0353A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FF54400-C524-4182-B3BA-720C8A1A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学术界正从“单一Judge打分”转向任务自适应的组合评估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DFA96C70-8736-4539-B268-4C645A0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auto-text-15">
            <a:extLst xmlns:a="http://schemas.openxmlformats.org/drawingml/2006/main">
              <a:ext uri="{FF2B5EF4-FFF2-40B4-BE49-F238E27FC236}">
                <a16:creationId xmlns:a16="http://schemas.microsoft.com/office/drawing/2014/main" id="{C0367153-F877-4E82-8483-CA0D4DD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2025–2026年的关键进展分布在三条路线，VLM Judge只是可被校准和组合的基础评估器之一。</a:t>
            </a:r>
          </a:p>
        </p:txBody>
      </p:sp>
      <p:sp>
        <p:nvSpPr>
          <p:cNvPr id="5" name="track-0">
            <a:extLst xmlns:a="http://schemas.openxmlformats.org/drawingml/2006/main">
              <a:ext uri="{FF2B5EF4-FFF2-40B4-BE49-F238E27FC236}">
                <a16:creationId xmlns:a16="http://schemas.microsoft.com/office/drawing/2014/main" id="{8CE95FDB-329D-48F8-8A98-E8373BC6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track-no-0">
            <a:extLst xmlns:a="http://schemas.openxmlformats.org/drawingml/2006/main">
              <a:ext uri="{FF2B5EF4-FFF2-40B4-BE49-F238E27FC236}">
                <a16:creationId xmlns:a16="http://schemas.microsoft.com/office/drawing/2014/main" id="{F16474E7-885F-4598-9345-DB0BA89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rack-title-0">
            <a:extLst xmlns:a="http://schemas.openxmlformats.org/drawingml/2006/main">
              <a:ext uri="{FF2B5EF4-FFF2-40B4-BE49-F238E27FC236}">
                <a16:creationId xmlns:a16="http://schemas.microsoft.com/office/drawing/2014/main" id="{A94DE3EB-8B92-4B18-8B06-DF8F0619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后验校准与偏移鲁棒</a:t>
            </a:r>
          </a:p>
        </p:txBody>
      </p:sp>
      <p:sp>
        <p:nvSpPr>
          <p:cNvPr id="8" name="track-lead-0">
            <a:extLst xmlns:a="http://schemas.openxmlformats.org/drawingml/2006/main">
              <a:ext uri="{FF2B5EF4-FFF2-40B4-BE49-F238E27FC236}">
                <a16:creationId xmlns:a16="http://schemas.microsoft.com/office/drawing/2014/main" id="{555E26C4-B7D5-4C34-997F-9F542CEB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用少量验证样本修正评分偏差，而不是为每个新任务重训模型。</a:t>
            </a:r>
          </a:p>
        </p:txBody>
      </p:sp>
      <p:sp>
        <p:nvSpPr>
          <p:cNvPr id="9" name="track-divider-0">
            <a:extLst xmlns:a="http://schemas.openxmlformats.org/drawingml/2006/main">
              <a:ext uri="{FF2B5EF4-FFF2-40B4-BE49-F238E27FC236}">
                <a16:creationId xmlns:a16="http://schemas.microsoft.com/office/drawing/2014/main" id="{19E3B5D3-9B8C-48BA-B615-82278295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track-evidence-label-0">
            <a:extLst xmlns:a="http://schemas.openxmlformats.org/drawingml/2006/main">
              <a:ext uri="{FF2B5EF4-FFF2-40B4-BE49-F238E27FC236}">
                <a16:creationId xmlns:a16="http://schemas.microsoft.com/office/drawing/2014/main" id="{BAEE8547-A2BC-4C84-976C-21E35847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1" name="track-evidence-0">
            <a:extLst xmlns:a="http://schemas.openxmlformats.org/drawingml/2006/main">
              <a:ext uri="{FF2B5EF4-FFF2-40B4-BE49-F238E27FC236}">
                <a16:creationId xmlns:a16="http://schemas.microsoft.com/office/drawing/2014/main" id="{FE891DE7-8E5B-4EC7-9231-39B7BA8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可利用转移矩阵与Prompt加权，结合分数缩放和阈值校准纠正评分误差。</a:t>
            </a:r>
          </a:p>
        </p:txBody>
      </p:sp>
      <p:sp>
        <p:nvSpPr>
          <p:cNvPr id="12" name="track-signal-0">
            <a:extLst xmlns:a="http://schemas.openxmlformats.org/drawingml/2006/main">
              <a:ext uri="{FF2B5EF4-FFF2-40B4-BE49-F238E27FC236}">
                <a16:creationId xmlns:a16="http://schemas.microsoft.com/office/drawing/2014/main" id="{50C733FB-D280-4BBF-8A10-70D5F689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对应：任务偏好／分数／权重／阈值校准</a:t>
            </a:r>
          </a:p>
        </p:txBody>
      </p:sp>
      <p:sp>
        <p:nvSpPr>
          <p:cNvPr id="13" name="track-1">
            <a:extLst xmlns:a="http://schemas.openxmlformats.org/drawingml/2006/main">
              <a:ext uri="{FF2B5EF4-FFF2-40B4-BE49-F238E27FC236}">
                <a16:creationId xmlns:a16="http://schemas.microsoft.com/office/drawing/2014/main" id="{C4B172E9-347D-4E7B-B9DB-6CECD99F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  <a:prstDash val="solid"/>
          </a:ln>
        </p:spPr>
      </p:sp>
      <p:sp>
        <p:nvSpPr>
          <p:cNvPr id="14" name="track-no-1">
            <a:extLst xmlns:a="http://schemas.openxmlformats.org/drawingml/2006/main">
              <a:ext uri="{FF2B5EF4-FFF2-40B4-BE49-F238E27FC236}">
                <a16:creationId xmlns:a16="http://schemas.microsoft.com/office/drawing/2014/main" id="{5CE66A59-A578-4AB0-86B5-202B344A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rack-title-1">
            <a:extLst xmlns:a="http://schemas.openxmlformats.org/drawingml/2006/main">
              <a:ext uri="{FF2B5EF4-FFF2-40B4-BE49-F238E27FC236}">
                <a16:creationId xmlns:a16="http://schemas.microsoft.com/office/drawing/2014/main" id="{4D4BD855-0E49-48A4-8557-8036452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邻域共识与鲁棒选择</a:t>
            </a:r>
          </a:p>
        </p:txBody>
      </p:sp>
      <p:sp>
        <p:nvSpPr>
          <p:cNvPr id="16" name="track-lead-1">
            <a:extLst xmlns:a="http://schemas.openxmlformats.org/drawingml/2006/main">
              <a:ext uri="{FF2B5EF4-FFF2-40B4-BE49-F238E27FC236}">
                <a16:creationId xmlns:a16="http://schemas.microsoft.com/office/drawing/2014/main" id="{7C050540-9E0E-4920-830D-D32C363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不把一次Prompt或单一权重配置当作最终结论，而是在相邻偏好上形成候选池。</a:t>
            </a:r>
          </a:p>
        </p:txBody>
      </p:sp>
      <p:sp>
        <p:nvSpPr>
          <p:cNvPr id="17" name="track-divider-1">
            <a:extLst xmlns:a="http://schemas.openxmlformats.org/drawingml/2006/main">
              <a:ext uri="{FF2B5EF4-FFF2-40B4-BE49-F238E27FC236}">
                <a16:creationId xmlns:a16="http://schemas.microsoft.com/office/drawing/2014/main" id="{39F6A233-9054-4757-866B-9B2C4981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  <a:prstDash val="solid"/>
          </a:ln>
        </p:spPr>
      </p:sp>
      <p:sp>
        <p:nvSpPr>
          <p:cNvPr id="18" name="track-evidence-label-1">
            <a:extLst xmlns:a="http://schemas.openxmlformats.org/drawingml/2006/main">
              <a:ext uri="{FF2B5EF4-FFF2-40B4-BE49-F238E27FC236}">
                <a16:creationId xmlns:a16="http://schemas.microsoft.com/office/drawing/2014/main" id="{5F405E34-026C-4940-8E69-E86D2DCC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19" name="track-evidence-1">
            <a:extLst xmlns:a="http://schemas.openxmlformats.org/drawingml/2006/main">
              <a:ext uri="{FF2B5EF4-FFF2-40B4-BE49-F238E27FC236}">
                <a16:creationId xmlns:a16="http://schemas.microsoft.com/office/drawing/2014/main" id="{F89569F3-B59D-46E4-AC2B-9B8333CB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2026年研究显示：无需重训练，邻域共识在长尾偏好上取得最高69%的胜率。</a:t>
            </a:r>
          </a:p>
        </p:txBody>
      </p:sp>
      <p:sp>
        <p:nvSpPr>
          <p:cNvPr id="20" name="track-signal-1">
            <a:extLst xmlns:a="http://schemas.openxmlformats.org/drawingml/2006/main">
              <a:ext uri="{FF2B5EF4-FFF2-40B4-BE49-F238E27FC236}">
                <a16:creationId xmlns:a16="http://schemas.microsoft.com/office/drawing/2014/main" id="{807CA540-3790-4FF2-B33A-10553FF8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对应：多视角／分歧检测／保守选择</a:t>
            </a:r>
          </a:p>
        </p:txBody>
      </p:sp>
      <p:sp>
        <p:nvSpPr>
          <p:cNvPr id="21" name="track-2">
            <a:extLst xmlns:a="http://schemas.openxmlformats.org/drawingml/2006/main">
              <a:ext uri="{FF2B5EF4-FFF2-40B4-BE49-F238E27FC236}">
                <a16:creationId xmlns:a16="http://schemas.microsoft.com/office/drawing/2014/main" id="{3C1948D9-FEE6-404B-8699-377391D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390900" cy="3714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22" name="track-no-2">
            <a:extLst xmlns:a="http://schemas.openxmlformats.org/drawingml/2006/main">
              <a:ext uri="{FF2B5EF4-FFF2-40B4-BE49-F238E27FC236}">
                <a16:creationId xmlns:a16="http://schemas.microsoft.com/office/drawing/2014/main" id="{DFD32E32-163C-408B-BC1C-7BCF9CF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rack-title-2">
            <a:extLst xmlns:a="http://schemas.openxmlformats.org/drawingml/2006/main">
              <a:ext uri="{FF2B5EF4-FFF2-40B4-BE49-F238E27FC236}">
                <a16:creationId xmlns:a16="http://schemas.microsoft.com/office/drawing/2014/main" id="{D76D598D-2D9C-450C-BF74-73B94F6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证据核验、路由与飞轮</a:t>
            </a:r>
          </a:p>
        </p:txBody>
      </p:sp>
      <p:sp>
        <p:nvSpPr>
          <p:cNvPr id="24" name="track-lead-2">
            <a:extLst xmlns:a="http://schemas.openxmlformats.org/drawingml/2006/main">
              <a:ext uri="{FF2B5EF4-FFF2-40B4-BE49-F238E27FC236}">
                <a16:creationId xmlns:a16="http://schemas.microsoft.com/office/drawing/2014/main" id="{68DA5304-4FDA-4F96-A2F8-FA8E3F06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933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模型结论需要证据支撑，并按置信度进入自动通过、自动拒绝或人工复核。</a:t>
            </a:r>
          </a:p>
        </p:txBody>
      </p:sp>
      <p:sp>
        <p:nvSpPr>
          <p:cNvPr id="25" name="track-divider-2">
            <a:extLst xmlns:a="http://schemas.openxmlformats.org/drawingml/2006/main">
              <a:ext uri="{FF2B5EF4-FFF2-40B4-BE49-F238E27FC236}">
                <a16:creationId xmlns:a16="http://schemas.microsoft.com/office/drawing/2014/main" id="{CA2B81B9-BD33-42F2-8724-717DF8D8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933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91"/>
          </a:solidFill>
          <a:ln xmlns:a="http://schemas.openxmlformats.org/drawingml/2006/main" w="9525">
            <a:solidFill>
              <a:srgbClr val="159A91"/>
            </a:solidFill>
            <a:prstDash val="solid"/>
          </a:ln>
        </p:spPr>
      </p:sp>
      <p:sp>
        <p:nvSpPr>
          <p:cNvPr id="26" name="track-evidence-label-2">
            <a:extLst xmlns:a="http://schemas.openxmlformats.org/drawingml/2006/main">
              <a:ext uri="{FF2B5EF4-FFF2-40B4-BE49-F238E27FC236}">
                <a16:creationId xmlns:a16="http://schemas.microsoft.com/office/drawing/2014/main" id="{46ADC5B8-AB53-4FF8-A769-E1E3E83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最新研究结论</a:t>
            </a:r>
          </a:p>
        </p:txBody>
      </p:sp>
      <p:sp>
        <p:nvSpPr>
          <p:cNvPr id="27" name="track-evidence-2">
            <a:extLst xmlns:a="http://schemas.openxmlformats.org/drawingml/2006/main">
              <a:ext uri="{FF2B5EF4-FFF2-40B4-BE49-F238E27FC236}">
                <a16:creationId xmlns:a16="http://schemas.microsoft.com/office/drawing/2014/main" id="{6CAEB3C1-7A72-43EF-9F4C-F2B79805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结构化证据减少主观Judge依赖；数据筛选价值最终需要通过下游训练收益验证。</a:t>
            </a:r>
          </a:p>
        </p:txBody>
      </p:sp>
      <p:sp>
        <p:nvSpPr>
          <p:cNvPr id="28" name="track-signal-2">
            <a:extLst xmlns:a="http://schemas.openxmlformats.org/drawingml/2006/main">
              <a:ext uri="{FF2B5EF4-FFF2-40B4-BE49-F238E27FC236}">
                <a16:creationId xmlns:a16="http://schemas.microsoft.com/office/drawing/2014/main" id="{D9D7CF38-26B2-4EE7-A8D7-2D1AFB3C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对应：证据仲裁／三路路由／数据飞轮</a:t>
            </a:r>
          </a:p>
        </p:txBody>
      </p:sp>
      <p:sp>
        <p:nvSpPr>
          <p:cNvPr id="29" name="research-conclusion">
            <a:extLst xmlns:a="http://schemas.openxmlformats.org/drawingml/2006/main">
              <a:ext uri="{FF2B5EF4-FFF2-40B4-BE49-F238E27FC236}">
                <a16:creationId xmlns:a16="http://schemas.microsoft.com/office/drawing/2014/main" id="{25C57C50-D986-46B2-886E-FE27EDAB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1163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0" name="auto-text-16">
            <a:extLst xmlns:a="http://schemas.openxmlformats.org/drawingml/2006/main">
              <a:ext uri="{FF2B5EF4-FFF2-40B4-BE49-F238E27FC236}">
                <a16:creationId xmlns:a16="http://schemas.microsoft.com/office/drawing/2014/main" id="{6A687718-4214-4B9B-9B05-5C4ACD2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研究共识</a:t>
            </a:r>
          </a:p>
        </p:txBody>
      </p:sp>
      <p:sp>
        <p:nvSpPr>
          <p:cNvPr id="31" name="auto-text-17">
            <a:extLst xmlns:a="http://schemas.openxmlformats.org/drawingml/2006/main">
              <a:ext uri="{FF2B5EF4-FFF2-40B4-BE49-F238E27FC236}">
                <a16:creationId xmlns:a16="http://schemas.microsoft.com/office/drawing/2014/main" id="{60A468D3-6D31-4093-BEC6-4DAB9FF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9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评估能力的增量来自校准、组合、路由与闭环验证，而不仅是更换一个更大的VLM。</a:t>
            </a:r>
          </a:p>
        </p:txBody>
      </p:sp>
      <p:sp>
        <p:nvSpPr>
          <p:cNvPr id="32" name="source-650-0.9229950666599123">
            <a:extLst xmlns:a="http://schemas.openxmlformats.org/drawingml/2006/main">
              <a:ext uri="{FF2B5EF4-FFF2-40B4-BE49-F238E27FC236}">
                <a16:creationId xmlns:a16="http://schemas.microsoft.com/office/drawing/2014/main" id="{26BB49B2-2ED2-4243-A1FE-7F0C0DB4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依据：ICLR 2025／2026；ICCV 2025；AAAI 2025相关研究结论</a:t>
            </a:r>
          </a:p>
        </p:txBody>
      </p:sp>
    </p:spTree>
    <p:extLst>
      <p:ext uri="{BB962C8B-B14F-4D97-AF65-F5344CB8AC3E}">
        <p14:creationId xmlns:p14="http://schemas.microsoft.com/office/powerpoint/2010/main" val="210009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4">
            <a:extLst xmlns:a="http://schemas.openxmlformats.org/drawingml/2006/main">
              <a:ext uri="{FF2B5EF4-FFF2-40B4-BE49-F238E27FC236}">
                <a16:creationId xmlns:a16="http://schemas.microsoft.com/office/drawing/2014/main" id="{5310118B-1DFC-4EAE-8E2F-7F52A31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C33802D-B25A-438E-8E9D-8C0A2E4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头部公司已形成“任务标准＋组合评估＋人工校准”闭环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B43663D4-4EF4-41A1-9E4A-53D5AAA7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auto-text-18">
            <a:extLst xmlns:a="http://schemas.openxmlformats.org/drawingml/2006/main">
              <a:ext uri="{FF2B5EF4-FFF2-40B4-BE49-F238E27FC236}">
                <a16:creationId xmlns:a16="http://schemas.microsoft.com/office/drawing/2014/main" id="{9FCEB16D-6B26-4C5A-8C07-136E04A0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公开做法虽不完全相同，但都先拆解任务标准，再组合自动评估、置信度控制、人工验证和持续回流。</a:t>
            </a:r>
          </a:p>
        </p:txBody>
      </p:sp>
      <p:sp>
        <p:nvSpPr>
          <p:cNvPr id="5" name="auto-text-19">
            <a:extLst xmlns:a="http://schemas.openxmlformats.org/drawingml/2006/main">
              <a:ext uri="{FF2B5EF4-FFF2-40B4-BE49-F238E27FC236}">
                <a16:creationId xmlns:a16="http://schemas.microsoft.com/office/drawing/2014/main" id="{288452A4-4ACF-4F43-ACAF-A2A3C3C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公司／团队</a:t>
            </a:r>
          </a:p>
        </p:txBody>
      </p:sp>
      <p:sp>
        <p:nvSpPr>
          <p:cNvPr id="6" name="auto-text-20">
            <a:extLst xmlns:a="http://schemas.openxmlformats.org/drawingml/2006/main">
              <a:ext uri="{FF2B5EF4-FFF2-40B4-BE49-F238E27FC236}">
                <a16:creationId xmlns:a16="http://schemas.microsoft.com/office/drawing/2014/main" id="{5D59F6C9-15CE-4B25-A947-EB6F3A48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公开实践</a:t>
            </a:r>
          </a:p>
        </p:txBody>
      </p:sp>
      <p:sp>
        <p:nvSpPr>
          <p:cNvPr id="7" name="auto-text-21">
            <a:extLst xmlns:a="http://schemas.openxmlformats.org/drawingml/2006/main">
              <a:ext uri="{FF2B5EF4-FFF2-40B4-BE49-F238E27FC236}">
                <a16:creationId xmlns:a16="http://schemas.microsoft.com/office/drawing/2014/main" id="{04B864E8-62CF-4E0F-97FC-6E0DF10B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方法特征</a:t>
            </a:r>
          </a:p>
        </p:txBody>
      </p:sp>
      <p:sp>
        <p:nvSpPr>
          <p:cNvPr id="8" name="auto-text-22">
            <a:extLst xmlns:a="http://schemas.openxmlformats.org/drawingml/2006/main">
              <a:ext uri="{FF2B5EF4-FFF2-40B4-BE49-F238E27FC236}">
                <a16:creationId xmlns:a16="http://schemas.microsoft.com/office/drawing/2014/main" id="{BF6652FE-8F92-4567-88FA-3F0CF0A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量化效果</a:t>
            </a:r>
          </a:p>
        </p:txBody>
      </p:sp>
      <p:sp>
        <p:nvSpPr>
          <p:cNvPr id="9" name="company-row-0">
            <a:extLst xmlns:a="http://schemas.openxmlformats.org/drawingml/2006/main">
              <a:ext uri="{FF2B5EF4-FFF2-40B4-BE49-F238E27FC236}">
                <a16:creationId xmlns:a16="http://schemas.microsoft.com/office/drawing/2014/main" id="{FD16D1CD-28A2-401B-9454-7985B6F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9525">
            <a:solidFill>
              <a:srgbClr val="F5F8FF"/>
            </a:solidFill>
            <a:prstDash val="solid"/>
          </a:ln>
        </p:spPr>
      </p:sp>
      <p:sp>
        <p:nvSpPr>
          <p:cNvPr id="10" name="company-name-0">
            <a:extLst xmlns:a="http://schemas.openxmlformats.org/drawingml/2006/main">
              <a:ext uri="{FF2B5EF4-FFF2-40B4-BE49-F238E27FC236}">
                <a16:creationId xmlns:a16="http://schemas.microsoft.com/office/drawing/2014/main" id="{DF5E8014-D407-4CD1-830F-AC710CF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1" name="company-body-0">
            <a:extLst xmlns:a="http://schemas.openxmlformats.org/drawingml/2006/main">
              <a:ext uri="{FF2B5EF4-FFF2-40B4-BE49-F238E27FC236}">
                <a16:creationId xmlns:a16="http://schemas.microsoft.com/office/drawing/2014/main" id="{F2628C9A-D90F-4DB5-97A6-6477C2AB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76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按能力与安全风险切分评测集；用自动分类器／推理模型做离线评估，并结合对抗测试与人工规范校验。</a:t>
            </a:r>
          </a:p>
        </p:txBody>
      </p:sp>
      <p:sp>
        <p:nvSpPr>
          <p:cNvPr id="12" name="company-tag-0">
            <a:extLst xmlns:a="http://schemas.openxmlformats.org/drawingml/2006/main">
              <a:ext uri="{FF2B5EF4-FFF2-40B4-BE49-F238E27FC236}">
                <a16:creationId xmlns:a16="http://schemas.microsoft.com/office/drawing/2014/main" id="{D434933A-FA99-4540-B280-6CFFDA09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持续评测</a:t>
            </a:r>
          </a:p>
        </p:txBody>
      </p:sp>
      <p:sp>
        <p:nvSpPr>
          <p:cNvPr id="13" name="company-effect-0">
            <a:extLst xmlns:a="http://schemas.openxmlformats.org/drawingml/2006/main">
              <a:ext uri="{FF2B5EF4-FFF2-40B4-BE49-F238E27FC236}">
                <a16:creationId xmlns:a16="http://schemas.microsoft.com/office/drawing/2014/main" id="{E55E20AA-74A3-4BE1-9104-969815C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573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3,112次对抗生成：组合检出率96.1%，安全输出99.1%。</a:t>
            </a:r>
          </a:p>
        </p:txBody>
      </p:sp>
      <p:sp>
        <p:nvSpPr>
          <p:cNvPr id="14" name="company-row-1">
            <a:extLst xmlns:a="http://schemas.openxmlformats.org/drawingml/2006/main">
              <a:ext uri="{FF2B5EF4-FFF2-40B4-BE49-F238E27FC236}">
                <a16:creationId xmlns:a16="http://schemas.microsoft.com/office/drawing/2014/main" id="{D7ABFA36-C616-42FE-ADD6-68B1A854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6FF"/>
          </a:solidFill>
          <a:ln xmlns:a="http://schemas.openxmlformats.org/drawingml/2006/main" w="9525">
            <a:solidFill>
              <a:srgbClr val="F8F6FF"/>
            </a:solidFill>
            <a:prstDash val="solid"/>
          </a:ln>
        </p:spPr>
      </p:sp>
      <p:sp>
        <p:nvSpPr>
          <p:cNvPr id="15" name="company-name-1">
            <a:extLst xmlns:a="http://schemas.openxmlformats.org/drawingml/2006/main">
              <a:ext uri="{FF2B5EF4-FFF2-40B4-BE49-F238E27FC236}">
                <a16:creationId xmlns:a16="http://schemas.microsoft.com/office/drawing/2014/main" id="{486B46A1-1962-4EBE-B202-CC8F974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阿里 Qwen</a:t>
            </a:r>
          </a:p>
        </p:txBody>
      </p:sp>
      <p:sp>
        <p:nvSpPr>
          <p:cNvPr id="16" name="company-body-1">
            <a:extLst xmlns:a="http://schemas.openxmlformats.org/drawingml/2006/main">
              <a:ext uri="{FF2B5EF4-FFF2-40B4-BE49-F238E27FC236}">
                <a16:creationId xmlns:a16="http://schemas.microsoft.com/office/drawing/2014/main" id="{6A294753-3BD3-4FA7-BE56-73D7D44B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908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建设多级图像评测体系；专用 Q-Judger 按5个一级维度、56个细粒度因素评分，并结合公开基准与盲测。</a:t>
            </a:r>
          </a:p>
        </p:txBody>
      </p:sp>
      <p:sp>
        <p:nvSpPr>
          <p:cNvPr id="17" name="company-tag-1">
            <a:extLst xmlns:a="http://schemas.openxmlformats.org/drawingml/2006/main">
              <a:ext uri="{FF2B5EF4-FFF2-40B4-BE49-F238E27FC236}">
                <a16:creationId xmlns:a16="http://schemas.microsoft.com/office/drawing/2014/main" id="{5CA9FEAB-ACA5-4429-BA11-63A4B2AD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专用 Judge</a:t>
            </a:r>
          </a:p>
        </p:txBody>
      </p:sp>
      <p:sp>
        <p:nvSpPr>
          <p:cNvPr id="18" name="company-effect-1">
            <a:extLst xmlns:a="http://schemas.openxmlformats.org/drawingml/2006/main">
              <a:ext uri="{FF2B5EF4-FFF2-40B4-BE49-F238E27FC236}">
                <a16:creationId xmlns:a16="http://schemas.microsoft.com/office/drawing/2014/main" id="{2512CAA1-1586-4274-B5E3-BDC92335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17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与人类专家排序ρ=0.92；18个模型拉开16.5分、分成5档。</a:t>
            </a:r>
          </a:p>
        </p:txBody>
      </p:sp>
      <p:sp>
        <p:nvSpPr>
          <p:cNvPr id="19" name="company-row-2">
            <a:extLst xmlns:a="http://schemas.openxmlformats.org/drawingml/2006/main">
              <a:ext uri="{FF2B5EF4-FFF2-40B4-BE49-F238E27FC236}">
                <a16:creationId xmlns:a16="http://schemas.microsoft.com/office/drawing/2014/main" id="{0D423F5E-22C9-44C3-B223-FC4794D2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5"/>
          </a:solidFill>
          <a:ln xmlns:a="http://schemas.openxmlformats.org/drawingml/2006/main" w="9525">
            <a:solidFill>
              <a:srgbClr val="FFF7F5"/>
            </a:solidFill>
            <a:prstDash val="solid"/>
          </a:ln>
        </p:spPr>
      </p:sp>
      <p:sp>
        <p:nvSpPr>
          <p:cNvPr id="20" name="company-name-2">
            <a:extLst xmlns:a="http://schemas.openxmlformats.org/drawingml/2006/main">
              <a:ext uri="{FF2B5EF4-FFF2-40B4-BE49-F238E27FC236}">
                <a16:creationId xmlns:a16="http://schemas.microsoft.com/office/drawing/2014/main" id="{FD069706-52D9-45EC-A70D-A58D41FB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字节 Seed</a:t>
            </a:r>
          </a:p>
        </p:txBody>
      </p:sp>
      <p:sp>
        <p:nvSpPr>
          <p:cNvPr id="21" name="company-body-2">
            <a:extLst xmlns:a="http://schemas.openxmlformats.org/drawingml/2006/main">
              <a:ext uri="{FF2B5EF4-FFF2-40B4-BE49-F238E27FC236}">
                <a16:creationId xmlns:a16="http://schemas.microsoft.com/office/drawing/2014/main" id="{CEB64D4A-E1AB-4D33-AB3F-7939B34B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052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覆盖23类图像编辑子任务；CLIP评一致性、第三方VLM评指令响应，再以人工可用率验证最终效果。</a:t>
            </a:r>
          </a:p>
        </p:txBody>
      </p:sp>
      <p:sp>
        <p:nvSpPr>
          <p:cNvPr id="22" name="company-tag-2">
            <a:extLst xmlns:a="http://schemas.openxmlformats.org/drawingml/2006/main">
              <a:ext uri="{FF2B5EF4-FFF2-40B4-BE49-F238E27FC236}">
                <a16:creationId xmlns:a16="http://schemas.microsoft.com/office/drawing/2014/main" id="{98D0317C-358E-4B63-9363-7DEC3645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100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65C55"/>
                </a:solidFill>
                <a:latin typeface="Microsoft YaHei"/>
                <a:ea typeface="Microsoft YaHei"/>
                <a:cs typeface="Microsoft YaHei"/>
              </a:rPr>
              <a:t>混合指标</a:t>
            </a:r>
          </a:p>
        </p:txBody>
      </p:sp>
      <p:sp>
        <p:nvSpPr>
          <p:cNvPr id="23" name="company-effect-2">
            <a:extLst xmlns:a="http://schemas.openxmlformats.org/drawingml/2006/main">
              <a:ext uri="{FF2B5EF4-FFF2-40B4-BE49-F238E27FC236}">
                <a16:creationId xmlns:a16="http://schemas.microsoft.com/office/drawing/2014/main" id="{C1FB6A55-B4DF-4A6D-9E87-32C50E1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861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可用率56.1%（上一代38.4%）；图像一致性达到4.07／5。</a:t>
            </a:r>
          </a:p>
        </p:txBody>
      </p:sp>
      <p:sp>
        <p:nvSpPr>
          <p:cNvPr id="24" name="company-row-3">
            <a:extLst xmlns:a="http://schemas.openxmlformats.org/drawingml/2006/main">
              <a:ext uri="{FF2B5EF4-FFF2-40B4-BE49-F238E27FC236}">
                <a16:creationId xmlns:a16="http://schemas.microsoft.com/office/drawing/2014/main" id="{0CB58DE0-20B9-404E-A59C-F54415E0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BFA"/>
          </a:solidFill>
          <a:ln xmlns:a="http://schemas.openxmlformats.org/drawingml/2006/main" w="9525">
            <a:solidFill>
              <a:srgbClr val="F3FBFA"/>
            </a:solidFill>
            <a:prstDash val="solid"/>
          </a:ln>
        </p:spPr>
      </p:sp>
      <p:sp>
        <p:nvSpPr>
          <p:cNvPr id="25" name="company-name-3">
            <a:extLst xmlns:a="http://schemas.openxmlformats.org/drawingml/2006/main">
              <a:ext uri="{FF2B5EF4-FFF2-40B4-BE49-F238E27FC236}">
                <a16:creationId xmlns:a16="http://schemas.microsoft.com/office/drawing/2014/main" id="{2D186F33-72A6-42AB-85E9-99B5B06E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腾讯混元</a:t>
            </a:r>
          </a:p>
        </p:txBody>
      </p:sp>
      <p:sp>
        <p:nvSpPr>
          <p:cNvPr id="26" name="company-body-3">
            <a:extLst xmlns:a="http://schemas.openxmlformats.org/drawingml/2006/main">
              <a:ext uri="{FF2B5EF4-FFF2-40B4-BE49-F238E27FC236}">
                <a16:creationId xmlns:a16="http://schemas.microsoft.com/office/drawing/2014/main" id="{8B90B609-9C24-432C-8D5C-3240BA7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9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SSAE将提示词拆成3500个关键点／12类，由MLLM逐点评分；同时以100+专业评估员开展GSB对比。</a:t>
            </a:r>
          </a:p>
        </p:txBody>
      </p:sp>
      <p:sp>
        <p:nvSpPr>
          <p:cNvPr id="27" name="company-tag-3">
            <a:extLst xmlns:a="http://schemas.openxmlformats.org/drawingml/2006/main">
              <a:ext uri="{FF2B5EF4-FFF2-40B4-BE49-F238E27FC236}">
                <a16:creationId xmlns:a16="http://schemas.microsoft.com/office/drawing/2014/main" id="{BD85BF69-B4A8-4C1F-BB38-40BE154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24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检查点＋人工</a:t>
            </a:r>
          </a:p>
        </p:txBody>
      </p:sp>
      <p:sp>
        <p:nvSpPr>
          <p:cNvPr id="28" name="company-effect-3">
            <a:extLst xmlns:a="http://schemas.openxmlformats.org/drawingml/2006/main">
              <a:ext uri="{FF2B5EF4-FFF2-40B4-BE49-F238E27FC236}">
                <a16:creationId xmlns:a16="http://schemas.microsoft.com/office/drawing/2014/main" id="{0D87B1EF-EE23-41ED-A5D0-6B09A2F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00575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GSB净胜率：对Qwen-Image-Edit为34.71%，对Seedream-4.5为10.48%。</a:t>
            </a:r>
          </a:p>
        </p:txBody>
      </p:sp>
      <p:sp>
        <p:nvSpPr>
          <p:cNvPr id="29" name="company-conclusion">
            <a:extLst xmlns:a="http://schemas.openxmlformats.org/drawingml/2006/main">
              <a:ext uri="{FF2B5EF4-FFF2-40B4-BE49-F238E27FC236}">
                <a16:creationId xmlns:a16="http://schemas.microsoft.com/office/drawing/2014/main" id="{E3BB76E9-4D93-4376-9676-90613EE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0" name="auto-text-23">
            <a:extLst xmlns:a="http://schemas.openxmlformats.org/drawingml/2006/main">
              <a:ext uri="{FF2B5EF4-FFF2-40B4-BE49-F238E27FC236}">
                <a16:creationId xmlns:a16="http://schemas.microsoft.com/office/drawing/2014/main" id="{57582B10-49EF-463B-9872-FD1CFD5A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B0FF"/>
                </a:solidFill>
                <a:latin typeface="Microsoft YaHei"/>
                <a:ea typeface="Microsoft YaHei"/>
                <a:cs typeface="Microsoft YaHei"/>
              </a:rPr>
              <a:t>行业共识</a:t>
            </a:r>
          </a:p>
        </p:txBody>
      </p:sp>
      <p:sp>
        <p:nvSpPr>
          <p:cNvPr id="31" name="auto-text-24">
            <a:extLst xmlns:a="http://schemas.openxmlformats.org/drawingml/2006/main">
              <a:ext uri="{FF2B5EF4-FFF2-40B4-BE49-F238E27FC236}">
                <a16:creationId xmlns:a16="http://schemas.microsoft.com/office/drawing/2014/main" id="{C341652D-3D62-4166-8DD5-71CCE8E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指标口径不同、不做横向排名；共同点是用自动评估＋人工校准给出可复核量化证据。</a:t>
            </a:r>
          </a:p>
        </p:txBody>
      </p:sp>
      <p:sp>
        <p:nvSpPr>
          <p:cNvPr id="32" name="source-650-0.20891904801384586">
            <a:extLst xmlns:a="http://schemas.openxmlformats.org/drawingml/2006/main">
              <a:ext uri="{FF2B5EF4-FFF2-40B4-BE49-F238E27FC236}">
                <a16:creationId xmlns:a16="http://schemas.microsoft.com/office/drawing/2014/main" id="{FBC9BB8E-8F55-48D9-BF72-A671299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defRPr>
            </a:pPr>
            <a:r>
              <a:rPr sz="825" b="0" i="1">
                <a:solidFill>
                  <a:srgbClr val="7B8794"/>
                </a:solidFill>
                <a:latin typeface="Cambria"/>
                <a:ea typeface="Cambria"/>
                <a:cs typeface="Cambria"/>
              </a:rPr>
              <a:t>公开资料：OpenAI Images 2.0；Qwen-Image-Bench；SeedEdit 3.0；HunyuanImage 3.0</a:t>
            </a:r>
          </a:p>
        </p:txBody>
      </p:sp>
    </p:spTree>
    <p:extLst>
      <p:ext uri="{BB962C8B-B14F-4D97-AF65-F5344CB8AC3E}">
        <p14:creationId xmlns:p14="http://schemas.microsoft.com/office/powerpoint/2010/main" val="322411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accent-5">
            <a:extLst xmlns:a="http://schemas.openxmlformats.org/drawingml/2006/main">
              <a:ext uri="{FF2B5EF4-FFF2-40B4-BE49-F238E27FC236}">
                <a16:creationId xmlns:a16="http://schemas.microsoft.com/office/drawing/2014/main" id="{88244A61-721A-47E8-BC74-0A1B4EF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810EEF6-72DE-4DB5-AEF9-A60B1BF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项目以任务编译为入口，形成评估、路由与数据飞轮闭环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B5C8A6DA-80A8-407C-BCA6-504775DF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auto-text-25">
            <a:extLst xmlns:a="http://schemas.openxmlformats.org/drawingml/2006/main">
              <a:ext uri="{FF2B5EF4-FFF2-40B4-BE49-F238E27FC236}">
                <a16:creationId xmlns:a16="http://schemas.microsoft.com/office/drawing/2014/main" id="{27C69CEA-0E5E-44C3-AB32-0CBD4322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输入任务描述、数据模态、用途、≤20条冷启动样例和业务红线，自动生成可执行评估配置。</a:t>
            </a:r>
          </a:p>
        </p:txBody>
      </p:sp>
      <p:sp>
        <p:nvSpPr>
          <p:cNvPr id="5" name="input-node">
            <a:extLst xmlns:a="http://schemas.openxmlformats.org/drawingml/2006/main">
              <a:ext uri="{FF2B5EF4-FFF2-40B4-BE49-F238E27FC236}">
                <a16:creationId xmlns:a16="http://schemas.microsoft.com/office/drawing/2014/main" id="{2494DFFC-24B3-495C-88BB-18B4CC6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457450" cy="36957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" name="auto-text-26">
            <a:extLst xmlns:a="http://schemas.openxmlformats.org/drawingml/2006/main">
              <a:ext uri="{FF2B5EF4-FFF2-40B4-BE49-F238E27FC236}">
                <a16:creationId xmlns:a16="http://schemas.microsoft.com/office/drawing/2014/main" id="{3FE9E863-98E6-4E5A-8728-5C02A8E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任务输入</a:t>
            </a:r>
          </a:p>
        </p:txBody>
      </p:sp>
      <p:sp>
        <p:nvSpPr>
          <p:cNvPr id="7" name="auto-text-27">
            <a:extLst xmlns:a="http://schemas.openxmlformats.org/drawingml/2006/main">
              <a:ext uri="{FF2B5EF4-FFF2-40B4-BE49-F238E27FC236}">
                <a16:creationId xmlns:a16="http://schemas.microsoft.com/office/drawing/2014/main" id="{D07A700C-7473-46CA-8BFF-AA9B225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9812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任务描述、模态与用途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≤20条冷启动样例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业务红线与专家偏好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已有模型、工具和规则</a:t>
            </a:r>
          </a:p>
        </p:txBody>
      </p:sp>
      <p:sp>
        <p:nvSpPr>
          <p:cNvPr id="8" name="input-divider">
            <a:extLst xmlns:a="http://schemas.openxmlformats.org/drawingml/2006/main">
              <a:ext uri="{FF2B5EF4-FFF2-40B4-BE49-F238E27FC236}">
                <a16:creationId xmlns:a16="http://schemas.microsoft.com/office/drawing/2014/main" id="{DEE11033-F4F7-40B9-B04D-AF50F41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981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auto-text-28">
            <a:extLst xmlns:a="http://schemas.openxmlformats.org/drawingml/2006/main">
              <a:ext uri="{FF2B5EF4-FFF2-40B4-BE49-F238E27FC236}">
                <a16:creationId xmlns:a16="http://schemas.microsoft.com/office/drawing/2014/main" id="{32100330-7999-4395-ACF3-E3D00183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必达模态</a:t>
            </a:r>
          </a:p>
        </p:txBody>
      </p:sp>
      <p:sp>
        <p:nvSpPr>
          <p:cNvPr id="10" name="auto-text-29">
            <a:extLst xmlns:a="http://schemas.openxmlformats.org/drawingml/2006/main">
              <a:ext uri="{FF2B5EF4-FFF2-40B4-BE49-F238E27FC236}">
                <a16:creationId xmlns:a16="http://schemas.microsoft.com/office/drawing/2014/main" id="{17B8811E-C849-4E90-A42E-EB3629F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文本｜图片｜视频｜跨模态组合</a:t>
            </a:r>
          </a:p>
        </p:txBody>
      </p:sp>
      <p:sp>
        <p:nvSpPr>
          <p:cNvPr id="11" name="auto-text-30">
            <a:extLst xmlns:a="http://schemas.openxmlformats.org/drawingml/2006/main">
              <a:ext uri="{FF2B5EF4-FFF2-40B4-BE49-F238E27FC236}">
                <a16:creationId xmlns:a16="http://schemas.microsoft.com/office/drawing/2014/main" id="{236924D3-5DB9-4859-9DBC-AA8AD7A2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9BB3E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compiler-node">
            <a:extLst xmlns:a="http://schemas.openxmlformats.org/drawingml/2006/main">
              <a:ext uri="{FF2B5EF4-FFF2-40B4-BE49-F238E27FC236}">
                <a16:creationId xmlns:a16="http://schemas.microsoft.com/office/drawing/2014/main" id="{B4C3FB5C-B967-4131-A4AB-3F039EF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54483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3" name="auto-text-31">
            <a:extLst xmlns:a="http://schemas.openxmlformats.org/drawingml/2006/main">
              <a:ext uri="{FF2B5EF4-FFF2-40B4-BE49-F238E27FC236}">
                <a16:creationId xmlns:a16="http://schemas.microsoft.com/office/drawing/2014/main" id="{907723C7-6B94-4197-9AD8-B9329A0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764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评估任务编译与执行</a:t>
            </a:r>
          </a:p>
        </p:txBody>
      </p:sp>
      <p:sp>
        <p:nvSpPr>
          <p:cNvPr id="14" name="auto-text-32">
            <a:extLst xmlns:a="http://schemas.openxmlformats.org/drawingml/2006/main">
              <a:ext uri="{FF2B5EF4-FFF2-40B4-BE49-F238E27FC236}">
                <a16:creationId xmlns:a16="http://schemas.microsoft.com/office/drawing/2014/main" id="{66E3FF02-90B2-4136-83D1-216C335E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任务编译</a:t>
            </a:r>
          </a:p>
        </p:txBody>
      </p:sp>
      <p:sp>
        <p:nvSpPr>
          <p:cNvPr id="15" name="auto-text-33">
            <a:extLst xmlns:a="http://schemas.openxmlformats.org/drawingml/2006/main">
              <a:ext uri="{FF2B5EF4-FFF2-40B4-BE49-F238E27FC236}">
                <a16:creationId xmlns:a16="http://schemas.microsoft.com/office/drawing/2014/main" id="{9A640499-DAA0-45F6-B375-3023D17C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638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Task Specification／Rubric／证据需求图</a:t>
            </a:r>
          </a:p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Capability Plan／Agent配置／Evaluation DAG</a:t>
            </a:r>
          </a:p>
          <a:p xmlns:a="http://schemas.openxmlformats.org/drawingml/2006/main">
            <a:pPr algn="l">
              <a:def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输出Schema／置信度及三路路由规则</a:t>
            </a:r>
          </a:p>
        </p:txBody>
      </p:sp>
      <p:sp>
        <p:nvSpPr>
          <p:cNvPr id="16" name="compiler-divider">
            <a:extLst xmlns:a="http://schemas.openxmlformats.org/drawingml/2006/main">
              <a:ext uri="{FF2B5EF4-FFF2-40B4-BE49-F238E27FC236}">
                <a16:creationId xmlns:a16="http://schemas.microsoft.com/office/drawing/2014/main" id="{40A5F8FB-C3A5-4148-A778-A8E0D80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4876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8F5"/>
          </a:solidFill>
          <a:ln xmlns:a="http://schemas.openxmlformats.org/drawingml/2006/main" w="9525">
            <a:solidFill>
              <a:srgbClr val="B7C8F5"/>
            </a:solidFill>
            <a:prstDash val="solid"/>
          </a:ln>
        </p:spPr>
      </p:sp>
      <p:sp>
        <p:nvSpPr>
          <p:cNvPr id="17" name="auto-text-34">
            <a:extLst xmlns:a="http://schemas.openxmlformats.org/drawingml/2006/main">
              <a:ext uri="{FF2B5EF4-FFF2-40B4-BE49-F238E27FC236}">
                <a16:creationId xmlns:a16="http://schemas.microsoft.com/office/drawing/2014/main" id="{120327F8-0A6B-4BE4-8C94-4DBC3D41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运行与校准</a:t>
            </a:r>
          </a:p>
        </p:txBody>
      </p:sp>
      <p:sp>
        <p:nvSpPr>
          <p:cNvPr id="18" name="runtime-no-0">
            <a:extLst xmlns:a="http://schemas.openxmlformats.org/drawingml/2006/main">
              <a:ext uri="{FF2B5EF4-FFF2-40B4-BE49-F238E27FC236}">
                <a16:creationId xmlns:a16="http://schemas.microsoft.com/office/drawing/2014/main" id="{702C0C74-E7CC-4D5C-BF25-DD9D807B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runtime-title-0">
            <a:extLst xmlns:a="http://schemas.openxmlformats.org/drawingml/2006/main">
              <a:ext uri="{FF2B5EF4-FFF2-40B4-BE49-F238E27FC236}">
                <a16:creationId xmlns:a16="http://schemas.microsoft.com/office/drawing/2014/main" id="{B0BF4E89-2EB2-4370-A868-D552456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能力注册与模型／工具匹配</a:t>
            </a:r>
          </a:p>
        </p:txBody>
      </p:sp>
      <p:sp>
        <p:nvSpPr>
          <p:cNvPr id="20" name="runtime-no-1">
            <a:extLst xmlns:a="http://schemas.openxmlformats.org/drawingml/2006/main">
              <a:ext uri="{FF2B5EF4-FFF2-40B4-BE49-F238E27FC236}">
                <a16:creationId xmlns:a16="http://schemas.microsoft.com/office/drawing/2014/main" id="{6294B719-09A4-45A5-B8BD-182AB3E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runtime-title-1">
            <a:extLst xmlns:a="http://schemas.openxmlformats.org/drawingml/2006/main">
              <a:ext uri="{FF2B5EF4-FFF2-40B4-BE49-F238E27FC236}">
                <a16:creationId xmlns:a16="http://schemas.microsoft.com/office/drawing/2014/main" id="{D8DFF37C-7E8D-46D2-AC44-29465134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后验校准＋邻域共识＋分歧检测</a:t>
            </a:r>
          </a:p>
        </p:txBody>
      </p:sp>
      <p:sp>
        <p:nvSpPr>
          <p:cNvPr id="22" name="runtime-no-2">
            <a:extLst xmlns:a="http://schemas.openxmlformats.org/drawingml/2006/main">
              <a:ext uri="{FF2B5EF4-FFF2-40B4-BE49-F238E27FC236}">
                <a16:creationId xmlns:a16="http://schemas.microsoft.com/office/drawing/2014/main" id="{C5970878-55FF-466B-B80A-8C3D841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10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runtime-title-2">
            <a:extLst xmlns:a="http://schemas.openxmlformats.org/drawingml/2006/main">
              <a:ext uri="{FF2B5EF4-FFF2-40B4-BE49-F238E27FC236}">
                <a16:creationId xmlns:a16="http://schemas.microsoft.com/office/drawing/2014/main" id="{7B52B33B-A89D-4F5E-ADCC-5EC9F2F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图文／视频证据仲裁＋置信度校准</a:t>
            </a:r>
          </a:p>
        </p:txBody>
      </p:sp>
      <p:sp>
        <p:nvSpPr>
          <p:cNvPr id="24" name="auto-text-35">
            <a:extLst xmlns:a="http://schemas.openxmlformats.org/drawingml/2006/main">
              <a:ext uri="{FF2B5EF4-FFF2-40B4-BE49-F238E27FC236}">
                <a16:creationId xmlns:a16="http://schemas.microsoft.com/office/drawing/2014/main" id="{0EF3D7DC-948D-4384-887C-A04830FF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8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86C9C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output-node">
            <a:extLst xmlns:a="http://schemas.openxmlformats.org/drawingml/2006/main">
              <a:ext uri="{FF2B5EF4-FFF2-40B4-BE49-F238E27FC236}">
                <a16:creationId xmlns:a16="http://schemas.microsoft.com/office/drawing/2014/main" id="{45CCA855-E80A-443E-BBF2-B4406E8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24000"/>
            <a:ext cx="2419350" cy="36957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6" name="auto-text-36">
            <a:extLst xmlns:a="http://schemas.openxmlformats.org/drawingml/2006/main">
              <a:ext uri="{FF2B5EF4-FFF2-40B4-BE49-F238E27FC236}">
                <a16:creationId xmlns:a16="http://schemas.microsoft.com/office/drawing/2014/main" id="{BAC36DDE-187E-4C63-823D-DA70BB78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三路输出与回流</a:t>
            </a:r>
          </a:p>
        </p:txBody>
      </p:sp>
      <p:sp>
        <p:nvSpPr>
          <p:cNvPr id="27" name="auto-text-37">
            <a:extLst xmlns:a="http://schemas.openxmlformats.org/drawingml/2006/main">
              <a:ext uri="{FF2B5EF4-FFF2-40B4-BE49-F238E27FC236}">
                <a16:creationId xmlns:a16="http://schemas.microsoft.com/office/drawing/2014/main" id="{E71FBD89-2922-43C1-89E3-829CA7D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1943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AUTO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AUTO REJECT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28" name="output-divider">
            <a:extLst xmlns:a="http://schemas.openxmlformats.org/drawingml/2006/main">
              <a:ext uri="{FF2B5EF4-FFF2-40B4-BE49-F238E27FC236}">
                <a16:creationId xmlns:a16="http://schemas.microsoft.com/office/drawing/2014/main" id="{B1730B71-3043-407C-A9C0-FA64D07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943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DDD8"/>
          </a:solidFill>
          <a:ln xmlns:a="http://schemas.openxmlformats.org/drawingml/2006/main" w="9525">
            <a:solidFill>
              <a:srgbClr val="B6DDD8"/>
            </a:solidFill>
            <a:prstDash val="solid"/>
          </a:ln>
        </p:spPr>
      </p:sp>
      <p:sp>
        <p:nvSpPr>
          <p:cNvPr id="29" name="auto-text-38">
            <a:extLst xmlns:a="http://schemas.openxmlformats.org/drawingml/2006/main">
              <a:ext uri="{FF2B5EF4-FFF2-40B4-BE49-F238E27FC236}">
                <a16:creationId xmlns:a16="http://schemas.microsoft.com/office/drawing/2014/main" id="{6457AC00-AA81-41BC-B610-2C0AF8E9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943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结构化证据与报告</a:t>
            </a:r>
          </a:p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API／SDK与迁移资产</a:t>
            </a:r>
          </a:p>
          <a:p xmlns:a="http://schemas.openxmlformats.org/drawingml/2006/main">
            <a:pPr algn="ctr">
              <a:def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V0／V1／V2数据飞轮</a:t>
            </a:r>
          </a:p>
        </p:txBody>
      </p:sp>
      <p:sp>
        <p:nvSpPr>
          <p:cNvPr id="30" name="scenario-band">
            <a:extLst xmlns:a="http://schemas.openxmlformats.org/drawingml/2006/main">
              <a:ext uri="{FF2B5EF4-FFF2-40B4-BE49-F238E27FC236}">
                <a16:creationId xmlns:a16="http://schemas.microsoft.com/office/drawing/2014/main" id="{F82A359E-4F01-4562-9EF2-DCFE0F70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31" name="auto-text-39">
            <a:extLst xmlns:a="http://schemas.openxmlformats.org/drawingml/2006/main">
              <a:ext uri="{FF2B5EF4-FFF2-40B4-BE49-F238E27FC236}">
                <a16:creationId xmlns:a16="http://schemas.microsoft.com/office/drawing/2014/main" id="{52635689-C22E-41EC-B002-9D9C3071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建议图像试点：多图编辑＋AIGC图库　｜　验收另含未见任务与视频边界</a:t>
            </a:r>
          </a:p>
        </p:txBody>
      </p:sp>
      <p:sp>
        <p:nvSpPr>
          <p:cNvPr id="32" name="current-pipeline-frame">
            <a:extLst xmlns:a="http://schemas.openxmlformats.org/drawingml/2006/main">
              <a:ext uri="{FF2B5EF4-FFF2-40B4-BE49-F238E27FC236}">
                <a16:creationId xmlns:a16="http://schemas.microsoft.com/office/drawing/2014/main" id="{0E98BA59-D496-407C-B92D-093ECFC1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3105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AAB5C0"/>
            </a:solidFill>
            <a:prstDash val="solid"/>
          </a:ln>
        </p:spPr>
      </p:sp>
      <p:sp>
        <p:nvSpPr>
          <p:cNvPr id="33" name="current-pipeline-label">
            <a:extLst xmlns:a="http://schemas.openxmlformats.org/drawingml/2006/main">
              <a:ext uri="{FF2B5EF4-FFF2-40B4-BE49-F238E27FC236}">
                <a16:creationId xmlns:a16="http://schemas.microsoft.com/office/drawing/2014/main" id="{7AA6EF7F-32AA-4D15-9B90-B95B94FB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911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E6C7A"/>
                </a:solidFill>
                <a:latin typeface="Microsoft YaHei"/>
                <a:ea typeface="Microsoft YaHei"/>
                <a:cs typeface="Microsoft YaHei"/>
              </a:rPr>
              <a:t>可选｜现有质检Pipeline截图</a:t>
            </a:r>
          </a:p>
        </p:txBody>
      </p:sp>
      <p:sp>
        <p:nvSpPr>
          <p:cNvPr id="34" name="current-pipeline-sub">
            <a:extLst xmlns:a="http://schemas.openxmlformats.org/drawingml/2006/main">
              <a:ext uri="{FF2B5EF4-FFF2-40B4-BE49-F238E27FC236}">
                <a16:creationId xmlns:a16="http://schemas.microsoft.com/office/drawing/2014/main" id="{D0BFDE80-8D4C-42E3-B602-823A52D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8959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如无材料可删除此框</a:t>
            </a:r>
          </a:p>
        </p:txBody>
      </p:sp>
      <p:sp>
        <p:nvSpPr>
          <p:cNvPr id="35" name="auto-text-40">
            <a:extLst xmlns:a="http://schemas.openxmlformats.org/drawingml/2006/main">
              <a:ext uri="{FF2B5EF4-FFF2-40B4-BE49-F238E27FC236}">
                <a16:creationId xmlns:a16="http://schemas.microsoft.com/office/drawing/2014/main" id="{B82C0C31-8150-4ADC-B7BF-14075F16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边界：乙方交付原型、API／SDK、模型适配与联调；甲方负责生产级平台、批处理、可视化和运维。</a:t>
            </a:r>
          </a:p>
        </p:txBody>
      </p:sp>
    </p:spTree>
    <p:extLst>
      <p:ext uri="{BB962C8B-B14F-4D97-AF65-F5344CB8AC3E}">
        <p14:creationId xmlns:p14="http://schemas.microsoft.com/office/powerpoint/2010/main" val="310921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cent-6">
            <a:extLst xmlns:a="http://schemas.openxmlformats.org/drawingml/2006/main">
              <a:ext uri="{FF2B5EF4-FFF2-40B4-BE49-F238E27FC236}">
                <a16:creationId xmlns:a16="http://schemas.microsoft.com/office/drawing/2014/main" id="{52D40687-6443-46E2-B5FE-76F9E60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A7F7B11-E6D9-4548-A402-B7F9B612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合作项目将把临时质检方案沉淀为可复用、可验证的质量能力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BDC9F46-3F6D-4017-AD3B-AA23F0A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auto-text-41">
            <a:extLst xmlns:a="http://schemas.openxmlformats.org/drawingml/2006/main">
              <a:ext uri="{FF2B5EF4-FFF2-40B4-BE49-F238E27FC236}">
                <a16:creationId xmlns:a16="http://schemas.microsoft.com/office/drawing/2014/main" id="{3938D22C-BA6B-463A-9381-70483AD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78A"/>
                </a:solidFill>
                <a:latin typeface="Microsoft YaHei"/>
                <a:ea typeface="Microsoft YaHei"/>
                <a:cs typeface="Microsoft YaHei"/>
              </a:rPr>
              <a:t>项目价值不仅是提高一次筛选准确率，更重要的是形成可服务文本、图片、视频任务的共同能力。</a:t>
            </a:r>
          </a:p>
        </p:txBody>
      </p:sp>
      <p:sp>
        <p:nvSpPr>
          <p:cNvPr id="5" name="value-0">
            <a:extLst xmlns:a="http://schemas.openxmlformats.org/drawingml/2006/main">
              <a:ext uri="{FF2B5EF4-FFF2-40B4-BE49-F238E27FC236}">
                <a16:creationId xmlns:a16="http://schemas.microsoft.com/office/drawing/2014/main" id="{22624A7D-3332-4749-B405-D98C438B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6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BACD6797-DCF7-4216-A8B1-516E2580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7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DFE93F65-F863-4799-8081-947DDBE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新任务配置工时显著降低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高置信样本实现选择性自动化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成熟任务人工质检量目标降低≥50%</a:t>
            </a:r>
          </a:p>
        </p:txBody>
      </p:sp>
      <p:sp>
        <p:nvSpPr>
          <p:cNvPr id="8" name="value-1">
            <a:extLst xmlns:a="http://schemas.openxmlformats.org/drawingml/2006/main">
              <a:ext uri="{FF2B5EF4-FFF2-40B4-BE49-F238E27FC236}">
                <a16:creationId xmlns:a16="http://schemas.microsoft.com/office/drawing/2014/main" id="{8DC17070-0ECA-446F-81E5-6C701B0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E7F6F3"/>
            </a:solidFill>
            <a:prstDash val="solid"/>
          </a:ln>
        </p:spPr>
      </p:sp>
      <p:sp>
        <p:nvSpPr>
          <p:cNvPr id="9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D9CE6FD4-9ACD-4E5C-95DF-AE7FA40F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技术价值</a:t>
            </a:r>
          </a:p>
        </p:txBody>
      </p:sp>
      <p:sp>
        <p:nvSpPr>
          <p:cNvPr id="10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6A405B54-38DA-48C9-BBE7-6941724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统一任务规范、Rubric、DAG与Schema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组合校准、共识、工具与证据仲裁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用冻结阈值验证风险—覆盖关系</a:t>
            </a:r>
          </a:p>
        </p:txBody>
      </p:sp>
      <p:sp>
        <p:nvSpPr>
          <p:cNvPr id="11" name="value-2">
            <a:extLst xmlns:a="http://schemas.openxmlformats.org/drawingml/2006/main">
              <a:ext uri="{FF2B5EF4-FFF2-40B4-BE49-F238E27FC236}">
                <a16:creationId xmlns:a16="http://schemas.microsoft.com/office/drawing/2014/main" id="{2F5F178A-F532-45D2-81A5-B7A8D7E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3147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FF5DE"/>
            </a:solidFill>
            <a:prstDash val="solid"/>
          </a:ln>
        </p:spPr>
      </p:sp>
      <p:sp>
        <p:nvSpPr>
          <p:cNvPr id="12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27E3F522-6AD1-477F-819D-6DAEEFDE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88919"/>
                </a:solidFill>
                <a:latin typeface="Microsoft YaHei"/>
                <a:ea typeface="Microsoft YaHei"/>
                <a:cs typeface="Microsoft YaHei"/>
              </a:rPr>
              <a:t>长期资产</a:t>
            </a:r>
          </a:p>
        </p:txBody>
      </p:sp>
      <p:sp>
        <p:nvSpPr>
          <p:cNvPr id="13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C7DB1C5D-B7E9-4993-8C66-B6E06B1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沉淀≥3套典型任务迁移资产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形成API／SDK与≥3类模型适配</a:t>
            </a:r>
          </a:p>
          <a:p xmlns:a="http://schemas.openxmlformats.org/drawingml/2006/main">
            <a:pPr algn="l">
              <a:def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• 积累V0／V1／V2数据版本及论文专利</a:t>
            </a:r>
          </a:p>
        </p:txBody>
      </p:sp>
      <p:sp>
        <p:nvSpPr>
          <p:cNvPr id="14" name="auto-text-42">
            <a:extLst xmlns:a="http://schemas.openxmlformats.org/drawingml/2006/main">
              <a:ext uri="{FF2B5EF4-FFF2-40B4-BE49-F238E27FC236}">
                <a16:creationId xmlns:a16="http://schemas.microsoft.com/office/drawing/2014/main" id="{1D9DEE9C-AA72-4FFB-B83B-31AE83DD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2263A"/>
                </a:solidFill>
                <a:latin typeface="Microsoft YaHei"/>
                <a:ea typeface="Microsoft YaHei"/>
                <a:cs typeface="Microsoft YaHei"/>
              </a:rPr>
              <a:t>SOW项目目标（非现有成果）</a:t>
            </a:r>
          </a:p>
        </p:txBody>
      </p:sp>
      <p:sp>
        <p:nvSpPr>
          <p:cNvPr id="15" name="metric-0">
            <a:extLst xmlns:a="http://schemas.openxmlformats.org/drawingml/2006/main">
              <a:ext uri="{FF2B5EF4-FFF2-40B4-BE49-F238E27FC236}">
                <a16:creationId xmlns:a16="http://schemas.microsoft.com/office/drawing/2014/main" id="{1E5A2950-4EDA-45EF-B057-5A9ADAFC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6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C8D87DDE-30D5-4C95-8115-8D48C439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≥3类／10+</a:t>
            </a:r>
          </a:p>
        </p:txBody>
      </p:sp>
      <p:sp>
        <p:nvSpPr>
          <p:cNvPr id="1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0DA8427F-FAE6-420A-AD64-367CB695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未见任务冷启动</a:t>
            </a:r>
          </a:p>
        </p:txBody>
      </p:sp>
      <p:sp>
        <p:nvSpPr>
          <p:cNvPr id="18" name="metric-1">
            <a:extLst xmlns:a="http://schemas.openxmlformats.org/drawingml/2006/main">
              <a:ext uri="{FF2B5EF4-FFF2-40B4-BE49-F238E27FC236}">
                <a16:creationId xmlns:a16="http://schemas.microsoft.com/office/drawing/2014/main" id="{DF5C50A6-1DFE-4B1C-94C8-ED4DEA65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F4B6CAAB-5D4D-4E95-B6E1-22CA8BA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≥82%</a:t>
            </a:r>
          </a:p>
        </p:txBody>
      </p:sp>
      <p:sp>
        <p:nvSpPr>
          <p:cNvPr id="2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C386807-AE53-4A47-A15E-1F65876A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BA与低质量Recall</a:t>
            </a:r>
          </a:p>
        </p:txBody>
      </p:sp>
      <p:sp>
        <p:nvSpPr>
          <p:cNvPr id="21" name="metric-2">
            <a:extLst xmlns:a="http://schemas.openxmlformats.org/drawingml/2006/main">
              <a:ext uri="{FF2B5EF4-FFF2-40B4-BE49-F238E27FC236}">
                <a16:creationId xmlns:a16="http://schemas.microsoft.com/office/drawing/2014/main" id="{3BA494BF-7039-4F96-BD1E-83743FD9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2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55698CFA-8E10-40D1-96C9-A970B22D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≥50%</a:t>
            </a:r>
          </a:p>
        </p:txBody>
      </p:sp>
      <p:sp>
        <p:nvSpPr>
          <p:cNvPr id="2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EA80A403-2EAF-41A5-A257-B57F64BF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自动处置Coverage</a:t>
            </a:r>
          </a:p>
        </p:txBody>
      </p:sp>
      <p:sp>
        <p:nvSpPr>
          <p:cNvPr id="24" name="metric-3">
            <a:extLst xmlns:a="http://schemas.openxmlformats.org/drawingml/2006/main">
              <a:ext uri="{FF2B5EF4-FFF2-40B4-BE49-F238E27FC236}">
                <a16:creationId xmlns:a16="http://schemas.microsoft.com/office/drawing/2014/main" id="{142FA792-1D33-44E0-A080-A44D3FE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5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459DBB37-547F-4B26-B9E8-87FAEE75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≥90%／0</a:t>
            </a:r>
          </a:p>
        </p:txBody>
      </p:sp>
      <p:sp>
        <p:nvSpPr>
          <p:cNvPr id="2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C84AE70E-C7D9-44DE-BD59-CB321EB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自动Accuracy／红线通过</a:t>
            </a:r>
          </a:p>
        </p:txBody>
      </p:sp>
      <p:sp>
        <p:nvSpPr>
          <p:cNvPr id="27" name="metric-4">
            <a:extLst xmlns:a="http://schemas.openxmlformats.org/drawingml/2006/main">
              <a:ext uri="{FF2B5EF4-FFF2-40B4-BE49-F238E27FC236}">
                <a16:creationId xmlns:a16="http://schemas.microsoft.com/office/drawing/2014/main" id="{911B2FCC-E933-4E1F-8AEF-CBE120BC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362450"/>
            <a:ext cx="205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8" name="metric-stat-4">
            <a:extLst xmlns:a="http://schemas.openxmlformats.org/drawingml/2006/main">
              <a:ext uri="{FF2B5EF4-FFF2-40B4-BE49-F238E27FC236}">
                <a16:creationId xmlns:a16="http://schemas.microsoft.com/office/drawing/2014/main" id="{8450B51B-9E99-432B-808D-C2DB120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44767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59A91"/>
                </a:solidFill>
                <a:latin typeface="Microsoft YaHei"/>
                <a:ea typeface="Microsoft YaHei"/>
                <a:cs typeface="Microsoft YaHei"/>
              </a:rPr>
              <a:t>≥2轮</a:t>
            </a:r>
          </a:p>
        </p:txBody>
      </p:sp>
      <p:sp>
        <p:nvSpPr>
          <p:cNvPr id="29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29589415-F8C5-4A93-916D-D8E84FCA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4895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飞轮；≥2/3种子正向</a:t>
            </a:r>
          </a:p>
        </p:txBody>
      </p:sp>
      <p:sp>
        <p:nvSpPr>
          <p:cNvPr id="30" name="auto-text-43">
            <a:extLst xmlns:a="http://schemas.openxmlformats.org/drawingml/2006/main">
              <a:ext uri="{FF2B5EF4-FFF2-40B4-BE49-F238E27FC236}">
                <a16:creationId xmlns:a16="http://schemas.microsoft.com/office/drawing/2014/main" id="{1DD49AC2-865C-4500-862D-037AF32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1">
                <a:solidFill>
                  <a:srgbClr val="8A98A8"/>
                </a:solidFill>
                <a:latin typeface="Microsoft YaHei"/>
                <a:ea typeface="Microsoft YaHei"/>
                <a:cs typeface="Microsoft YaHei"/>
              </a:rPr>
              <a:t>待双方冻结：视频任务边界／红线定义／人工审核Baseline／数据飞轮主指标与最低增益</a:t>
            </a:r>
          </a:p>
        </p:txBody>
      </p:sp>
      <p:sp>
        <p:nvSpPr>
          <p:cNvPr id="31" name="approval-band">
            <a:extLst xmlns:a="http://schemas.openxmlformats.org/drawingml/2006/main">
              <a:ext uri="{FF2B5EF4-FFF2-40B4-BE49-F238E27FC236}">
                <a16:creationId xmlns:a16="http://schemas.microsoft.com/office/drawing/2014/main" id="{867ADA5F-1118-4085-9FE9-F8F7A26A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</p:sp>
      <p:sp>
        <p:nvSpPr>
          <p:cNvPr id="32" name="auto-text-44">
            <a:extLst xmlns:a="http://schemas.openxmlformats.org/drawingml/2006/main">
              <a:ext uri="{FF2B5EF4-FFF2-40B4-BE49-F238E27FC236}">
                <a16:creationId xmlns:a16="http://schemas.microsoft.com/office/drawing/2014/main" id="{AE44CF16-4AEA-41F0-B067-43FEBA94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建议批准本次合作：以图像试点启动，并分阶段验证新任务适配、自动化分流与数据飞轮收益。</a:t>
            </a:r>
          </a:p>
        </p:txBody>
      </p:sp>
    </p:spTree>
    <p:extLst>
      <p:ext uri="{BB962C8B-B14F-4D97-AF65-F5344CB8AC3E}">
        <p14:creationId xmlns:p14="http://schemas.microsoft.com/office/powerpoint/2010/main" val="1557030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2026-08-06T07:32:41.5640000Z</dcterms:created>
  <dcterms:modified xsi:type="dcterms:W3CDTF">2026-08-06T07:32:41.5640000Z</dcterms:modified>
</coreProperties>
</file>