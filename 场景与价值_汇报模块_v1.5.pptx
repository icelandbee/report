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62e898e4ee4740" /><Relationship Type="http://schemas.openxmlformats.org/officeDocument/2006/relationships/extended-properties" Target="/docProps/app.xml" Id="R939b0687a6424475" /><Relationship Type="http://schemas.openxmlformats.org/officeDocument/2006/relationships/officeDocument" Target="/ppt/presentation.xml" Id="R1eb57bcc616841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8dbf4e2d4f4ab1"/>
  </p:sldMasterIdLst>
  <p:notesMasterIdLst>
    <p:notesMasterId xmlns:r="http://schemas.openxmlformats.org/officeDocument/2006/relationships" r:id="R26609afa80574203"/>
  </p:notesMasterIdLst>
  <p:sldIdLst>
    <p:sldId xmlns:r="http://schemas.openxmlformats.org/officeDocument/2006/relationships" id="256" r:id="R0c22935755044f30"/>
    <p:sldId xmlns:r="http://schemas.openxmlformats.org/officeDocument/2006/relationships" id="257" r:id="Rb9d5fdd1f2d34023"/>
    <p:sldId xmlns:r="http://schemas.openxmlformats.org/officeDocument/2006/relationships" id="258" r:id="Rf4524dba5a56490d"/>
    <p:sldId xmlns:r="http://schemas.openxmlformats.org/officeDocument/2006/relationships" id="259" r:id="R03872f0a6c8a4b3b"/>
    <p:sldId xmlns:r="http://schemas.openxmlformats.org/officeDocument/2006/relationships" id="260" r:id="R1f175d541d584f3f"/>
    <p:sldId xmlns:r="http://schemas.openxmlformats.org/officeDocument/2006/relationships" id="261" r:id="Rd4e2d744d8004f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469048524d4b72" /><Relationship Type="http://schemas.openxmlformats.org/officeDocument/2006/relationships/slideMaster" Target="/ppt/slideMasters/slideMaster1.xml" Id="R6e8dbf4e2d4f4ab1" /><Relationship Type="http://schemas.openxmlformats.org/officeDocument/2006/relationships/notesMaster" Target="/ppt/notesMasters/notesMaster1.xml" Id="R26609afa80574203" /><Relationship Type="http://schemas.openxmlformats.org/officeDocument/2006/relationships/presProps" Target="/ppt/presProps.xml" Id="R1284ff4a78bc4d49" /><Relationship Type="http://schemas.openxmlformats.org/officeDocument/2006/relationships/tableStyles" Target="/ppt/tableStyles.xml" Id="Rf393bdad300f4b1b" /><Relationship Type="http://schemas.openxmlformats.org/officeDocument/2006/relationships/slide" Target="/ppt/slides/slide1.xml" Id="R0c22935755044f30" /><Relationship Type="http://schemas.openxmlformats.org/officeDocument/2006/relationships/slide" Target="/ppt/slides/slide2.xml" Id="Rb9d5fdd1f2d34023" /><Relationship Type="http://schemas.openxmlformats.org/officeDocument/2006/relationships/slide" Target="/ppt/slides/slide3.xml" Id="Rf4524dba5a56490d" /><Relationship Type="http://schemas.openxmlformats.org/officeDocument/2006/relationships/slide" Target="/ppt/slides/slide4.xml" Id="R03872f0a6c8a4b3b" /><Relationship Type="http://schemas.openxmlformats.org/officeDocument/2006/relationships/slide" Target="/ppt/slides/slide5.xml" Id="R1f175d541d584f3f" /><Relationship Type="http://schemas.openxmlformats.org/officeDocument/2006/relationships/slide" Target="/ppt/slides/slide6.xml" Id="Rd4e2d744d8004f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0a9fdbbff94a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45c980518c4bee" /><Relationship Type="http://schemas.openxmlformats.org/officeDocument/2006/relationships/notesMaster" Target="/ppt/notesMasters/notesMaster1.xml" Id="R42edcbd1591447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6e945549904d1d" /><Relationship Type="http://schemas.openxmlformats.org/officeDocument/2006/relationships/notesMaster" Target="/ppt/notesMasters/notesMaster1.xml" Id="Rfeb1f5bd550e49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0e89edf4df47df" /><Relationship Type="http://schemas.openxmlformats.org/officeDocument/2006/relationships/notesMaster" Target="/ppt/notesMasters/notesMaster1.xml" Id="R89a2f537f24046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8c50cb5ae94a54" /><Relationship Type="http://schemas.openxmlformats.org/officeDocument/2006/relationships/notesMaster" Target="/ppt/notesMasters/notesMaster1.xml" Id="R8cbb5b8db6b945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05ea34421148a0" /><Relationship Type="http://schemas.openxmlformats.org/officeDocument/2006/relationships/notesMaster" Target="/ppt/notesMasters/notesMaster1.xml" Id="R448c3ba3fc7b41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52f15c9d1c4c4d" /><Relationship Type="http://schemas.openxmlformats.org/officeDocument/2006/relationships/notesMaster" Target="/ppt/notesMasters/notesMaster1.xml" Id="Rea83137e01fa42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当前已有多图编辑、盲超分、颜色标注和AIGC图库等多个图像项目。这里用多图编辑和图库两个代表场景说明：多图编辑关注参考内容是否正确迁移、人物是否保持、非目标区域是否被破坏；图库关注异常、美学和构图。它们是首批图像试点，但最新版SOW的能力范围进一步面向文本、图片、视频及跨模态组合。由此可见，数据质量不是一套固定分数，而是与任务、模态和使用目标直接相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方式能够解决眼前问题，但每次都从讨论标准、编写Prompt、人工抽检开始。最大问题不是某一个Prompt写得不好，而是缺少统一的任务定义、质量维度、能力匹配、执行规范和校准方法。新增视频或其他模态后，这种重复建设会进一步放大。右侧预留了内部Prompt和评估分歧案例，后续替换后可以直观说明现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将学术趋势对齐最新版SOW。第一条路线是后验校准：已有评分器会有偏差，但可以利用少量验证样本修正分数、权重、阈值与置信度。第二条路线是邻域共识：对于细粒度或长尾偏好，不依赖一次Prompt，而是围绕目标偏好生成相邻配置，再聚合或保守选择。第三条路线进一步包含证据核验、选择性自动化和数据飞轮：模型结论回到对象、属性、区域、OCR、视频关键帧等证据上核验，再根据置信度进入自动通过、自动拒绝或人工复核，最终通过下游训练收益验证筛选策略。VLM Judge位于这些方法的底层，不是项目的全部。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Improving Data Efficiency via Curating LLM-Driven Rating Systems, ICLR 2025: https://proceedings.iclr.cc/paper_files/paper/2025/hash/faa6144674bce872365874c576b4f56f-Abstract-Conference.html</a:t>
            </a:r>
          </a:p>
          <a:p xmlns:a="http://schemas.openxmlformats.org/drawingml/2006/main">
            <a:r>
              <a:t>- Robust Preference Alignment via Directional Neighborhood Consensus, ICLR 2026: https://iclr.cc/virtual/2026/poster/10007833</a:t>
            </a:r>
          </a:p>
          <a:p xmlns:a="http://schemas.openxmlformats.org/drawingml/2006/main">
            <a:r>
              <a:t>- Trust but Verify: Programmatic VLM Evaluation in the Wild, ICCV 2025: https://openaccess.thecvf.com/content/ICCV2025/html/Prabhu_Trust_but_Verify_Programmatic_VLM_Evaluation_in_the_Wild_ICCV_2025_paper.html</a:t>
            </a:r>
          </a:p>
          <a:p xmlns:a="http://schemas.openxmlformats.org/drawingml/2006/main">
            <a:r>
              <a:t>- Do Humans and Machines Have the Same Eyes?, AAAI 2025: https://arxiv.org/abs/2304.08733</a:t>
            </a:r>
          </a:p>
          <a:p xmlns:a="http://schemas.openxmlformats.org/drawingml/2006/main">
            <a:r>
              <a:t>- Calibrating MLLM-as-a-Judge via Multimodal Bayesian Prompt Ensembles, ICCV 2025: https://arxiv.org/abs/2509.08777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强调哪个公司排名第一，而是观察头部团队采用了什么方法。四家的公开路径虽然各有侧重，但结构高度一致：先把质量拆成场景、维度或检查点，再组合自动评价器，并用人工数据做校验。Qwen发布了专用图像Judge和分层评价体系；腾讯把提示词拆成3500个关键点。对本项目的启示是：图像领域已经形成任务标准、工具组合、人工校准和反馈回流的方法框架，下一步需要将同一抽象扩展到文本、图片、视频及跨模态任务，并增加置信度路由和数据飞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https://deploymentsafety.openai.com/chatgpt-images-2-0/automated-evaluations-and-adversarial-testing</a:t>
            </a:r>
          </a:p>
          <a:p xmlns:a="http://schemas.openxmlformats.org/drawingml/2006/main">
            <a:r>
              <a:t>- https://github.com/QwenLM/Qwen-Image-Bench</a:t>
            </a:r>
          </a:p>
          <a:p xmlns:a="http://schemas.openxmlformats.org/drawingml/2006/main">
            <a:r>
              <a:t>- https://seed.bytedance.com/en/blog/bytedance-released-image-editing-model-seededit-3-0-enhanced-image-consistency-and-usability-rate</a:t>
            </a:r>
          </a:p>
          <a:p xmlns:a="http://schemas.openxmlformats.org/drawingml/2006/main">
            <a:r>
              <a:t>- https://github.com/Tencent-Hunyuan/HunyuanImage-3.0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最新版SOW的核心增量是评估任务编译。左侧只需要输入任务描述、数据模态与用途、不超过20条冷启动样例以及业务红线；中间自动生成Task Specification、Rubric、证据需求图、能力计划、Agent配置、Evaluation DAG、结果Schema和三路路由规则，再通过能力注册、模型工具匹配、后验校准、邻域共识和图文视频证据仲裁执行评估；右侧根据冻结阈值进入自动通过、自动拒绝或人工复核，并将结果、证据和失败归因回流到V0、V1、V2数据飞轮。项目不是重建生产级平台，乙方负责原型、API、SDK、模型适配与联调，甲方负责生产级平台和运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版SOW将验收归纳为五项核心结果：新任务适配、基础评估效果、自动化分流、训练收益、交付与复现。页面中的数字是SOW目标，不是现有成绩。冷启动需要覆盖不少于3类开发阶段未见任务并合计不少于10个实例；业务试点Balanced Accuracy和低质量Recall宏平均均不低于82%；同一冻结阈值下自动处置Coverage不低于50%、Accuracy不低于90%、红线样本自动通过数为0；数据飞轮不少于2轮，关键实验至少3个随机种子且至少三分之二正向提升。建议以多图编辑和AIGC图库作为图像试点启动，同时尽快冻结视频任务、人工审核Baseline和数据飞轮主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486c2b23048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e5f7ad8d3f48ae" /><Relationship Type="http://schemas.openxmlformats.org/officeDocument/2006/relationships/slideLayout" Target="/ppt/slideLayouts/slideLayout1.xml" Id="R262a99ff0eb444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2a99ff0eb444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13289e31d43a3" /><Relationship Type="http://schemas.openxmlformats.org/officeDocument/2006/relationships/notesSlide" Target="/ppt/notesSlides/notesSlide1.xml" Id="Redf0954728684b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453afced94e85" /><Relationship Type="http://schemas.openxmlformats.org/officeDocument/2006/relationships/notesSlide" Target="/ppt/notesSlides/notesSlide2.xml" Id="R5f55c1e9872144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bd21098d44cc5" /><Relationship Type="http://schemas.openxmlformats.org/officeDocument/2006/relationships/notesSlide" Target="/ppt/notesSlides/notesSlide3.xml" Id="Rd9fd0fa76b0b4d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2599fe7de4c8b" /><Relationship Type="http://schemas.openxmlformats.org/officeDocument/2006/relationships/notesSlide" Target="/ppt/notesSlides/notesSlide4.xml" Id="Rf45a3cd0f27441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98f3a13a14128" /><Relationship Type="http://schemas.openxmlformats.org/officeDocument/2006/relationships/notesSlide" Target="/ppt/notesSlides/notesSlide5.xml" Id="R0d87197e01bc43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82407651f4cd8" /><Relationship Type="http://schemas.openxmlformats.org/officeDocument/2006/relationships/notesSlide" Target="/ppt/notesSlides/notesSlide6.xml" Id="R42606df7412646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accent-1">
            <a:extLst xmlns:a="http://schemas.openxmlformats.org/drawingml/2006/main">
              <a:ext uri="{FF2B5EF4-FFF2-40B4-BE49-F238E27FC236}">
                <a16:creationId xmlns:a16="http://schemas.microsoft.com/office/drawing/2014/main" id="{BE342C46-C0E1-40AA-8F47-67C82EAB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155E86FC-5C0A-432F-9FC4-D64C9982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不同任务对质量的要求不同，却依赖同一类底层评估能力</a:t>
            </a:r>
          </a:p>
        </p:txBody>
      </p:sp>
      <p:sp>
        <p:nvSpPr>
          <p:cNvPr id="3" name="page-1">
            <a:extLst xmlns:a="http://schemas.openxmlformats.org/drawingml/2006/main">
              <a:ext uri="{FF2B5EF4-FFF2-40B4-BE49-F238E27FC236}">
                <a16:creationId xmlns:a16="http://schemas.microsoft.com/office/drawing/2014/main" id="{0C2DBC1D-4CAB-4607-9D73-FC3A5AA8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auto-text-1">
            <a:extLst xmlns:a="http://schemas.openxmlformats.org/drawingml/2006/main">
              <a:ext uri="{FF2B5EF4-FFF2-40B4-BE49-F238E27FC236}">
                <a16:creationId xmlns:a16="http://schemas.microsoft.com/office/drawing/2014/main" id="{ED69F6B3-E7B3-4E10-ADC4-100BA1D8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以多图编辑和AIGC图库作为首批图像试点；合作能力面向文本、图片、视频及跨模态组合复用。</a:t>
            </a:r>
          </a:p>
        </p:txBody>
      </p:sp>
      <p:sp>
        <p:nvSpPr>
          <p:cNvPr id="5" name="auto-text-2">
            <a:extLst xmlns:a="http://schemas.openxmlformats.org/drawingml/2006/main">
              <a:ext uri="{FF2B5EF4-FFF2-40B4-BE49-F238E27FC236}">
                <a16:creationId xmlns:a16="http://schemas.microsoft.com/office/drawing/2014/main" id="{52F3E48C-328C-4101-BC25-D8B565E4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多图编辑</a:t>
            </a:r>
          </a:p>
        </p:txBody>
      </p:sp>
      <p:sp>
        <p:nvSpPr>
          <p:cNvPr id="6" name="auto-text-3">
            <a:extLst xmlns:a="http://schemas.openxmlformats.org/drawingml/2006/main">
              <a:ext uri="{FF2B5EF4-FFF2-40B4-BE49-F238E27FC236}">
                <a16:creationId xmlns:a16="http://schemas.microsoft.com/office/drawing/2014/main" id="{57A6697A-7C95-4D5F-A0BB-BA73C4F0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240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AIGC图库</a:t>
            </a:r>
          </a:p>
        </p:txBody>
      </p:sp>
      <p:sp>
        <p:nvSpPr>
          <p:cNvPr id="7" name="edit-media-surface">
            <a:extLst xmlns:a="http://schemas.openxmlformats.org/drawingml/2006/main">
              <a:ext uri="{FF2B5EF4-FFF2-40B4-BE49-F238E27FC236}">
                <a16:creationId xmlns:a16="http://schemas.microsoft.com/office/drawing/2014/main" id="{3D4F3FE0-D2C0-4639-A5A4-6FD523E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4292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B9C9F4"/>
            </a:solidFill>
            <a:prstDash val="solid"/>
          </a:ln>
        </p:spPr>
      </p:sp>
      <p:sp>
        <p:nvSpPr>
          <p:cNvPr id="8" name="edit-source-frame">
            <a:extLst xmlns:a="http://schemas.openxmlformats.org/drawingml/2006/main">
              <a:ext uri="{FF2B5EF4-FFF2-40B4-BE49-F238E27FC236}">
                <a16:creationId xmlns:a16="http://schemas.microsoft.com/office/drawing/2014/main" id="{D60975A8-7D8D-4A3D-A46C-B08B4C08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9" name="edit-source-label">
            <a:extLst xmlns:a="http://schemas.openxmlformats.org/drawingml/2006/main">
              <a:ext uri="{FF2B5EF4-FFF2-40B4-BE49-F238E27FC236}">
                <a16:creationId xmlns:a16="http://schemas.microsoft.com/office/drawing/2014/main" id="{A30A12B4-EAA1-4524-BA5A-4A102080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原图</a:t>
            </a:r>
          </a:p>
        </p:txBody>
      </p:sp>
      <p:sp>
        <p:nvSpPr>
          <p:cNvPr id="10" name="edit-source-sub">
            <a:extLst xmlns:a="http://schemas.openxmlformats.org/drawingml/2006/main">
              <a:ext uri="{FF2B5EF4-FFF2-40B4-BE49-F238E27FC236}">
                <a16:creationId xmlns:a16="http://schemas.microsoft.com/office/drawing/2014/main" id="{84F7D280-2A04-4CC4-8747-52BEDF31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11" name="edit-reference-frame">
            <a:extLst xmlns:a="http://schemas.openxmlformats.org/drawingml/2006/main">
              <a:ext uri="{FF2B5EF4-FFF2-40B4-BE49-F238E27FC236}">
                <a16:creationId xmlns:a16="http://schemas.microsoft.com/office/drawing/2014/main" id="{0EB66C47-DD35-46FF-BC23-7D02EB27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90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12" name="edit-reference-label">
            <a:extLst xmlns:a="http://schemas.openxmlformats.org/drawingml/2006/main">
              <a:ext uri="{FF2B5EF4-FFF2-40B4-BE49-F238E27FC236}">
                <a16:creationId xmlns:a16="http://schemas.microsoft.com/office/drawing/2014/main" id="{81196AEB-C0C6-4525-B721-1D278E9C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参考图</a:t>
            </a:r>
          </a:p>
        </p:txBody>
      </p:sp>
      <p:sp>
        <p:nvSpPr>
          <p:cNvPr id="13" name="edit-reference-sub">
            <a:extLst xmlns:a="http://schemas.openxmlformats.org/drawingml/2006/main">
              <a:ext uri="{FF2B5EF4-FFF2-40B4-BE49-F238E27FC236}">
                <a16:creationId xmlns:a16="http://schemas.microsoft.com/office/drawing/2014/main" id="{F1F0E2A5-8BF5-47CA-9692-2F762A9D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813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14" name="edit-output-frame">
            <a:extLst xmlns:a="http://schemas.openxmlformats.org/drawingml/2006/main">
              <a:ext uri="{FF2B5EF4-FFF2-40B4-BE49-F238E27FC236}">
                <a16:creationId xmlns:a16="http://schemas.microsoft.com/office/drawing/2014/main" id="{FC779EC0-D2C6-453E-94CF-C300CD97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15" name="edit-output-label">
            <a:extLst xmlns:a="http://schemas.openxmlformats.org/drawingml/2006/main">
              <a:ext uri="{FF2B5EF4-FFF2-40B4-BE49-F238E27FC236}">
                <a16:creationId xmlns:a16="http://schemas.microsoft.com/office/drawing/2014/main" id="{8630E892-BEE9-4841-8394-C7B925EF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编辑结果</a:t>
            </a:r>
          </a:p>
        </p:txBody>
      </p:sp>
      <p:sp>
        <p:nvSpPr>
          <p:cNvPr id="16" name="edit-output-sub">
            <a:extLst xmlns:a="http://schemas.openxmlformats.org/drawingml/2006/main">
              <a:ext uri="{FF2B5EF4-FFF2-40B4-BE49-F238E27FC236}">
                <a16:creationId xmlns:a16="http://schemas.microsoft.com/office/drawing/2014/main" id="{91D24966-9CC6-41C9-AD2B-7C65CD1B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813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17" name="auto-text-4">
            <a:extLst xmlns:a="http://schemas.openxmlformats.org/drawingml/2006/main">
              <a:ext uri="{FF2B5EF4-FFF2-40B4-BE49-F238E27FC236}">
                <a16:creationId xmlns:a16="http://schemas.microsoft.com/office/drawing/2014/main" id="{154CC093-EEBB-4BE3-B6BA-15AD2FDA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建议样例：换装／持物／合影／表情迁移</a:t>
            </a:r>
          </a:p>
        </p:txBody>
      </p:sp>
      <p:sp>
        <p:nvSpPr>
          <p:cNvPr id="18" name="gallery-media-surface">
            <a:extLst xmlns:a="http://schemas.openxmlformats.org/drawingml/2006/main">
              <a:ext uri="{FF2B5EF4-FFF2-40B4-BE49-F238E27FC236}">
                <a16:creationId xmlns:a16="http://schemas.microsoft.com/office/drawing/2014/main" id="{974F6782-EF26-4877-8155-FC5A8A73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3149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B8DDD8"/>
            </a:solidFill>
            <a:prstDash val="solid"/>
          </a:ln>
        </p:spPr>
      </p:sp>
      <p:sp>
        <p:nvSpPr>
          <p:cNvPr id="19" name="gallery-good-frame">
            <a:extLst xmlns:a="http://schemas.openxmlformats.org/drawingml/2006/main">
              <a:ext uri="{FF2B5EF4-FFF2-40B4-BE49-F238E27FC236}">
                <a16:creationId xmlns:a16="http://schemas.microsoft.com/office/drawing/2014/main" id="{33F63AB7-B1FB-4DA6-A554-220E72FC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2209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20" name="gallery-good-label">
            <a:extLst xmlns:a="http://schemas.openxmlformats.org/drawingml/2006/main">
              <a:ext uri="{FF2B5EF4-FFF2-40B4-BE49-F238E27FC236}">
                <a16:creationId xmlns:a16="http://schemas.microsoft.com/office/drawing/2014/main" id="{E22F1C65-5D45-4829-A3D7-99E8F387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765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可入库样本</a:t>
            </a:r>
          </a:p>
        </p:txBody>
      </p:sp>
      <p:sp>
        <p:nvSpPr>
          <p:cNvPr id="21" name="gallery-good-sub">
            <a:extLst xmlns:a="http://schemas.openxmlformats.org/drawingml/2006/main">
              <a:ext uri="{FF2B5EF4-FFF2-40B4-BE49-F238E27FC236}">
                <a16:creationId xmlns:a16="http://schemas.microsoft.com/office/drawing/2014/main" id="{59C3D4BD-40D0-4B6F-A795-FA2EE26E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813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22" name="gallery-bad-frame">
            <a:extLst xmlns:a="http://schemas.openxmlformats.org/drawingml/2006/main">
              <a:ext uri="{FF2B5EF4-FFF2-40B4-BE49-F238E27FC236}">
                <a16:creationId xmlns:a16="http://schemas.microsoft.com/office/drawing/2014/main" id="{0AD2A249-5090-4545-8550-C7AC6290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2209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23" name="gallery-bad-label">
            <a:extLst xmlns:a="http://schemas.openxmlformats.org/drawingml/2006/main">
              <a:ext uri="{FF2B5EF4-FFF2-40B4-BE49-F238E27FC236}">
                <a16:creationId xmlns:a16="http://schemas.microsoft.com/office/drawing/2014/main" id="{A2A31F84-C268-4668-871E-5BCE9F71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765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异常／低质样本</a:t>
            </a:r>
          </a:p>
        </p:txBody>
      </p:sp>
      <p:sp>
        <p:nvSpPr>
          <p:cNvPr id="24" name="gallery-bad-sub">
            <a:extLst xmlns:a="http://schemas.openxmlformats.org/drawingml/2006/main">
              <a:ext uri="{FF2B5EF4-FFF2-40B4-BE49-F238E27FC236}">
                <a16:creationId xmlns:a16="http://schemas.microsoft.com/office/drawing/2014/main" id="{0C03DD64-09E7-4748-9439-7F308BBD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813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25" name="auto-text-5">
            <a:extLst xmlns:a="http://schemas.openxmlformats.org/drawingml/2006/main">
              <a:ext uri="{FF2B5EF4-FFF2-40B4-BE49-F238E27FC236}">
                <a16:creationId xmlns:a16="http://schemas.microsoft.com/office/drawing/2014/main" id="{6F3F4834-191A-4B15-9B72-D4F087CF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建议样例：肢体异常／结构错误／构图或美学问题</a:t>
            </a:r>
          </a:p>
        </p:txBody>
      </p:sp>
      <p:sp>
        <p:nvSpPr>
          <p:cNvPr id="26" name="auto-text-6">
            <a:extLst xmlns:a="http://schemas.openxmlformats.org/drawingml/2006/main">
              <a:ext uri="{FF2B5EF4-FFF2-40B4-BE49-F238E27FC236}">
                <a16:creationId xmlns:a16="http://schemas.microsoft.com/office/drawing/2014/main" id="{CFC36E78-40C3-429B-94DE-1FEC240B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主体与参考一致性｜编辑目标满足｜非目标区域保持｜结果自然度</a:t>
            </a:r>
          </a:p>
        </p:txBody>
      </p:sp>
      <p:sp>
        <p:nvSpPr>
          <p:cNvPr id="27" name="auto-text-7">
            <a:extLst xmlns:a="http://schemas.openxmlformats.org/drawingml/2006/main">
              <a:ext uri="{FF2B5EF4-FFF2-40B4-BE49-F238E27FC236}">
                <a16:creationId xmlns:a16="http://schemas.microsoft.com/office/drawing/2014/main" id="{3B9944C5-38B9-4956-82B2-DA0997AD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512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异常生成｜主体完整性｜图文一致性｜美学与构图｜风险内容</a:t>
            </a:r>
          </a:p>
        </p:txBody>
      </p:sp>
      <p:sp>
        <p:nvSpPr>
          <p:cNvPr id="28" name="slide1-conclusion">
            <a:extLst xmlns:a="http://schemas.openxmlformats.org/drawingml/2006/main">
              <a:ext uri="{FF2B5EF4-FFF2-40B4-BE49-F238E27FC236}">
                <a16:creationId xmlns:a16="http://schemas.microsoft.com/office/drawing/2014/main" id="{468B1C4A-26CD-4B52-9201-12801527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86375"/>
            <a:ext cx="11239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9" name="auto-text-8">
            <a:extLst xmlns:a="http://schemas.openxmlformats.org/drawingml/2006/main">
              <a:ext uri="{FF2B5EF4-FFF2-40B4-BE49-F238E27FC236}">
                <a16:creationId xmlns:a16="http://schemas.microsoft.com/office/drawing/2014/main" id="{9EA73BAD-3B34-476B-A034-0C5F5D15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30" name="auto-text-9">
            <a:extLst xmlns:a="http://schemas.openxmlformats.org/drawingml/2006/main">
              <a:ext uri="{FF2B5EF4-FFF2-40B4-BE49-F238E27FC236}">
                <a16:creationId xmlns:a16="http://schemas.microsoft.com/office/drawing/2014/main" id="{26C046C6-A497-4DD7-99B1-BDFD7586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质量不是样本的固定属性，而是模态、内容、标签与目标任务之间的匹配关系。</a:t>
            </a:r>
          </a:p>
        </p:txBody>
      </p:sp>
    </p:spTree>
    <p:extLst>
      <p:ext uri="{BB962C8B-B14F-4D97-AF65-F5344CB8AC3E}">
        <p14:creationId xmlns:p14="http://schemas.microsoft.com/office/powerpoint/2010/main" val="11659433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accent-2">
            <a:extLst xmlns:a="http://schemas.openxmlformats.org/drawingml/2006/main">
              <a:ext uri="{FF2B5EF4-FFF2-40B4-BE49-F238E27FC236}">
                <a16:creationId xmlns:a16="http://schemas.microsoft.com/office/drawing/2014/main" id="{1CFD615D-216D-40EB-8D10-4C6E9802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E312EC1-DE77-41E2-B799-8D24208C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按项目临时搭建质检管线，导致方法、成本和经验反复重置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A0C21C97-2642-4D38-81FD-2D768B57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auto-text-10">
            <a:extLst xmlns:a="http://schemas.openxmlformats.org/drawingml/2006/main">
              <a:ext uri="{FF2B5EF4-FFF2-40B4-BE49-F238E27FC236}">
                <a16:creationId xmlns:a16="http://schemas.microsoft.com/office/drawing/2014/main" id="{23DFA7F0-01E7-4E59-8913-68516FEF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当前路径</a:t>
            </a:r>
          </a:p>
        </p:txBody>
      </p:sp>
      <p:sp>
        <p:nvSpPr>
          <p:cNvPr id="5" name="step-dot-0">
            <a:extLst xmlns:a="http://schemas.openxmlformats.org/drawingml/2006/main">
              <a:ext uri="{FF2B5EF4-FFF2-40B4-BE49-F238E27FC236}">
                <a16:creationId xmlns:a16="http://schemas.microsoft.com/office/drawing/2014/main" id="{59C2C682-0B7D-4CA5-BC65-35C03520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049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6" name="step-line-0">
            <a:extLst xmlns:a="http://schemas.openxmlformats.org/drawingml/2006/main">
              <a:ext uri="{FF2B5EF4-FFF2-40B4-BE49-F238E27FC236}">
                <a16:creationId xmlns:a16="http://schemas.microsoft.com/office/drawing/2014/main" id="{D926A978-25CC-4BAD-87D9-B887361A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F8"/>
          </a:solidFill>
          <a:ln xmlns:a="http://schemas.openxmlformats.org/drawingml/2006/main" w="9525">
            <a:solidFill>
              <a:srgbClr val="C7D5F8"/>
            </a:solidFill>
            <a:prstDash val="solid"/>
          </a:ln>
        </p:spPr>
      </p:sp>
      <p:sp>
        <p:nvSpPr>
          <p:cNvPr id="7" name="step-text-0">
            <a:extLst xmlns:a="http://schemas.openxmlformats.org/drawingml/2006/main">
              <a:ext uri="{FF2B5EF4-FFF2-40B4-BE49-F238E27FC236}">
                <a16:creationId xmlns:a16="http://schemas.microsoft.com/office/drawing/2014/main" id="{72608385-180C-4B06-BB60-4655BD2C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讨论质量标准</a:t>
            </a:r>
          </a:p>
        </p:txBody>
      </p:sp>
      <p:sp>
        <p:nvSpPr>
          <p:cNvPr id="8" name="step-dot-1">
            <a:extLst xmlns:a="http://schemas.openxmlformats.org/drawingml/2006/main">
              <a:ext uri="{FF2B5EF4-FFF2-40B4-BE49-F238E27FC236}">
                <a16:creationId xmlns:a16="http://schemas.microsoft.com/office/drawing/2014/main" id="{67ACA32F-F683-4DF0-B4A9-8B8CC7B0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574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ep-line-1">
            <a:extLst xmlns:a="http://schemas.openxmlformats.org/drawingml/2006/main">
              <a:ext uri="{FF2B5EF4-FFF2-40B4-BE49-F238E27FC236}">
                <a16:creationId xmlns:a16="http://schemas.microsoft.com/office/drawing/2014/main" id="{915FE70A-D05E-4326-B14B-BBC74DF6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F8"/>
          </a:solidFill>
          <a:ln xmlns:a="http://schemas.openxmlformats.org/drawingml/2006/main" w="9525">
            <a:solidFill>
              <a:srgbClr val="C7D5F8"/>
            </a:solidFill>
            <a:prstDash val="solid"/>
          </a:ln>
        </p:spPr>
      </p:sp>
      <p:sp>
        <p:nvSpPr>
          <p:cNvPr id="10" name="step-text-1">
            <a:extLst xmlns:a="http://schemas.openxmlformats.org/drawingml/2006/main">
              <a:ext uri="{FF2B5EF4-FFF2-40B4-BE49-F238E27FC236}">
                <a16:creationId xmlns:a16="http://schemas.microsoft.com/office/drawing/2014/main" id="{9148A804-2123-4048-9DB5-F3FFF941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编写规则／Prompt</a:t>
            </a:r>
          </a:p>
        </p:txBody>
      </p:sp>
      <p:sp>
        <p:nvSpPr>
          <p:cNvPr id="11" name="step-dot-2">
            <a:extLst xmlns:a="http://schemas.openxmlformats.org/drawingml/2006/main">
              <a:ext uri="{FF2B5EF4-FFF2-40B4-BE49-F238E27FC236}">
                <a16:creationId xmlns:a16="http://schemas.microsoft.com/office/drawing/2014/main" id="{FB252926-AA09-46FA-AF53-F8C0BCC6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2" name="step-line-2">
            <a:extLst xmlns:a="http://schemas.openxmlformats.org/drawingml/2006/main">
              <a:ext uri="{FF2B5EF4-FFF2-40B4-BE49-F238E27FC236}">
                <a16:creationId xmlns:a16="http://schemas.microsoft.com/office/drawing/2014/main" id="{5BD98595-FC79-4E46-B335-75F0E340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F8"/>
          </a:solidFill>
          <a:ln xmlns:a="http://schemas.openxmlformats.org/drawingml/2006/main" w="9525">
            <a:solidFill>
              <a:srgbClr val="C7D5F8"/>
            </a:solidFill>
            <a:prstDash val="solid"/>
          </a:ln>
        </p:spPr>
      </p:sp>
      <p:sp>
        <p:nvSpPr>
          <p:cNvPr id="13" name="step-text-2">
            <a:extLst xmlns:a="http://schemas.openxmlformats.org/drawingml/2006/main">
              <a:ext uri="{FF2B5EF4-FFF2-40B4-BE49-F238E27FC236}">
                <a16:creationId xmlns:a16="http://schemas.microsoft.com/office/drawing/2014/main" id="{F7DA450C-9654-459D-B081-C1260F8E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人工抽检与调参</a:t>
            </a:r>
          </a:p>
        </p:txBody>
      </p:sp>
      <p:sp>
        <p:nvSpPr>
          <p:cNvPr id="14" name="step-dot-3">
            <a:extLst xmlns:a="http://schemas.openxmlformats.org/drawingml/2006/main">
              <a:ext uri="{FF2B5EF4-FFF2-40B4-BE49-F238E27FC236}">
                <a16:creationId xmlns:a16="http://schemas.microsoft.com/office/drawing/2014/main" id="{CC545E60-B7EC-41AB-BC48-79045DA5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623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5" name="step-line-3">
            <a:extLst xmlns:a="http://schemas.openxmlformats.org/drawingml/2006/main">
              <a:ext uri="{FF2B5EF4-FFF2-40B4-BE49-F238E27FC236}">
                <a16:creationId xmlns:a16="http://schemas.microsoft.com/office/drawing/2014/main" id="{CABB86C5-3C1A-4516-ABE9-E3850992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F8"/>
          </a:solidFill>
          <a:ln xmlns:a="http://schemas.openxmlformats.org/drawingml/2006/main" w="9525">
            <a:solidFill>
              <a:srgbClr val="C7D5F8"/>
            </a:solidFill>
            <a:prstDash val="solid"/>
          </a:ln>
        </p:spPr>
      </p:sp>
      <p:sp>
        <p:nvSpPr>
          <p:cNvPr id="16" name="step-text-3">
            <a:extLst xmlns:a="http://schemas.openxmlformats.org/drawingml/2006/main">
              <a:ext uri="{FF2B5EF4-FFF2-40B4-BE49-F238E27FC236}">
                <a16:creationId xmlns:a16="http://schemas.microsoft.com/office/drawing/2014/main" id="{4ABE5CD3-B792-4B31-AF23-CEAC755E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临时搭建管线</a:t>
            </a:r>
          </a:p>
        </p:txBody>
      </p:sp>
      <p:sp>
        <p:nvSpPr>
          <p:cNvPr id="17" name="step-dot-4">
            <a:extLst xmlns:a="http://schemas.openxmlformats.org/drawingml/2006/main">
              <a:ext uri="{FF2B5EF4-FFF2-40B4-BE49-F238E27FC236}">
                <a16:creationId xmlns:a16="http://schemas.microsoft.com/office/drawing/2014/main" id="{7C85D929-F71E-4409-AD5F-4A788E81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147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C55"/>
          </a:solidFill>
          <a:ln xmlns:a="http://schemas.openxmlformats.org/drawingml/2006/main" w="9525">
            <a:solidFill>
              <a:srgbClr val="E65C55"/>
            </a:solidFill>
            <a:prstDash val="solid"/>
          </a:ln>
        </p:spPr>
      </p:sp>
      <p:sp>
        <p:nvSpPr>
          <p:cNvPr id="18" name="step-text-4">
            <a:extLst xmlns:a="http://schemas.openxmlformats.org/drawingml/2006/main">
              <a:ext uri="{FF2B5EF4-FFF2-40B4-BE49-F238E27FC236}">
                <a16:creationId xmlns:a16="http://schemas.microsoft.com/office/drawing/2014/main" id="{FB5A82C7-894D-4BDE-959C-CDAD0A40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rPr>
              <a:t>任务变化后重做</a:t>
            </a:r>
          </a:p>
        </p:txBody>
      </p:sp>
      <p:sp>
        <p:nvSpPr>
          <p:cNvPr id="19" name="pain-summary">
            <a:extLst xmlns:a="http://schemas.openxmlformats.org/drawingml/2006/main">
              <a:ext uri="{FF2B5EF4-FFF2-40B4-BE49-F238E27FC236}">
                <a16:creationId xmlns:a16="http://schemas.microsoft.com/office/drawing/2014/main" id="{78907059-99C1-4D28-91D0-027C06C4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91050"/>
            <a:ext cx="4476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0" name="auto-text-11">
            <a:extLst xmlns:a="http://schemas.openxmlformats.org/drawingml/2006/main">
              <a:ext uri="{FF2B5EF4-FFF2-40B4-BE49-F238E27FC236}">
                <a16:creationId xmlns:a16="http://schemas.microsoft.com/office/drawing/2014/main" id="{A1F4FCA1-3134-479B-9B1F-C6C22DA4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共性痛点</a:t>
            </a:r>
          </a:p>
        </p:txBody>
      </p:sp>
      <p:sp>
        <p:nvSpPr>
          <p:cNvPr id="21" name="auto-text-12">
            <a:extLst xmlns:a="http://schemas.openxmlformats.org/drawingml/2006/main">
              <a:ext uri="{FF2B5EF4-FFF2-40B4-BE49-F238E27FC236}">
                <a16:creationId xmlns:a16="http://schemas.microsoft.com/office/drawing/2014/main" id="{7907FC1F-B935-4F2E-BA81-F21951A3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4000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质量维度按项目临时补，缺少统一抽象</a:t>
            </a:r>
          </a:p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Prompt效果依赖经验，难复现和对照</a:t>
            </a:r>
          </a:p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标注、筛选和复查成本高</a:t>
            </a:r>
          </a:p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Pipeline难复用，任务变化后重做</a:t>
            </a:r>
          </a:p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新任务／模态缺少任务定义、能力匹配和执行规范</a:t>
            </a:r>
          </a:p>
        </p:txBody>
      </p:sp>
      <p:sp>
        <p:nvSpPr>
          <p:cNvPr id="22" name="auto-text-13">
            <a:extLst xmlns:a="http://schemas.openxmlformats.org/drawingml/2006/main">
              <a:ext uri="{FF2B5EF4-FFF2-40B4-BE49-F238E27FC236}">
                <a16:creationId xmlns:a16="http://schemas.microsoft.com/office/drawing/2014/main" id="{D7A4938C-6A6E-4F6A-B1BD-041AD5CF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00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内部证据占位</a:t>
            </a:r>
          </a:p>
        </p:txBody>
      </p:sp>
      <p:sp>
        <p:nvSpPr>
          <p:cNvPr id="23" name="prompt-shot-frame">
            <a:extLst xmlns:a="http://schemas.openxmlformats.org/drawingml/2006/main">
              <a:ext uri="{FF2B5EF4-FFF2-40B4-BE49-F238E27FC236}">
                <a16:creationId xmlns:a16="http://schemas.microsoft.com/office/drawing/2014/main" id="{CC1EC226-30EF-40BB-9760-3A9B8711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619250"/>
            <a:ext cx="6191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24" name="prompt-shot-label">
            <a:extLst xmlns:a="http://schemas.openxmlformats.org/drawingml/2006/main">
              <a:ext uri="{FF2B5EF4-FFF2-40B4-BE49-F238E27FC236}">
                <a16:creationId xmlns:a16="http://schemas.microsoft.com/office/drawing/2014/main" id="{7D54732D-628E-466A-BE1F-A36A32DF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14575"/>
            <a:ext cx="588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当前质检Prompt截图</a:t>
            </a:r>
          </a:p>
        </p:txBody>
      </p:sp>
      <p:sp>
        <p:nvSpPr>
          <p:cNvPr id="25" name="prompt-shot-sub">
            <a:extLst xmlns:a="http://schemas.openxmlformats.org/drawingml/2006/main">
              <a:ext uri="{FF2B5EF4-FFF2-40B4-BE49-F238E27FC236}">
                <a16:creationId xmlns:a16="http://schemas.microsoft.com/office/drawing/2014/main" id="{A9D8B80B-27DB-4E9E-8EC3-A151E7EE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19375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建议包含：质量维度、评分规则、输出格式</a:t>
            </a:r>
          </a:p>
        </p:txBody>
      </p:sp>
      <p:sp>
        <p:nvSpPr>
          <p:cNvPr id="26" name="misjudge-case-frame">
            <a:extLst xmlns:a="http://schemas.openxmlformats.org/drawingml/2006/main">
              <a:ext uri="{FF2B5EF4-FFF2-40B4-BE49-F238E27FC236}">
                <a16:creationId xmlns:a16="http://schemas.microsoft.com/office/drawing/2014/main" id="{BCE9934A-1683-4784-91D7-ABA18335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6191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27" name="misjudge-case-label">
            <a:extLst xmlns:a="http://schemas.openxmlformats.org/drawingml/2006/main">
              <a:ext uri="{FF2B5EF4-FFF2-40B4-BE49-F238E27FC236}">
                <a16:creationId xmlns:a16="http://schemas.microsoft.com/office/drawing/2014/main" id="{479B1B96-4FD4-4996-B583-CC86FFD0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10075"/>
            <a:ext cx="588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评估器误判／多评估器或人工分歧案例</a:t>
            </a:r>
          </a:p>
        </p:txBody>
      </p:sp>
      <p:sp>
        <p:nvSpPr>
          <p:cNvPr id="28" name="misjudge-case-sub">
            <a:extLst xmlns:a="http://schemas.openxmlformats.org/drawingml/2006/main">
              <a:ext uri="{FF2B5EF4-FFF2-40B4-BE49-F238E27FC236}">
                <a16:creationId xmlns:a16="http://schemas.microsoft.com/office/drawing/2014/main" id="{017E9020-FA87-4F58-9C9A-7C56FE33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14875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建议包含：输入样本、各评估结论、人工结论、分歧原因</a:t>
            </a:r>
          </a:p>
        </p:txBody>
      </p:sp>
      <p:sp>
        <p:nvSpPr>
          <p:cNvPr id="29" name="auto-text-14">
            <a:extLst xmlns:a="http://schemas.openxmlformats.org/drawingml/2006/main">
              <a:ext uri="{FF2B5EF4-FFF2-40B4-BE49-F238E27FC236}">
                <a16:creationId xmlns:a16="http://schemas.microsoft.com/office/drawing/2014/main" id="{52484D54-D78D-4B0D-B541-DDF958B6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340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现状本质：能力分散在个人经验、Prompt和临时脚本中，尚不能将新任务编译为可复用、可验证的评估流程。</a:t>
            </a:r>
          </a:p>
        </p:txBody>
      </p:sp>
    </p:spTree>
    <p:extLst>
      <p:ext uri="{BB962C8B-B14F-4D97-AF65-F5344CB8AC3E}">
        <p14:creationId xmlns:p14="http://schemas.microsoft.com/office/powerpoint/2010/main" val="1824973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accent-3">
            <a:extLst xmlns:a="http://schemas.openxmlformats.org/drawingml/2006/main">
              <a:ext uri="{FF2B5EF4-FFF2-40B4-BE49-F238E27FC236}">
                <a16:creationId xmlns:a16="http://schemas.microsoft.com/office/drawing/2014/main" id="{B2E1502F-5D01-4246-B2F8-6FEB4A71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7C524F7-57D0-4077-A56B-715AD372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学术界正从“单一Judge打分”转向任务自适应的组合评估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5800240F-9FB8-4521-840F-1E897784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auto-text-15">
            <a:extLst xmlns:a="http://schemas.openxmlformats.org/drawingml/2006/main">
              <a:ext uri="{FF2B5EF4-FFF2-40B4-BE49-F238E27FC236}">
                <a16:creationId xmlns:a16="http://schemas.microsoft.com/office/drawing/2014/main" id="{211C2375-E9F1-41D2-AFDB-87A16F09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2025–2026年的关键进展分布在三条路线，VLM Judge只是可被校准和组合的基础评估器之一。</a:t>
            </a:r>
          </a:p>
        </p:txBody>
      </p:sp>
      <p:sp>
        <p:nvSpPr>
          <p:cNvPr id="5" name="track-0">
            <a:extLst xmlns:a="http://schemas.openxmlformats.org/drawingml/2006/main">
              <a:ext uri="{FF2B5EF4-FFF2-40B4-BE49-F238E27FC236}">
                <a16:creationId xmlns:a16="http://schemas.microsoft.com/office/drawing/2014/main" id="{B695F64F-641F-4F5D-AB38-CACD38BF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3390900" cy="3714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6" name="track-no-0">
            <a:extLst xmlns:a="http://schemas.openxmlformats.org/drawingml/2006/main">
              <a:ext uri="{FF2B5EF4-FFF2-40B4-BE49-F238E27FC236}">
                <a16:creationId xmlns:a16="http://schemas.microsoft.com/office/drawing/2014/main" id="{E7E91FC2-E5F7-48AD-8FD9-7212DBAB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rack-title-0">
            <a:extLst xmlns:a="http://schemas.openxmlformats.org/drawingml/2006/main">
              <a:ext uri="{FF2B5EF4-FFF2-40B4-BE49-F238E27FC236}">
                <a16:creationId xmlns:a16="http://schemas.microsoft.com/office/drawing/2014/main" id="{C837E040-B27C-4EC5-9EFA-763A1FA5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97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后验校准与偏移鲁棒</a:t>
            </a:r>
          </a:p>
        </p:txBody>
      </p:sp>
      <p:sp>
        <p:nvSpPr>
          <p:cNvPr id="8" name="track-lead-0">
            <a:extLst xmlns:a="http://schemas.openxmlformats.org/drawingml/2006/main">
              <a:ext uri="{FF2B5EF4-FFF2-40B4-BE49-F238E27FC236}">
                <a16:creationId xmlns:a16="http://schemas.microsoft.com/office/drawing/2014/main" id="{A9CC6288-517D-4F56-8D56-021E8633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933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用少量验证样本修正评分偏差，而不是为每个新任务重训模型。</a:t>
            </a:r>
          </a:p>
        </p:txBody>
      </p:sp>
      <p:sp>
        <p:nvSpPr>
          <p:cNvPr id="9" name="track-divider-0">
            <a:extLst xmlns:a="http://schemas.openxmlformats.org/drawingml/2006/main">
              <a:ext uri="{FF2B5EF4-FFF2-40B4-BE49-F238E27FC236}">
                <a16:creationId xmlns:a16="http://schemas.microsoft.com/office/drawing/2014/main" id="{9487750A-F43B-4180-A160-FFF58707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933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track-evidence-label-0">
            <a:extLst xmlns:a="http://schemas.openxmlformats.org/drawingml/2006/main">
              <a:ext uri="{FF2B5EF4-FFF2-40B4-BE49-F238E27FC236}">
                <a16:creationId xmlns:a16="http://schemas.microsoft.com/office/drawing/2014/main" id="{8463834D-5D39-40EB-B1DB-0B7C575E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最新研究结论</a:t>
            </a:r>
          </a:p>
        </p:txBody>
      </p:sp>
      <p:sp>
        <p:nvSpPr>
          <p:cNvPr id="11" name="track-evidence-0">
            <a:extLst xmlns:a="http://schemas.openxmlformats.org/drawingml/2006/main">
              <a:ext uri="{FF2B5EF4-FFF2-40B4-BE49-F238E27FC236}">
                <a16:creationId xmlns:a16="http://schemas.microsoft.com/office/drawing/2014/main" id="{5E13BAF0-6179-49DA-B39B-043E68DC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可利用转移矩阵与Prompt加权，结合分数缩放和阈值校准纠正评分误差。</a:t>
            </a:r>
          </a:p>
        </p:txBody>
      </p:sp>
      <p:sp>
        <p:nvSpPr>
          <p:cNvPr id="12" name="track-signal-0">
            <a:extLst xmlns:a="http://schemas.openxmlformats.org/drawingml/2006/main">
              <a:ext uri="{FF2B5EF4-FFF2-40B4-BE49-F238E27FC236}">
                <a16:creationId xmlns:a16="http://schemas.microsoft.com/office/drawing/2014/main" id="{3D315E5B-8886-4F65-A7E4-06086AF3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对应：任务偏好／分数／权重／阈值校准</a:t>
            </a:r>
          </a:p>
        </p:txBody>
      </p:sp>
      <p:sp>
        <p:nvSpPr>
          <p:cNvPr id="13" name="track-1">
            <a:extLst xmlns:a="http://schemas.openxmlformats.org/drawingml/2006/main">
              <a:ext uri="{FF2B5EF4-FFF2-40B4-BE49-F238E27FC236}">
                <a16:creationId xmlns:a16="http://schemas.microsoft.com/office/drawing/2014/main" id="{96A9071A-FF2D-413B-AE5B-24FBE504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81150"/>
            <a:ext cx="3390900" cy="3714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F1EDFF"/>
            </a:solidFill>
            <a:prstDash val="solid"/>
          </a:ln>
        </p:spPr>
      </p:sp>
      <p:sp>
        <p:nvSpPr>
          <p:cNvPr id="14" name="track-no-1">
            <a:extLst xmlns:a="http://schemas.openxmlformats.org/drawingml/2006/main">
              <a:ext uri="{FF2B5EF4-FFF2-40B4-BE49-F238E27FC236}">
                <a16:creationId xmlns:a16="http://schemas.microsoft.com/office/drawing/2014/main" id="{343FBC2E-140E-4EFF-91E1-1F49AA44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rack-title-1">
            <a:extLst xmlns:a="http://schemas.openxmlformats.org/drawingml/2006/main">
              <a:ext uri="{FF2B5EF4-FFF2-40B4-BE49-F238E27FC236}">
                <a16:creationId xmlns:a16="http://schemas.microsoft.com/office/drawing/2014/main" id="{EDA4B5B0-F931-4311-954A-90D85A87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097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邻域共识与鲁棒选择</a:t>
            </a:r>
          </a:p>
        </p:txBody>
      </p:sp>
      <p:sp>
        <p:nvSpPr>
          <p:cNvPr id="16" name="track-lead-1">
            <a:extLst xmlns:a="http://schemas.openxmlformats.org/drawingml/2006/main">
              <a:ext uri="{FF2B5EF4-FFF2-40B4-BE49-F238E27FC236}">
                <a16:creationId xmlns:a16="http://schemas.microsoft.com/office/drawing/2014/main" id="{DE752868-4387-4863-9615-7221C88E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2933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不把一次Prompt或单一权重配置当作最终结论，而是在相邻偏好上形成候选池。</a:t>
            </a:r>
          </a:p>
        </p:txBody>
      </p:sp>
      <p:sp>
        <p:nvSpPr>
          <p:cNvPr id="17" name="track-divider-1">
            <a:extLst xmlns:a="http://schemas.openxmlformats.org/drawingml/2006/main">
              <a:ext uri="{FF2B5EF4-FFF2-40B4-BE49-F238E27FC236}">
                <a16:creationId xmlns:a16="http://schemas.microsoft.com/office/drawing/2014/main" id="{4C829CC4-9A84-455B-B3EE-FF0516B4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67100"/>
            <a:ext cx="2933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61D1"/>
          </a:solidFill>
          <a:ln xmlns:a="http://schemas.openxmlformats.org/drawingml/2006/main" w="9525">
            <a:solidFill>
              <a:srgbClr val="7B61D1"/>
            </a:solidFill>
            <a:prstDash val="solid"/>
          </a:ln>
        </p:spPr>
      </p:sp>
      <p:sp>
        <p:nvSpPr>
          <p:cNvPr id="18" name="track-evidence-label-1">
            <a:extLst xmlns:a="http://schemas.openxmlformats.org/drawingml/2006/main">
              <a:ext uri="{FF2B5EF4-FFF2-40B4-BE49-F238E27FC236}">
                <a16:creationId xmlns:a16="http://schemas.microsoft.com/office/drawing/2014/main" id="{34290D9F-F150-44EE-9C60-3AC9ED46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最新研究结论</a:t>
            </a:r>
          </a:p>
        </p:txBody>
      </p:sp>
      <p:sp>
        <p:nvSpPr>
          <p:cNvPr id="19" name="track-evidence-1">
            <a:extLst xmlns:a="http://schemas.openxmlformats.org/drawingml/2006/main">
              <a:ext uri="{FF2B5EF4-FFF2-40B4-BE49-F238E27FC236}">
                <a16:creationId xmlns:a16="http://schemas.microsoft.com/office/drawing/2014/main" id="{D3EE5A88-C7CC-4BAC-9755-E6051F99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2026年研究显示：无需重训练，邻域共识在长尾偏好上取得最高69%的胜率。</a:t>
            </a:r>
          </a:p>
        </p:txBody>
      </p:sp>
      <p:sp>
        <p:nvSpPr>
          <p:cNvPr id="20" name="track-signal-1">
            <a:extLst xmlns:a="http://schemas.openxmlformats.org/drawingml/2006/main">
              <a:ext uri="{FF2B5EF4-FFF2-40B4-BE49-F238E27FC236}">
                <a16:creationId xmlns:a16="http://schemas.microsoft.com/office/drawing/2014/main" id="{9A5FB0DA-423C-44BD-BC12-1C07453E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对应：多视角／分歧检测／保守选择</a:t>
            </a:r>
          </a:p>
        </p:txBody>
      </p:sp>
      <p:sp>
        <p:nvSpPr>
          <p:cNvPr id="21" name="track-2">
            <a:extLst xmlns:a="http://schemas.openxmlformats.org/drawingml/2006/main">
              <a:ext uri="{FF2B5EF4-FFF2-40B4-BE49-F238E27FC236}">
                <a16:creationId xmlns:a16="http://schemas.microsoft.com/office/drawing/2014/main" id="{8CEEEEE1-5843-4E84-A3C3-803B568A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390900" cy="3714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E7F6F3"/>
            </a:solidFill>
            <a:prstDash val="solid"/>
          </a:ln>
        </p:spPr>
      </p:sp>
      <p:sp>
        <p:nvSpPr>
          <p:cNvPr id="22" name="track-no-2">
            <a:extLst xmlns:a="http://schemas.openxmlformats.org/drawingml/2006/main">
              <a:ext uri="{FF2B5EF4-FFF2-40B4-BE49-F238E27FC236}">
                <a16:creationId xmlns:a16="http://schemas.microsoft.com/office/drawing/2014/main" id="{06368221-2E1D-4DF8-A88E-272B1CF2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rack-title-2">
            <a:extLst xmlns:a="http://schemas.openxmlformats.org/drawingml/2006/main">
              <a:ext uri="{FF2B5EF4-FFF2-40B4-BE49-F238E27FC236}">
                <a16:creationId xmlns:a16="http://schemas.microsoft.com/office/drawing/2014/main" id="{5BB0C8A6-CCB4-4874-939A-989417CE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证据核验、路由与飞轮</a:t>
            </a:r>
          </a:p>
        </p:txBody>
      </p:sp>
      <p:sp>
        <p:nvSpPr>
          <p:cNvPr id="24" name="track-lead-2">
            <a:extLst xmlns:a="http://schemas.openxmlformats.org/drawingml/2006/main">
              <a:ext uri="{FF2B5EF4-FFF2-40B4-BE49-F238E27FC236}">
                <a16:creationId xmlns:a16="http://schemas.microsoft.com/office/drawing/2014/main" id="{4073B0C9-8DC5-448F-B2C9-366853E0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2933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模型结论需要证据支撑，并按置信度进入自动通过、自动拒绝或人工复核。</a:t>
            </a:r>
          </a:p>
        </p:txBody>
      </p:sp>
      <p:sp>
        <p:nvSpPr>
          <p:cNvPr id="25" name="track-divider-2">
            <a:extLst xmlns:a="http://schemas.openxmlformats.org/drawingml/2006/main">
              <a:ext uri="{FF2B5EF4-FFF2-40B4-BE49-F238E27FC236}">
                <a16:creationId xmlns:a16="http://schemas.microsoft.com/office/drawing/2014/main" id="{25AD6CA0-5EAE-49D5-90EB-5C5BF518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67100"/>
            <a:ext cx="2933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91"/>
          </a:solidFill>
          <a:ln xmlns:a="http://schemas.openxmlformats.org/drawingml/2006/main" w="9525">
            <a:solidFill>
              <a:srgbClr val="159A91"/>
            </a:solidFill>
            <a:prstDash val="solid"/>
          </a:ln>
        </p:spPr>
      </p:sp>
      <p:sp>
        <p:nvSpPr>
          <p:cNvPr id="26" name="track-evidence-label-2">
            <a:extLst xmlns:a="http://schemas.openxmlformats.org/drawingml/2006/main">
              <a:ext uri="{FF2B5EF4-FFF2-40B4-BE49-F238E27FC236}">
                <a16:creationId xmlns:a16="http://schemas.microsoft.com/office/drawing/2014/main" id="{033E5974-D20C-493E-82AB-DFB59038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最新研究结论</a:t>
            </a:r>
          </a:p>
        </p:txBody>
      </p:sp>
      <p:sp>
        <p:nvSpPr>
          <p:cNvPr id="27" name="track-evidence-2">
            <a:extLst xmlns:a="http://schemas.openxmlformats.org/drawingml/2006/main">
              <a:ext uri="{FF2B5EF4-FFF2-40B4-BE49-F238E27FC236}">
                <a16:creationId xmlns:a16="http://schemas.microsoft.com/office/drawing/2014/main" id="{40FCB67F-96E1-441C-A234-E152BFBB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结构化证据减少主观Judge依赖；数据筛选价值最终需要通过下游训练收益验证。</a:t>
            </a:r>
          </a:p>
        </p:txBody>
      </p:sp>
      <p:sp>
        <p:nvSpPr>
          <p:cNvPr id="28" name="track-signal-2">
            <a:extLst xmlns:a="http://schemas.openxmlformats.org/drawingml/2006/main">
              <a:ext uri="{FF2B5EF4-FFF2-40B4-BE49-F238E27FC236}">
                <a16:creationId xmlns:a16="http://schemas.microsoft.com/office/drawing/2014/main" id="{7EE85862-4E5A-48D0-8E8C-DE2F064B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1490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对应：证据仲裁／三路路由／数据飞轮</a:t>
            </a:r>
          </a:p>
        </p:txBody>
      </p:sp>
      <p:sp>
        <p:nvSpPr>
          <p:cNvPr id="29" name="research-conclusion">
            <a:extLst xmlns:a="http://schemas.openxmlformats.org/drawingml/2006/main">
              <a:ext uri="{FF2B5EF4-FFF2-40B4-BE49-F238E27FC236}">
                <a16:creationId xmlns:a16="http://schemas.microsoft.com/office/drawing/2014/main" id="{EB24BF9A-8E53-4279-A512-51E927C3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11163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</p:sp>
      <p:sp>
        <p:nvSpPr>
          <p:cNvPr id="30" name="auto-text-16">
            <a:extLst xmlns:a="http://schemas.openxmlformats.org/drawingml/2006/main">
              <a:ext uri="{FF2B5EF4-FFF2-40B4-BE49-F238E27FC236}">
                <a16:creationId xmlns:a16="http://schemas.microsoft.com/office/drawing/2014/main" id="{8E08AA25-7FB5-4C3D-A5EB-26D46A47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B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8EB0FF"/>
                </a:solidFill>
                <a:latin typeface="Microsoft YaHei"/>
                <a:ea typeface="Microsoft YaHei"/>
                <a:cs typeface="Microsoft YaHei"/>
              </a:rPr>
              <a:t>研究共识</a:t>
            </a:r>
          </a:p>
        </p:txBody>
      </p:sp>
      <p:sp>
        <p:nvSpPr>
          <p:cNvPr id="31" name="auto-text-17">
            <a:extLst xmlns:a="http://schemas.openxmlformats.org/drawingml/2006/main">
              <a:ext uri="{FF2B5EF4-FFF2-40B4-BE49-F238E27FC236}">
                <a16:creationId xmlns:a16="http://schemas.microsoft.com/office/drawing/2014/main" id="{E0977DD5-6D19-49B0-95CE-43DFCA65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959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评估能力的增量来自校准、组合、路由与闭环验证，而不仅是更换一个更大的VLM。</a:t>
            </a:r>
          </a:p>
        </p:txBody>
      </p:sp>
      <p:sp>
        <p:nvSpPr>
          <p:cNvPr id="32" name="source-650-0.7813206907809664">
            <a:extLst xmlns:a="http://schemas.openxmlformats.org/drawingml/2006/main">
              <a:ext uri="{FF2B5EF4-FFF2-40B4-BE49-F238E27FC236}">
                <a16:creationId xmlns:a16="http://schemas.microsoft.com/office/drawing/2014/main" id="{1BE0FE62-308E-4A21-B7F6-4E87C710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7B8794"/>
                </a:solidFill>
                <a:latin typeface="Cambria"/>
                <a:ea typeface="Cambria"/>
                <a:cs typeface="Cambria"/>
              </a:defRPr>
            </a:pPr>
            <a:r>
              <a:rPr sz="825" b="0" i="1">
                <a:solidFill>
                  <a:srgbClr val="7B8794"/>
                </a:solidFill>
                <a:latin typeface="Cambria"/>
                <a:ea typeface="Cambria"/>
                <a:cs typeface="Cambria"/>
              </a:rPr>
              <a:t>依据：ICLR 2025／2026；ICCV 2025；AAAI 2025相关研究结论</a:t>
            </a:r>
          </a:p>
        </p:txBody>
      </p:sp>
    </p:spTree>
    <p:extLst>
      <p:ext uri="{BB962C8B-B14F-4D97-AF65-F5344CB8AC3E}">
        <p14:creationId xmlns:p14="http://schemas.microsoft.com/office/powerpoint/2010/main" val="20028681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accent-4">
            <a:extLst xmlns:a="http://schemas.openxmlformats.org/drawingml/2006/main">
              <a:ext uri="{FF2B5EF4-FFF2-40B4-BE49-F238E27FC236}">
                <a16:creationId xmlns:a16="http://schemas.microsoft.com/office/drawing/2014/main" id="{2DEFB6B0-C401-49EB-90D8-2CEC63C6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62F5275-DC64-4E39-8A3D-A4F94BD0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头部公司已形成“任务标准＋自动Judge＋人工校准”闭环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0562EA5A-BA9C-4F82-8A8A-8C09B203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auto-text-18">
            <a:extLst xmlns:a="http://schemas.openxmlformats.org/drawingml/2006/main">
              <a:ext uri="{FF2B5EF4-FFF2-40B4-BE49-F238E27FC236}">
                <a16:creationId xmlns:a16="http://schemas.microsoft.com/office/drawing/2014/main" id="{BEF8CE5D-A8FA-4E3D-8202-66383BA6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公开做法虽不完全相同，但都先拆解任务标准，再组合自动评估、置信度控制、人工验证和持续回流。</a:t>
            </a:r>
          </a:p>
        </p:txBody>
      </p:sp>
      <p:sp>
        <p:nvSpPr>
          <p:cNvPr id="5" name="auto-text-19">
            <a:extLst xmlns:a="http://schemas.openxmlformats.org/drawingml/2006/main">
              <a:ext uri="{FF2B5EF4-FFF2-40B4-BE49-F238E27FC236}">
                <a16:creationId xmlns:a16="http://schemas.microsoft.com/office/drawing/2014/main" id="{2731B854-74B2-41FD-89D9-E30386DF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公司／团队</a:t>
            </a:r>
          </a:p>
        </p:txBody>
      </p:sp>
      <p:sp>
        <p:nvSpPr>
          <p:cNvPr id="6" name="auto-text-20">
            <a:extLst xmlns:a="http://schemas.openxmlformats.org/drawingml/2006/main">
              <a:ext uri="{FF2B5EF4-FFF2-40B4-BE49-F238E27FC236}">
                <a16:creationId xmlns:a16="http://schemas.microsoft.com/office/drawing/2014/main" id="{A5D0620B-1F35-404D-BED9-754D9914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4287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公开实践</a:t>
            </a:r>
          </a:p>
        </p:txBody>
      </p:sp>
      <p:sp>
        <p:nvSpPr>
          <p:cNvPr id="7" name="auto-text-21">
            <a:extLst xmlns:a="http://schemas.openxmlformats.org/drawingml/2006/main">
              <a:ext uri="{FF2B5EF4-FFF2-40B4-BE49-F238E27FC236}">
                <a16:creationId xmlns:a16="http://schemas.microsoft.com/office/drawing/2014/main" id="{27E023C0-ACA0-4BC1-8F51-10980C95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方法特征</a:t>
            </a:r>
          </a:p>
        </p:txBody>
      </p:sp>
      <p:sp>
        <p:nvSpPr>
          <p:cNvPr id="8" name="company-row-0">
            <a:extLst xmlns:a="http://schemas.openxmlformats.org/drawingml/2006/main">
              <a:ext uri="{FF2B5EF4-FFF2-40B4-BE49-F238E27FC236}">
                <a16:creationId xmlns:a16="http://schemas.microsoft.com/office/drawing/2014/main" id="{81174572-94D3-4281-A8A6-8F9F1E0B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116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F5F8FF"/>
            </a:solidFill>
            <a:prstDash val="solid"/>
          </a:ln>
        </p:spPr>
      </p:sp>
      <p:sp>
        <p:nvSpPr>
          <p:cNvPr id="9" name="company-name-0">
            <a:extLst xmlns:a="http://schemas.openxmlformats.org/drawingml/2006/main">
              <a:ext uri="{FF2B5EF4-FFF2-40B4-BE49-F238E27FC236}">
                <a16:creationId xmlns:a16="http://schemas.microsoft.com/office/drawing/2014/main" id="{ACC36BDA-3549-4011-B3AA-8BEC3100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10" name="company-body-0">
            <a:extLst xmlns:a="http://schemas.openxmlformats.org/drawingml/2006/main">
              <a:ext uri="{FF2B5EF4-FFF2-40B4-BE49-F238E27FC236}">
                <a16:creationId xmlns:a16="http://schemas.microsoft.com/office/drawing/2014/main" id="{FFCCBA0D-16C7-421D-941C-67724F53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95475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按能力与安全风险切分评测集；用自动分类器／推理模型做离线评估，并结合对抗测试与人工规范校验。</a:t>
            </a:r>
          </a:p>
        </p:txBody>
      </p:sp>
      <p:sp>
        <p:nvSpPr>
          <p:cNvPr id="11" name="company-tag-0">
            <a:extLst xmlns:a="http://schemas.openxmlformats.org/drawingml/2006/main">
              <a:ext uri="{FF2B5EF4-FFF2-40B4-BE49-F238E27FC236}">
                <a16:creationId xmlns:a16="http://schemas.microsoft.com/office/drawing/2014/main" id="{B216CFBA-7F44-4C33-97BE-CDF4576A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81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持续评测</a:t>
            </a:r>
          </a:p>
        </p:txBody>
      </p:sp>
      <p:sp>
        <p:nvSpPr>
          <p:cNvPr id="12" name="company-row-1">
            <a:extLst xmlns:a="http://schemas.openxmlformats.org/drawingml/2006/main">
              <a:ext uri="{FF2B5EF4-FFF2-40B4-BE49-F238E27FC236}">
                <a16:creationId xmlns:a16="http://schemas.microsoft.com/office/drawing/2014/main" id="{F1F52BB7-6E21-49C9-9625-EB1D24CD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1116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6FF"/>
          </a:solidFill>
          <a:ln xmlns:a="http://schemas.openxmlformats.org/drawingml/2006/main" w="9525">
            <a:solidFill>
              <a:srgbClr val="F8F6FF"/>
            </a:solidFill>
            <a:prstDash val="solid"/>
          </a:ln>
        </p:spPr>
      </p:sp>
      <p:sp>
        <p:nvSpPr>
          <p:cNvPr id="13" name="company-name-1">
            <a:extLst xmlns:a="http://schemas.openxmlformats.org/drawingml/2006/main">
              <a:ext uri="{FF2B5EF4-FFF2-40B4-BE49-F238E27FC236}">
                <a16:creationId xmlns:a16="http://schemas.microsoft.com/office/drawing/2014/main" id="{A3C05CE8-1249-416A-81A6-66B16AE2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阿里 Qwen</a:t>
            </a:r>
          </a:p>
        </p:txBody>
      </p:sp>
      <p:sp>
        <p:nvSpPr>
          <p:cNvPr id="14" name="company-body-1">
            <a:extLst xmlns:a="http://schemas.openxmlformats.org/drawingml/2006/main">
              <a:ext uri="{FF2B5EF4-FFF2-40B4-BE49-F238E27FC236}">
                <a16:creationId xmlns:a16="http://schemas.microsoft.com/office/drawing/2014/main" id="{C81CF231-7B33-48EE-AEFA-2C827286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09875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建设多级图像评测体系；专用 Q-Judger 按5个一级维度、56个细粒度因素评分，并结合公开基准与盲测。</a:t>
            </a:r>
          </a:p>
        </p:txBody>
      </p:sp>
      <p:sp>
        <p:nvSpPr>
          <p:cNvPr id="15" name="company-tag-1">
            <a:extLst xmlns:a="http://schemas.openxmlformats.org/drawingml/2006/main">
              <a:ext uri="{FF2B5EF4-FFF2-40B4-BE49-F238E27FC236}">
                <a16:creationId xmlns:a16="http://schemas.microsoft.com/office/drawing/2014/main" id="{03E26834-D775-42FD-B72C-95F6E178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专用 Judge</a:t>
            </a:r>
          </a:p>
        </p:txBody>
      </p:sp>
      <p:sp>
        <p:nvSpPr>
          <p:cNvPr id="16" name="company-row-2">
            <a:extLst xmlns:a="http://schemas.openxmlformats.org/drawingml/2006/main">
              <a:ext uri="{FF2B5EF4-FFF2-40B4-BE49-F238E27FC236}">
                <a16:creationId xmlns:a16="http://schemas.microsoft.com/office/drawing/2014/main" id="{84D82ECD-4165-455E-A0C3-54E9DF8D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1116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F5"/>
          </a:solidFill>
          <a:ln xmlns:a="http://schemas.openxmlformats.org/drawingml/2006/main" w="9525">
            <a:solidFill>
              <a:srgbClr val="FFF7F5"/>
            </a:solidFill>
            <a:prstDash val="solid"/>
          </a:ln>
        </p:spPr>
      </p:sp>
      <p:sp>
        <p:nvSpPr>
          <p:cNvPr id="17" name="company-name-2">
            <a:extLst xmlns:a="http://schemas.openxmlformats.org/drawingml/2006/main">
              <a:ext uri="{FF2B5EF4-FFF2-40B4-BE49-F238E27FC236}">
                <a16:creationId xmlns:a16="http://schemas.microsoft.com/office/drawing/2014/main" id="{8156DFD3-6CE8-4A0F-8BCD-CEE5EB41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rPr>
              <a:t>字节 Seed</a:t>
            </a:r>
          </a:p>
        </p:txBody>
      </p:sp>
      <p:sp>
        <p:nvSpPr>
          <p:cNvPr id="18" name="company-body-2">
            <a:extLst xmlns:a="http://schemas.openxmlformats.org/drawingml/2006/main">
              <a:ext uri="{FF2B5EF4-FFF2-40B4-BE49-F238E27FC236}">
                <a16:creationId xmlns:a16="http://schemas.microsoft.com/office/drawing/2014/main" id="{0DE6512C-2E13-44C6-8B28-B9652573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24275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覆盖23类图像编辑子任务；CLIP评一致性、第三方VLM评指令响应，再以人工可用率验证最终效果。</a:t>
            </a:r>
          </a:p>
        </p:txBody>
      </p:sp>
      <p:sp>
        <p:nvSpPr>
          <p:cNvPr id="19" name="company-tag-2">
            <a:extLst xmlns:a="http://schemas.openxmlformats.org/drawingml/2006/main">
              <a:ext uri="{FF2B5EF4-FFF2-40B4-BE49-F238E27FC236}">
                <a16:creationId xmlns:a16="http://schemas.microsoft.com/office/drawing/2014/main" id="{D0466B68-64B8-4E9B-95E4-DEE4EE19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0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rPr>
              <a:t>混合指标</a:t>
            </a:r>
          </a:p>
        </p:txBody>
      </p:sp>
      <p:sp>
        <p:nvSpPr>
          <p:cNvPr id="20" name="company-row-3">
            <a:extLst xmlns:a="http://schemas.openxmlformats.org/drawingml/2006/main">
              <a:ext uri="{FF2B5EF4-FFF2-40B4-BE49-F238E27FC236}">
                <a16:creationId xmlns:a16="http://schemas.microsoft.com/office/drawing/2014/main" id="{F5FFB268-188A-4B8B-8D34-92D9E844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1116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BFA"/>
          </a:solidFill>
          <a:ln xmlns:a="http://schemas.openxmlformats.org/drawingml/2006/main" w="9525">
            <a:solidFill>
              <a:srgbClr val="F3FBFA"/>
            </a:solidFill>
            <a:prstDash val="solid"/>
          </a:ln>
        </p:spPr>
      </p:sp>
      <p:sp>
        <p:nvSpPr>
          <p:cNvPr id="21" name="company-name-3">
            <a:extLst xmlns:a="http://schemas.openxmlformats.org/drawingml/2006/main">
              <a:ext uri="{FF2B5EF4-FFF2-40B4-BE49-F238E27FC236}">
                <a16:creationId xmlns:a16="http://schemas.microsoft.com/office/drawing/2014/main" id="{36DA14E7-B324-4E6A-B2F6-B4771BE0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腾讯混元</a:t>
            </a:r>
          </a:p>
        </p:txBody>
      </p:sp>
      <p:sp>
        <p:nvSpPr>
          <p:cNvPr id="22" name="company-body-3">
            <a:extLst xmlns:a="http://schemas.openxmlformats.org/drawingml/2006/main">
              <a:ext uri="{FF2B5EF4-FFF2-40B4-BE49-F238E27FC236}">
                <a16:creationId xmlns:a16="http://schemas.microsoft.com/office/drawing/2014/main" id="{3A32EC07-91A4-4AE6-86D9-1DBAA6CB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38675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SSAE将提示词拆成3500个关键点／12类，由MLLM逐点评分；同时以100+专业评估员开展GSB对比。</a:t>
            </a:r>
          </a:p>
        </p:txBody>
      </p:sp>
      <p:sp>
        <p:nvSpPr>
          <p:cNvPr id="23" name="company-tag-3">
            <a:extLst xmlns:a="http://schemas.openxmlformats.org/drawingml/2006/main">
              <a:ext uri="{FF2B5EF4-FFF2-40B4-BE49-F238E27FC236}">
                <a16:creationId xmlns:a16="http://schemas.microsoft.com/office/drawing/2014/main" id="{88CF0515-FBEB-4CBA-A835-818DCBA7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24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检查点＋人工</a:t>
            </a:r>
          </a:p>
        </p:txBody>
      </p:sp>
      <p:sp>
        <p:nvSpPr>
          <p:cNvPr id="24" name="company-conclusion">
            <a:extLst xmlns:a="http://schemas.openxmlformats.org/drawingml/2006/main">
              <a:ext uri="{FF2B5EF4-FFF2-40B4-BE49-F238E27FC236}">
                <a16:creationId xmlns:a16="http://schemas.microsoft.com/office/drawing/2014/main" id="{26588B04-5D36-4004-B1E5-39F59419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11163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</p:sp>
      <p:sp>
        <p:nvSpPr>
          <p:cNvPr id="25" name="auto-text-22">
            <a:extLst xmlns:a="http://schemas.openxmlformats.org/drawingml/2006/main">
              <a:ext uri="{FF2B5EF4-FFF2-40B4-BE49-F238E27FC236}">
                <a16:creationId xmlns:a16="http://schemas.microsoft.com/office/drawing/2014/main" id="{F583C37A-16E4-4E0F-ACF3-1DF47F1A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B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8EB0FF"/>
                </a:solidFill>
                <a:latin typeface="Microsoft YaHei"/>
                <a:ea typeface="Microsoft YaHei"/>
                <a:cs typeface="Microsoft YaHei"/>
              </a:rPr>
              <a:t>行业共识</a:t>
            </a:r>
          </a:p>
        </p:txBody>
      </p:sp>
      <p:sp>
        <p:nvSpPr>
          <p:cNvPr id="26" name="auto-text-23">
            <a:extLst xmlns:a="http://schemas.openxmlformats.org/drawingml/2006/main">
              <a:ext uri="{FF2B5EF4-FFF2-40B4-BE49-F238E27FC236}">
                <a16:creationId xmlns:a16="http://schemas.microsoft.com/office/drawing/2014/main" id="{B781A06C-DE72-4D55-8750-2ACEDD76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388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通用模型只是底座；任务标准、评价器组合、置信度路由与持续回流决定最终效果。</a:t>
            </a:r>
          </a:p>
        </p:txBody>
      </p:sp>
      <p:sp>
        <p:nvSpPr>
          <p:cNvPr id="27" name="source-650-0.2581292441208013">
            <a:extLst xmlns:a="http://schemas.openxmlformats.org/drawingml/2006/main">
              <a:ext uri="{FF2B5EF4-FFF2-40B4-BE49-F238E27FC236}">
                <a16:creationId xmlns:a16="http://schemas.microsoft.com/office/drawing/2014/main" id="{729FD125-068E-4636-8C7C-719B4463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7B8794"/>
                </a:solidFill>
                <a:latin typeface="Cambria"/>
                <a:ea typeface="Cambria"/>
                <a:cs typeface="Cambria"/>
              </a:defRPr>
            </a:pPr>
            <a:r>
              <a:rPr sz="825" b="0" i="1">
                <a:solidFill>
                  <a:srgbClr val="7B8794"/>
                </a:solidFill>
                <a:latin typeface="Cambria"/>
                <a:ea typeface="Cambria"/>
                <a:cs typeface="Cambria"/>
              </a:rPr>
              <a:t>公开资料：OpenAI Images 2.0；Qwen-Image-Bench；SeedEdit 3.0；HunyuanImage 3.0</a:t>
            </a:r>
          </a:p>
        </p:txBody>
      </p:sp>
    </p:spTree>
    <p:extLst>
      <p:ext uri="{BB962C8B-B14F-4D97-AF65-F5344CB8AC3E}">
        <p14:creationId xmlns:p14="http://schemas.microsoft.com/office/powerpoint/2010/main" val="10800879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accent-5">
            <a:extLst xmlns:a="http://schemas.openxmlformats.org/drawingml/2006/main">
              <a:ext uri="{FF2B5EF4-FFF2-40B4-BE49-F238E27FC236}">
                <a16:creationId xmlns:a16="http://schemas.microsoft.com/office/drawing/2014/main" id="{4311CA9B-DFE3-4021-93A7-DE44E050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1E66056-2BAE-4080-A82C-73B02AB7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项目以任务编译为入口，形成评估、路由与数据飞轮闭环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5612880A-5C82-4389-B661-CB6D5C96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auto-text-24">
            <a:extLst xmlns:a="http://schemas.openxmlformats.org/drawingml/2006/main">
              <a:ext uri="{FF2B5EF4-FFF2-40B4-BE49-F238E27FC236}">
                <a16:creationId xmlns:a16="http://schemas.microsoft.com/office/drawing/2014/main" id="{3B35DB7F-7FE9-4AF3-B2A1-96B6376D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输入任务描述、数据模态、用途、≤20条冷启动样例和业务红线，自动生成可执行评估配置。</a:t>
            </a:r>
          </a:p>
        </p:txBody>
      </p:sp>
      <p:sp>
        <p:nvSpPr>
          <p:cNvPr id="5" name="input-node">
            <a:extLst xmlns:a="http://schemas.openxmlformats.org/drawingml/2006/main">
              <a:ext uri="{FF2B5EF4-FFF2-40B4-BE49-F238E27FC236}">
                <a16:creationId xmlns:a16="http://schemas.microsoft.com/office/drawing/2014/main" id="{A64E01EF-63DF-4A8A-B162-D64C0443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2457450" cy="36957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" name="auto-text-25">
            <a:extLst xmlns:a="http://schemas.openxmlformats.org/drawingml/2006/main">
              <a:ext uri="{FF2B5EF4-FFF2-40B4-BE49-F238E27FC236}">
                <a16:creationId xmlns:a16="http://schemas.microsoft.com/office/drawing/2014/main" id="{D7B55848-0736-453C-BC84-EC7915FF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任务输入</a:t>
            </a:r>
          </a:p>
        </p:txBody>
      </p:sp>
      <p:sp>
        <p:nvSpPr>
          <p:cNvPr id="7" name="auto-text-26">
            <a:extLst xmlns:a="http://schemas.openxmlformats.org/drawingml/2006/main">
              <a:ext uri="{FF2B5EF4-FFF2-40B4-BE49-F238E27FC236}">
                <a16:creationId xmlns:a16="http://schemas.microsoft.com/office/drawing/2014/main" id="{9A387630-2A62-4A42-A94B-5A5805BC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9812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任务描述、模态与用途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≤20条冷启动样例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业务红线与专家偏好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已有模型、工具和规则</a:t>
            </a:r>
          </a:p>
        </p:txBody>
      </p:sp>
      <p:sp>
        <p:nvSpPr>
          <p:cNvPr id="8" name="input-divider">
            <a:extLst xmlns:a="http://schemas.openxmlformats.org/drawingml/2006/main">
              <a:ext uri="{FF2B5EF4-FFF2-40B4-BE49-F238E27FC236}">
                <a16:creationId xmlns:a16="http://schemas.microsoft.com/office/drawing/2014/main" id="{FBA113AF-4FD9-44D7-8B2D-171C10E2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981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auto-text-27">
            <a:extLst xmlns:a="http://schemas.openxmlformats.org/drawingml/2006/main">
              <a:ext uri="{FF2B5EF4-FFF2-40B4-BE49-F238E27FC236}">
                <a16:creationId xmlns:a16="http://schemas.microsoft.com/office/drawing/2014/main" id="{E48A039C-B406-472A-A208-2A5173A7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必达模态</a:t>
            </a:r>
          </a:p>
        </p:txBody>
      </p:sp>
      <p:sp>
        <p:nvSpPr>
          <p:cNvPr id="10" name="auto-text-28">
            <a:extLst xmlns:a="http://schemas.openxmlformats.org/drawingml/2006/main">
              <a:ext uri="{FF2B5EF4-FFF2-40B4-BE49-F238E27FC236}">
                <a16:creationId xmlns:a16="http://schemas.microsoft.com/office/drawing/2014/main" id="{911E85AA-DE9A-4654-AD63-842C9F1F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34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文本｜图片｜视频｜跨模态组合</a:t>
            </a:r>
          </a:p>
        </p:txBody>
      </p:sp>
      <p:sp>
        <p:nvSpPr>
          <p:cNvPr id="11" name="auto-text-29">
            <a:extLst xmlns:a="http://schemas.openxmlformats.org/drawingml/2006/main">
              <a:ext uri="{FF2B5EF4-FFF2-40B4-BE49-F238E27FC236}">
                <a16:creationId xmlns:a16="http://schemas.microsoft.com/office/drawing/2014/main" id="{557641C0-CB57-4444-9F84-7444F019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76550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9BB3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9BB3E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compiler-node">
            <a:extLst xmlns:a="http://schemas.openxmlformats.org/drawingml/2006/main">
              <a:ext uri="{FF2B5EF4-FFF2-40B4-BE49-F238E27FC236}">
                <a16:creationId xmlns:a16="http://schemas.microsoft.com/office/drawing/2014/main" id="{9C9C84FD-CE30-4D88-8D1A-2EF657E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428750"/>
            <a:ext cx="54483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B7C8F5"/>
            </a:solidFill>
            <a:prstDash val="solid"/>
          </a:ln>
        </p:spPr>
      </p:sp>
      <p:sp>
        <p:nvSpPr>
          <p:cNvPr id="13" name="auto-text-30">
            <a:extLst xmlns:a="http://schemas.openxmlformats.org/drawingml/2006/main">
              <a:ext uri="{FF2B5EF4-FFF2-40B4-BE49-F238E27FC236}">
                <a16:creationId xmlns:a16="http://schemas.microsoft.com/office/drawing/2014/main" id="{F9BB7062-B1A2-4DC7-91DF-0C8D4F52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7640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评估任务编译与执行</a:t>
            </a:r>
          </a:p>
        </p:txBody>
      </p:sp>
      <p:sp>
        <p:nvSpPr>
          <p:cNvPr id="14" name="auto-text-31">
            <a:extLst xmlns:a="http://schemas.openxmlformats.org/drawingml/2006/main">
              <a:ext uri="{FF2B5EF4-FFF2-40B4-BE49-F238E27FC236}">
                <a16:creationId xmlns:a16="http://schemas.microsoft.com/office/drawing/2014/main" id="{32F17BAD-B0A9-4929-A3B1-0187B4C7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90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任务编译</a:t>
            </a:r>
          </a:p>
        </p:txBody>
      </p:sp>
      <p:sp>
        <p:nvSpPr>
          <p:cNvPr id="15" name="auto-text-32">
            <a:extLst xmlns:a="http://schemas.openxmlformats.org/drawingml/2006/main">
              <a:ext uri="{FF2B5EF4-FFF2-40B4-BE49-F238E27FC236}">
                <a16:creationId xmlns:a16="http://schemas.microsoft.com/office/drawing/2014/main" id="{77AA5D8D-F858-487A-A2C6-2998F6E6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3638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Task Specification／Rubric／证据需求图</a:t>
            </a:r>
          </a:p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Capability Plan／Agent配置／Evaluation DAG</a:t>
            </a:r>
          </a:p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输出Schema／置信度及三路路由规则</a:t>
            </a:r>
          </a:p>
        </p:txBody>
      </p:sp>
      <p:sp>
        <p:nvSpPr>
          <p:cNvPr id="16" name="compiler-divider">
            <a:extLst xmlns:a="http://schemas.openxmlformats.org/drawingml/2006/main">
              <a:ext uri="{FF2B5EF4-FFF2-40B4-BE49-F238E27FC236}">
                <a16:creationId xmlns:a16="http://schemas.microsoft.com/office/drawing/2014/main" id="{586F3B16-CBC9-4EC0-BE62-282DB8D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4876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C8F5"/>
          </a:solidFill>
          <a:ln xmlns:a="http://schemas.openxmlformats.org/drawingml/2006/main" w="9525">
            <a:solidFill>
              <a:srgbClr val="B7C8F5"/>
            </a:solidFill>
            <a:prstDash val="solid"/>
          </a:ln>
        </p:spPr>
      </p:sp>
      <p:sp>
        <p:nvSpPr>
          <p:cNvPr id="17" name="auto-text-33">
            <a:extLst xmlns:a="http://schemas.openxmlformats.org/drawingml/2006/main">
              <a:ext uri="{FF2B5EF4-FFF2-40B4-BE49-F238E27FC236}">
                <a16:creationId xmlns:a16="http://schemas.microsoft.com/office/drawing/2014/main" id="{91D7CA8C-641E-4044-868E-82650E0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33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运行与校准</a:t>
            </a:r>
          </a:p>
        </p:txBody>
      </p:sp>
      <p:sp>
        <p:nvSpPr>
          <p:cNvPr id="18" name="runtime-no-0">
            <a:extLst xmlns:a="http://schemas.openxmlformats.org/drawingml/2006/main">
              <a:ext uri="{FF2B5EF4-FFF2-40B4-BE49-F238E27FC236}">
                <a16:creationId xmlns:a16="http://schemas.microsoft.com/office/drawing/2014/main" id="{3B0FDDA5-FBE5-47C0-9A54-430AB429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runtime-title-0">
            <a:extLst xmlns:a="http://schemas.openxmlformats.org/drawingml/2006/main">
              <a:ext uri="{FF2B5EF4-FFF2-40B4-BE49-F238E27FC236}">
                <a16:creationId xmlns:a16="http://schemas.microsoft.com/office/drawing/2014/main" id="{BF9E6F6D-527E-4E5C-9998-C86B3D43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338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能力注册与模型／工具匹配</a:t>
            </a:r>
          </a:p>
        </p:txBody>
      </p:sp>
      <p:sp>
        <p:nvSpPr>
          <p:cNvPr id="20" name="runtime-no-1">
            <a:extLst xmlns:a="http://schemas.openxmlformats.org/drawingml/2006/main">
              <a:ext uri="{FF2B5EF4-FFF2-40B4-BE49-F238E27FC236}">
                <a16:creationId xmlns:a16="http://schemas.microsoft.com/office/drawing/2014/main" id="{F7EDDAD0-6E90-44CF-83CD-EBEC8947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71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runtime-title-1">
            <a:extLst xmlns:a="http://schemas.openxmlformats.org/drawingml/2006/main">
              <a:ext uri="{FF2B5EF4-FFF2-40B4-BE49-F238E27FC236}">
                <a16:creationId xmlns:a16="http://schemas.microsoft.com/office/drawing/2014/main" id="{18959904-64B2-4B36-9B4C-9FBB36A0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后验校准＋邻域共识＋分歧检测</a:t>
            </a:r>
          </a:p>
        </p:txBody>
      </p:sp>
      <p:sp>
        <p:nvSpPr>
          <p:cNvPr id="22" name="runtime-no-2">
            <a:extLst xmlns:a="http://schemas.openxmlformats.org/drawingml/2006/main">
              <a:ext uri="{FF2B5EF4-FFF2-40B4-BE49-F238E27FC236}">
                <a16:creationId xmlns:a16="http://schemas.microsoft.com/office/drawing/2014/main" id="{46AAA6D7-8FB3-459C-ACB2-6BCEF626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10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runtime-title-2">
            <a:extLst xmlns:a="http://schemas.openxmlformats.org/drawingml/2006/main">
              <a:ext uri="{FF2B5EF4-FFF2-40B4-BE49-F238E27FC236}">
                <a16:creationId xmlns:a16="http://schemas.microsoft.com/office/drawing/2014/main" id="{29593B04-CB6B-4D53-B16B-ADD03E91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101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图文／视频证据仲裁＋置信度校准</a:t>
            </a:r>
          </a:p>
        </p:txBody>
      </p:sp>
      <p:sp>
        <p:nvSpPr>
          <p:cNvPr id="24" name="auto-text-34">
            <a:extLst xmlns:a="http://schemas.openxmlformats.org/drawingml/2006/main">
              <a:ext uri="{FF2B5EF4-FFF2-40B4-BE49-F238E27FC236}">
                <a16:creationId xmlns:a16="http://schemas.microsoft.com/office/drawing/2014/main" id="{C933F053-6997-4E57-ACCB-56FBA6E8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76550"/>
            <a:ext cx="36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8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86C9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86C9C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output-node">
            <a:extLst xmlns:a="http://schemas.openxmlformats.org/drawingml/2006/main">
              <a:ext uri="{FF2B5EF4-FFF2-40B4-BE49-F238E27FC236}">
                <a16:creationId xmlns:a16="http://schemas.microsoft.com/office/drawing/2014/main" id="{DD04178A-88C5-423F-B64B-1C735793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24000"/>
            <a:ext cx="2419350" cy="369570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B6DDD8"/>
            </a:solidFill>
            <a:prstDash val="solid"/>
          </a:ln>
        </p:spPr>
      </p:sp>
      <p:sp>
        <p:nvSpPr>
          <p:cNvPr id="26" name="auto-text-35">
            <a:extLst xmlns:a="http://schemas.openxmlformats.org/drawingml/2006/main">
              <a:ext uri="{FF2B5EF4-FFF2-40B4-BE49-F238E27FC236}">
                <a16:creationId xmlns:a16="http://schemas.microsoft.com/office/drawing/2014/main" id="{EDB5ED31-63D6-4A9B-A2D9-E2F430A0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三路输出与回流</a:t>
            </a:r>
          </a:p>
        </p:txBody>
      </p:sp>
      <p:sp>
        <p:nvSpPr>
          <p:cNvPr id="27" name="auto-text-36">
            <a:extLst xmlns:a="http://schemas.openxmlformats.org/drawingml/2006/main">
              <a:ext uri="{FF2B5EF4-FFF2-40B4-BE49-F238E27FC236}">
                <a16:creationId xmlns:a16="http://schemas.microsoft.com/office/drawing/2014/main" id="{97C002AF-EEDC-419A-B588-9900C7A8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3150"/>
            <a:ext cx="19431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AUTO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AUTO REJECT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HUMAN REVIEW</a:t>
            </a:r>
          </a:p>
        </p:txBody>
      </p:sp>
      <p:sp>
        <p:nvSpPr>
          <p:cNvPr id="28" name="output-divider">
            <a:extLst xmlns:a="http://schemas.openxmlformats.org/drawingml/2006/main">
              <a:ext uri="{FF2B5EF4-FFF2-40B4-BE49-F238E27FC236}">
                <a16:creationId xmlns:a16="http://schemas.microsoft.com/office/drawing/2014/main" id="{192A169B-D009-4080-922D-70C675EA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86200"/>
            <a:ext cx="1943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DDD8"/>
          </a:solidFill>
          <a:ln xmlns:a="http://schemas.openxmlformats.org/drawingml/2006/main" w="9525">
            <a:solidFill>
              <a:srgbClr val="B6DDD8"/>
            </a:solidFill>
            <a:prstDash val="solid"/>
          </a:ln>
        </p:spPr>
      </p:sp>
      <p:sp>
        <p:nvSpPr>
          <p:cNvPr id="29" name="auto-text-37">
            <a:extLst xmlns:a="http://schemas.openxmlformats.org/drawingml/2006/main">
              <a:ext uri="{FF2B5EF4-FFF2-40B4-BE49-F238E27FC236}">
                <a16:creationId xmlns:a16="http://schemas.microsoft.com/office/drawing/2014/main" id="{946D4D67-ACBB-4E40-9530-0CA77857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95750"/>
            <a:ext cx="1943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结构化证据与报告</a:t>
            </a:r>
          </a:p>
          <a:p xmlns:a="http://schemas.openxmlformats.org/drawingml/2006/main">
            <a:pPr algn="ctr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API／SDK与迁移资产</a:t>
            </a:r>
          </a:p>
          <a:p xmlns:a="http://schemas.openxmlformats.org/drawingml/2006/main">
            <a:pPr algn="ctr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V0／V1／V2数据飞轮</a:t>
            </a:r>
          </a:p>
        </p:txBody>
      </p:sp>
      <p:sp>
        <p:nvSpPr>
          <p:cNvPr id="30" name="scenario-band">
            <a:extLst xmlns:a="http://schemas.openxmlformats.org/drawingml/2006/main">
              <a:ext uri="{FF2B5EF4-FFF2-40B4-BE49-F238E27FC236}">
                <a16:creationId xmlns:a16="http://schemas.microsoft.com/office/drawing/2014/main" id="{32CE0563-6601-4A85-BB4F-46511583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781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31" name="auto-text-38">
            <a:extLst xmlns:a="http://schemas.openxmlformats.org/drawingml/2006/main">
              <a:ext uri="{FF2B5EF4-FFF2-40B4-BE49-F238E27FC236}">
                <a16:creationId xmlns:a16="http://schemas.microsoft.com/office/drawing/2014/main" id="{8AFCF111-A2C2-4139-997F-755C1315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739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建议图像试点：多图编辑＋AIGC图库　｜　验收另含未见任务与视频边界</a:t>
            </a:r>
          </a:p>
        </p:txBody>
      </p:sp>
      <p:sp>
        <p:nvSpPr>
          <p:cNvPr id="32" name="current-pipeline-frame">
            <a:extLst xmlns:a="http://schemas.openxmlformats.org/drawingml/2006/main">
              <a:ext uri="{FF2B5EF4-FFF2-40B4-BE49-F238E27FC236}">
                <a16:creationId xmlns:a16="http://schemas.microsoft.com/office/drawing/2014/main" id="{05C1B3FC-6A0B-4178-B1A7-371CCE64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62600"/>
            <a:ext cx="3105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33" name="current-pipeline-label">
            <a:extLst xmlns:a="http://schemas.openxmlformats.org/drawingml/2006/main">
              <a:ext uri="{FF2B5EF4-FFF2-40B4-BE49-F238E27FC236}">
                <a16:creationId xmlns:a16="http://schemas.microsoft.com/office/drawing/2014/main" id="{21C57A17-B03F-40A3-8465-DEA6F5EB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5911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可选｜现有质检Pipeline截图</a:t>
            </a:r>
          </a:p>
        </p:txBody>
      </p:sp>
      <p:sp>
        <p:nvSpPr>
          <p:cNvPr id="34" name="current-pipeline-sub">
            <a:extLst xmlns:a="http://schemas.openxmlformats.org/drawingml/2006/main">
              <a:ext uri="{FF2B5EF4-FFF2-40B4-BE49-F238E27FC236}">
                <a16:creationId xmlns:a16="http://schemas.microsoft.com/office/drawing/2014/main" id="{F42E2821-CC6B-4004-9E81-B706C958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89597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如无材料可删除此框</a:t>
            </a:r>
          </a:p>
        </p:txBody>
      </p:sp>
      <p:sp>
        <p:nvSpPr>
          <p:cNvPr id="35" name="auto-text-39">
            <a:extLst xmlns:a="http://schemas.openxmlformats.org/drawingml/2006/main">
              <a:ext uri="{FF2B5EF4-FFF2-40B4-BE49-F238E27FC236}">
                <a16:creationId xmlns:a16="http://schemas.microsoft.com/office/drawing/2014/main" id="{231EE6AA-3885-4730-8CE8-47C18E7D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103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边界：乙方交付原型、API／SDK、模型适配与联调；甲方负责生产级平台、批处理、可视化和运维。</a:t>
            </a:r>
          </a:p>
        </p:txBody>
      </p:sp>
    </p:spTree>
    <p:extLst>
      <p:ext uri="{BB962C8B-B14F-4D97-AF65-F5344CB8AC3E}">
        <p14:creationId xmlns:p14="http://schemas.microsoft.com/office/powerpoint/2010/main" val="1554915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accent-6">
            <a:extLst xmlns:a="http://schemas.openxmlformats.org/drawingml/2006/main">
              <a:ext uri="{FF2B5EF4-FFF2-40B4-BE49-F238E27FC236}">
                <a16:creationId xmlns:a16="http://schemas.microsoft.com/office/drawing/2014/main" id="{215C5AB2-3B0F-4EBB-AA60-8BF3F195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D9965BF-EACE-4301-B707-9F52BDEC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合作项目将把临时质检方案沉淀为可复用、可验证的质量能力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9E3AA821-38D2-4907-8DF1-6DD3CC26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auto-text-40">
            <a:extLst xmlns:a="http://schemas.openxmlformats.org/drawingml/2006/main">
              <a:ext uri="{FF2B5EF4-FFF2-40B4-BE49-F238E27FC236}">
                <a16:creationId xmlns:a16="http://schemas.microsoft.com/office/drawing/2014/main" id="{E81B9D26-1DC9-410F-B5BC-DF451434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项目价值不仅是提高一次筛选准确率，更重要的是形成可服务文本、图片、视频任务的共同能力。</a:t>
            </a:r>
          </a:p>
        </p:txBody>
      </p:sp>
      <p:sp>
        <p:nvSpPr>
          <p:cNvPr id="5" name="value-0">
            <a:extLst xmlns:a="http://schemas.openxmlformats.org/drawingml/2006/main">
              <a:ext uri="{FF2B5EF4-FFF2-40B4-BE49-F238E27FC236}">
                <a16:creationId xmlns:a16="http://schemas.microsoft.com/office/drawing/2014/main" id="{E95D5EE7-76B4-4464-819D-0CF4C4B6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33147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6" name="value-title-0">
            <a:extLst xmlns:a="http://schemas.openxmlformats.org/drawingml/2006/main">
              <a:ext uri="{FF2B5EF4-FFF2-40B4-BE49-F238E27FC236}">
                <a16:creationId xmlns:a16="http://schemas.microsoft.com/office/drawing/2014/main" id="{D1EA0E17-2451-4211-B40F-D68D43A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7" name="value-body-0">
            <a:extLst xmlns:a="http://schemas.openxmlformats.org/drawingml/2006/main">
              <a:ext uri="{FF2B5EF4-FFF2-40B4-BE49-F238E27FC236}">
                <a16:creationId xmlns:a16="http://schemas.microsoft.com/office/drawing/2014/main" id="{7F5F4067-667B-42DD-A17E-DF977B48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新任务配置工时显著降低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高置信样本实现选择性自动化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成熟任务人工质检量目标降低≥50%</a:t>
            </a:r>
          </a:p>
        </p:txBody>
      </p:sp>
      <p:sp>
        <p:nvSpPr>
          <p:cNvPr id="8" name="value-1">
            <a:extLst xmlns:a="http://schemas.openxmlformats.org/drawingml/2006/main">
              <a:ext uri="{FF2B5EF4-FFF2-40B4-BE49-F238E27FC236}">
                <a16:creationId xmlns:a16="http://schemas.microsoft.com/office/drawing/2014/main" id="{E3458381-3EC1-404B-8662-25A64D3C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E7F6F3"/>
            </a:solidFill>
            <a:prstDash val="solid"/>
          </a:ln>
        </p:spPr>
      </p:sp>
      <p:sp>
        <p:nvSpPr>
          <p:cNvPr id="9" name="value-title-1">
            <a:extLst xmlns:a="http://schemas.openxmlformats.org/drawingml/2006/main">
              <a:ext uri="{FF2B5EF4-FFF2-40B4-BE49-F238E27FC236}">
                <a16:creationId xmlns:a16="http://schemas.microsoft.com/office/drawing/2014/main" id="{73987A26-214F-4AA4-BFE9-62B67DA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技术价值</a:t>
            </a:r>
          </a:p>
        </p:txBody>
      </p:sp>
      <p:sp>
        <p:nvSpPr>
          <p:cNvPr id="10" name="value-body-1">
            <a:extLst xmlns:a="http://schemas.openxmlformats.org/drawingml/2006/main">
              <a:ext uri="{FF2B5EF4-FFF2-40B4-BE49-F238E27FC236}">
                <a16:creationId xmlns:a16="http://schemas.microsoft.com/office/drawing/2014/main" id="{943C7C59-EC08-4B8B-AE29-7DF9A6D9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统一任务规范、Rubric、DAG与Schema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组合校准、共识、工具与证据仲裁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用冻结阈值验证风险—覆盖关系</a:t>
            </a:r>
          </a:p>
        </p:txBody>
      </p:sp>
      <p:sp>
        <p:nvSpPr>
          <p:cNvPr id="11" name="value-2">
            <a:extLst xmlns:a="http://schemas.openxmlformats.org/drawingml/2006/main">
              <a:ext uri="{FF2B5EF4-FFF2-40B4-BE49-F238E27FC236}">
                <a16:creationId xmlns:a16="http://schemas.microsoft.com/office/drawing/2014/main" id="{8145E511-9DD3-4815-9334-3016E438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33147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FFF5DE"/>
            </a:solidFill>
            <a:prstDash val="solid"/>
          </a:ln>
        </p:spPr>
      </p:sp>
      <p:sp>
        <p:nvSpPr>
          <p:cNvPr id="12" name="value-title-2">
            <a:extLst xmlns:a="http://schemas.openxmlformats.org/drawingml/2006/main">
              <a:ext uri="{FF2B5EF4-FFF2-40B4-BE49-F238E27FC236}">
                <a16:creationId xmlns:a16="http://schemas.microsoft.com/office/drawing/2014/main" id="{CC3D3489-5E68-4013-84C5-A857A04A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88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C88919"/>
                </a:solidFill>
                <a:latin typeface="Microsoft YaHei"/>
                <a:ea typeface="Microsoft YaHei"/>
                <a:cs typeface="Microsoft YaHei"/>
              </a:rPr>
              <a:t>长期资产</a:t>
            </a:r>
          </a:p>
        </p:txBody>
      </p:sp>
      <p:sp>
        <p:nvSpPr>
          <p:cNvPr id="13" name="value-body-2">
            <a:extLst xmlns:a="http://schemas.openxmlformats.org/drawingml/2006/main">
              <a:ext uri="{FF2B5EF4-FFF2-40B4-BE49-F238E27FC236}">
                <a16:creationId xmlns:a16="http://schemas.microsoft.com/office/drawing/2014/main" id="{9255BF3A-F10E-4921-9EC5-ADD89A6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860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沉淀≥3套典型任务迁移资产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形成API／SDK与≥3类模型适配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积累V0／V1／V2数据版本及论文专利</a:t>
            </a:r>
          </a:p>
        </p:txBody>
      </p:sp>
      <p:sp>
        <p:nvSpPr>
          <p:cNvPr id="14" name="auto-text-41">
            <a:extLst xmlns:a="http://schemas.openxmlformats.org/drawingml/2006/main">
              <a:ext uri="{FF2B5EF4-FFF2-40B4-BE49-F238E27FC236}">
                <a16:creationId xmlns:a16="http://schemas.microsoft.com/office/drawing/2014/main" id="{9B5ACDA0-10C5-4BDB-8BF0-DF459B4D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SOW项目目标（非现有成果）</a:t>
            </a:r>
          </a:p>
        </p:txBody>
      </p:sp>
      <p:sp>
        <p:nvSpPr>
          <p:cNvPr id="15" name="metric-0">
            <a:extLst xmlns:a="http://schemas.openxmlformats.org/drawingml/2006/main">
              <a:ext uri="{FF2B5EF4-FFF2-40B4-BE49-F238E27FC236}">
                <a16:creationId xmlns:a16="http://schemas.microsoft.com/office/drawing/2014/main" id="{0CD2A30A-4197-4FC4-99DA-DBADD343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16" name="metric-stat-0">
            <a:extLst xmlns:a="http://schemas.openxmlformats.org/drawingml/2006/main">
              <a:ext uri="{FF2B5EF4-FFF2-40B4-BE49-F238E27FC236}">
                <a16:creationId xmlns:a16="http://schemas.microsoft.com/office/drawing/2014/main" id="{DFEA6F28-25E5-4336-8766-0B678E88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≥3类／10+</a:t>
            </a:r>
          </a:p>
        </p:txBody>
      </p:sp>
      <p:sp>
        <p:nvSpPr>
          <p:cNvPr id="17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EECC7CDD-5817-4977-A641-5E38D1AF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未见任务冷启动</a:t>
            </a:r>
          </a:p>
        </p:txBody>
      </p:sp>
      <p:sp>
        <p:nvSpPr>
          <p:cNvPr id="18" name="metric-1">
            <a:extLst xmlns:a="http://schemas.openxmlformats.org/drawingml/2006/main">
              <a:ext uri="{FF2B5EF4-FFF2-40B4-BE49-F238E27FC236}">
                <a16:creationId xmlns:a16="http://schemas.microsoft.com/office/drawing/2014/main" id="{1F888CCB-5911-45B4-BBD7-0356DE7E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19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1F0EF6FA-891A-4AC7-8B62-5F19604A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41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≥82%</a:t>
            </a:r>
          </a:p>
        </p:txBody>
      </p:sp>
      <p:sp>
        <p:nvSpPr>
          <p:cNvPr id="20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6A092176-4F8E-4EEA-8E47-DA3A9D41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310" y="4895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BA与低质量Recall</a:t>
            </a:r>
          </a:p>
        </p:txBody>
      </p:sp>
      <p:sp>
        <p:nvSpPr>
          <p:cNvPr id="21" name="metric-2">
            <a:extLst xmlns:a="http://schemas.openxmlformats.org/drawingml/2006/main">
              <a:ext uri="{FF2B5EF4-FFF2-40B4-BE49-F238E27FC236}">
                <a16:creationId xmlns:a16="http://schemas.microsoft.com/office/drawing/2014/main" id="{5D19E0FF-240F-4769-B33E-EA24CDCB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67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2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B052E4EB-3F09-4583-B67B-0BA90906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≥50%</a:t>
            </a:r>
          </a:p>
        </p:txBody>
      </p:sp>
      <p:sp>
        <p:nvSpPr>
          <p:cNvPr id="23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6E43B2DB-F637-47AA-9277-5714C0D6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4895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自动处置Coverage</a:t>
            </a:r>
          </a:p>
        </p:txBody>
      </p:sp>
      <p:sp>
        <p:nvSpPr>
          <p:cNvPr id="24" name="metric-3">
            <a:extLst xmlns:a="http://schemas.openxmlformats.org/drawingml/2006/main">
              <a:ext uri="{FF2B5EF4-FFF2-40B4-BE49-F238E27FC236}">
                <a16:creationId xmlns:a16="http://schemas.microsoft.com/office/drawing/2014/main" id="{DFDAC1C6-C0FD-467D-B01C-37E3827D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5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A680AA59-1AE3-433C-BE0D-048D2FA8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≥90%／0</a:t>
            </a:r>
          </a:p>
        </p:txBody>
      </p:sp>
      <p:sp>
        <p:nvSpPr>
          <p:cNvPr id="2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0E6D0365-269E-455D-BD28-E05150B6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895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自动Accuracy／红线通过</a:t>
            </a:r>
          </a:p>
        </p:txBody>
      </p:sp>
      <p:sp>
        <p:nvSpPr>
          <p:cNvPr id="27" name="metric-4">
            <a:extLst xmlns:a="http://schemas.openxmlformats.org/drawingml/2006/main">
              <a:ext uri="{FF2B5EF4-FFF2-40B4-BE49-F238E27FC236}">
                <a16:creationId xmlns:a16="http://schemas.microsoft.com/office/drawing/2014/main" id="{3A2091FD-8374-41D7-867A-6BB17FF0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8" name="metric-stat-4">
            <a:extLst xmlns:a="http://schemas.openxmlformats.org/drawingml/2006/main">
              <a:ext uri="{FF2B5EF4-FFF2-40B4-BE49-F238E27FC236}">
                <a16:creationId xmlns:a16="http://schemas.microsoft.com/office/drawing/2014/main" id="{512E1A72-4469-40D8-8527-438F0202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9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≥2轮</a:t>
            </a:r>
          </a:p>
        </p:txBody>
      </p:sp>
      <p:sp>
        <p:nvSpPr>
          <p:cNvPr id="29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890C6657-DD65-4C1E-8067-6EB6828E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4895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飞轮；≥2/3种子正向</a:t>
            </a:r>
          </a:p>
        </p:txBody>
      </p:sp>
      <p:sp>
        <p:nvSpPr>
          <p:cNvPr id="30" name="auto-text-42">
            <a:extLst xmlns:a="http://schemas.openxmlformats.org/drawingml/2006/main">
              <a:ext uri="{FF2B5EF4-FFF2-40B4-BE49-F238E27FC236}">
                <a16:creationId xmlns:a16="http://schemas.microsoft.com/office/drawing/2014/main" id="{1FF02ADC-A31A-4F5F-B02A-A9AF1E95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1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待双方冻结：视频任务边界／红线定义／人工审核Baseline／数据飞轮主指标与最低增益</a:t>
            </a:r>
          </a:p>
        </p:txBody>
      </p:sp>
      <p:sp>
        <p:nvSpPr>
          <p:cNvPr id="31" name="approval-band">
            <a:extLst xmlns:a="http://schemas.openxmlformats.org/drawingml/2006/main">
              <a:ext uri="{FF2B5EF4-FFF2-40B4-BE49-F238E27FC236}">
                <a16:creationId xmlns:a16="http://schemas.microsoft.com/office/drawing/2014/main" id="{F0033B8D-7EB6-41EE-8F06-470C572D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63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</p:sp>
      <p:sp>
        <p:nvSpPr>
          <p:cNvPr id="32" name="auto-text-43">
            <a:extLst xmlns:a="http://schemas.openxmlformats.org/drawingml/2006/main">
              <a:ext uri="{FF2B5EF4-FFF2-40B4-BE49-F238E27FC236}">
                <a16:creationId xmlns:a16="http://schemas.microsoft.com/office/drawing/2014/main" id="{617EB592-3CD0-410A-97A7-BA775A55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建议批准本次合作：以图像试点启动，并分阶段验证新任务适配、自动化分流与数据飞轮收益。</a:t>
            </a:r>
          </a:p>
        </p:txBody>
      </p:sp>
    </p:spTree>
    <p:extLst>
      <p:ext uri="{BB962C8B-B14F-4D97-AF65-F5344CB8AC3E}">
        <p14:creationId xmlns:p14="http://schemas.microsoft.com/office/powerpoint/2010/main" val="905741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2026-08-06T02:46:59.9200000Z</dcterms:created>
  <dcterms:modified xsi:type="dcterms:W3CDTF">2026-08-06T02:46:59.9200000Z</dcterms:modified>
</coreProperties>
</file>